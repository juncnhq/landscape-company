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0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28442"/>
          </a:solidFill>
          <a:ln w="12700">
            <a:solidFill>
              <a:srgbClr val="328442"/>
            </a:solidFill>
            <a:prstDash val="solid"/>
          </a:ln>
        </p:spPr>
      </p:sp>
      <p:sp>
        <p:nvSpPr>
          <p:cNvPr id="3" name="Shape 1"/>
          <p:cNvSpPr/>
          <p:nvPr/>
        </p:nvSpPr>
        <p:spPr>
          <a:xfrm>
            <a:off x="8979408" y="0"/>
            <a:ext cx="164592" cy="5143500"/>
          </a:xfrm>
          <a:prstGeom prst="rect">
            <a:avLst/>
          </a:prstGeom>
          <a:solidFill>
            <a:srgbClr val="BE7B2B"/>
          </a:solidFill>
          <a:ln w="12700">
            <a:solidFill>
              <a:srgbClr val="BE7B2B"/>
            </a:solidFill>
            <a:prstDash val="solid"/>
          </a:ln>
        </p:spPr>
      </p:sp>
      <p:sp>
        <p:nvSpPr>
          <p:cNvPr id="4" name="Shape 2"/>
          <p:cNvSpPr/>
          <p:nvPr/>
        </p:nvSpPr>
        <p:spPr>
          <a:xfrm>
            <a:off x="0" y="4572000"/>
            <a:ext cx="9144000" cy="571500"/>
          </a:xfrm>
          <a:prstGeom prst="rect">
            <a:avLst/>
          </a:prstGeom>
          <a:solidFill>
            <a:srgbClr val="328442"/>
          </a:solidFill>
          <a:ln w="12700">
            <a:solidFill>
              <a:srgbClr val="328442"/>
            </a:solidFill>
            <a:prstDash val="solid"/>
          </a:ln>
        </p:spPr>
      </p:sp>
      <p:sp>
        <p:nvSpPr>
          <p:cNvPr id="5" name="Shape 3"/>
          <p:cNvSpPr/>
          <p:nvPr/>
        </p:nvSpPr>
        <p:spPr>
          <a:xfrm>
            <a:off x="5943600" y="-731520"/>
            <a:ext cx="4114800" cy="4114800"/>
          </a:xfrm>
          <a:prstGeom prst="ellipse">
            <a:avLst/>
          </a:prstGeom>
          <a:solidFill>
            <a:srgbClr val="328442">
              <a:alpha val="15000"/>
            </a:srgbClr>
          </a:solidFill>
          <a:ln w="12700">
            <a:solidFill>
              <a:srgbClr val="328442"/>
            </a:solidFill>
            <a:prstDash val="solid"/>
          </a:ln>
        </p:spPr>
      </p:sp>
      <p:sp>
        <p:nvSpPr>
          <p:cNvPr id="6" name="Shape 4"/>
          <p:cNvSpPr/>
          <p:nvPr/>
        </p:nvSpPr>
        <p:spPr>
          <a:xfrm>
            <a:off x="6583680" y="0"/>
            <a:ext cx="2926080" cy="2926080"/>
          </a:xfrm>
          <a:prstGeom prst="ellipse">
            <a:avLst/>
          </a:prstGeom>
          <a:solidFill>
            <a:srgbClr val="328442">
              <a:alpha val="25000"/>
            </a:srgbClr>
          </a:solidFill>
          <a:ln w="12700">
            <a:solidFill>
              <a:srgbClr val="328442"/>
            </a:solidFill>
            <a:prstDash val="solid"/>
          </a:ln>
        </p:spPr>
      </p:sp>
      <p:sp>
        <p:nvSpPr>
          <p:cNvPr id="7" name="Shape 5"/>
          <p:cNvSpPr/>
          <p:nvPr/>
        </p:nvSpPr>
        <p:spPr>
          <a:xfrm>
            <a:off x="411480" y="548640"/>
            <a:ext cx="2194560" cy="292608"/>
          </a:xfrm>
          <a:prstGeom prst="rect">
            <a:avLst/>
          </a:prstGeom>
          <a:solidFill>
            <a:srgbClr val="BE7B2B"/>
          </a:solidFill>
          <a:ln w="12700">
            <a:solidFill>
              <a:srgbClr val="BE7B2B"/>
            </a:solidFill>
            <a:prstDash val="solid"/>
          </a:ln>
        </p:spPr>
      </p:sp>
      <p:sp>
        <p:nvSpPr>
          <p:cNvPr id="8" name="Text 6"/>
          <p:cNvSpPr/>
          <p:nvPr/>
        </p:nvSpPr>
        <p:spPr>
          <a:xfrm>
            <a:off x="411480" y="548640"/>
            <a:ext cx="21945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FAM LANDSCAPE</a:t>
            </a:r>
            <a:endParaRPr lang="en-US" sz="900" dirty="0"/>
          </a:p>
        </p:txBody>
      </p:sp>
      <p:sp>
        <p:nvSpPr>
          <p:cNvPr id="9" name="Text 7"/>
          <p:cNvSpPr/>
          <p:nvPr/>
        </p:nvSpPr>
        <p:spPr>
          <a:xfrm>
            <a:off x="411480" y="1051560"/>
            <a:ext cx="6858000" cy="731520"/>
          </a:xfrm>
          <a:prstGeom prst="rect">
            <a:avLst/>
          </a:prstGeom>
          <a:noFill/>
          <a:ln/>
        </p:spPr>
        <p:txBody>
          <a:bodyPr wrap="square" lIns="0" tIns="0" rIns="0" bIns="0" rtlCol="0" anchor="t"/>
          <a:lstStyle/>
          <a:p>
            <a:pPr algn="l" indent="0" marL="0">
              <a:buNone/>
            </a:pPr>
            <a:r>
              <a:rPr lang="en-US" sz="6200" b="1" dirty="0">
                <a:solidFill>
                  <a:srgbClr val="FFFFFF"/>
                </a:solidFill>
                <a:latin typeface="Georgia" pitchFamily="34" charset="0"/>
                <a:ea typeface="Georgia" pitchFamily="34" charset="-122"/>
                <a:cs typeface="Georgia" pitchFamily="34" charset="-120"/>
              </a:rPr>
              <a:t>WEBSITE</a:t>
            </a:r>
            <a:endParaRPr lang="en-US" sz="6200" dirty="0"/>
          </a:p>
        </p:txBody>
      </p:sp>
      <p:sp>
        <p:nvSpPr>
          <p:cNvPr id="10" name="Text 8"/>
          <p:cNvSpPr/>
          <p:nvPr/>
        </p:nvSpPr>
        <p:spPr>
          <a:xfrm>
            <a:off x="411480" y="1737360"/>
            <a:ext cx="6858000" cy="731520"/>
          </a:xfrm>
          <a:prstGeom prst="rect">
            <a:avLst/>
          </a:prstGeom>
          <a:noFill/>
          <a:ln/>
        </p:spPr>
        <p:txBody>
          <a:bodyPr wrap="square" lIns="0" tIns="0" rIns="0" bIns="0" rtlCol="0" anchor="t"/>
          <a:lstStyle/>
          <a:p>
            <a:pPr algn="l" indent="0" marL="0">
              <a:buNone/>
            </a:pPr>
            <a:r>
              <a:rPr lang="en-US" sz="6200" b="1" dirty="0">
                <a:solidFill>
                  <a:srgbClr val="97BC62"/>
                </a:solidFill>
                <a:latin typeface="Georgia" pitchFamily="34" charset="0"/>
                <a:ea typeface="Georgia" pitchFamily="34" charset="-122"/>
                <a:cs typeface="Georgia" pitchFamily="34" charset="-120"/>
              </a:rPr>
              <a:t>REDESIGN</a:t>
            </a:r>
            <a:endParaRPr lang="en-US" sz="6200" dirty="0"/>
          </a:p>
        </p:txBody>
      </p:sp>
      <p:sp>
        <p:nvSpPr>
          <p:cNvPr id="11" name="Text 9"/>
          <p:cNvSpPr/>
          <p:nvPr/>
        </p:nvSpPr>
        <p:spPr>
          <a:xfrm>
            <a:off x="411480" y="2423160"/>
            <a:ext cx="6858000" cy="731520"/>
          </a:xfrm>
          <a:prstGeom prst="rect">
            <a:avLst/>
          </a:prstGeom>
          <a:noFill/>
          <a:ln/>
        </p:spPr>
        <p:txBody>
          <a:bodyPr wrap="square" lIns="0" tIns="0" rIns="0" bIns="0" rtlCol="0" anchor="t"/>
          <a:lstStyle/>
          <a:p>
            <a:pPr algn="l" indent="0" marL="0">
              <a:buNone/>
            </a:pPr>
            <a:r>
              <a:rPr lang="en-US" sz="6200" b="1" dirty="0">
                <a:solidFill>
                  <a:srgbClr val="BE7B2B"/>
                </a:solidFill>
                <a:latin typeface="Georgia" pitchFamily="34" charset="0"/>
                <a:ea typeface="Georgia" pitchFamily="34" charset="-122"/>
                <a:cs typeface="Georgia" pitchFamily="34" charset="-120"/>
              </a:rPr>
              <a:t>PROPOSAL</a:t>
            </a:r>
            <a:endParaRPr lang="en-US" sz="6200" dirty="0"/>
          </a:p>
        </p:txBody>
      </p:sp>
      <p:sp>
        <p:nvSpPr>
          <p:cNvPr id="12" name="Text 10"/>
          <p:cNvSpPr/>
          <p:nvPr/>
        </p:nvSpPr>
        <p:spPr>
          <a:xfrm>
            <a:off x="411480" y="3337560"/>
            <a:ext cx="7772400" cy="365760"/>
          </a:xfrm>
          <a:prstGeom prst="rect">
            <a:avLst/>
          </a:prstGeom>
          <a:noFill/>
          <a:ln/>
        </p:spPr>
        <p:txBody>
          <a:bodyPr wrap="square" lIns="0" tIns="0" rIns="0" bIns="0" rtlCol="0" anchor="ctr"/>
          <a:lstStyle/>
          <a:p>
            <a:pPr algn="l" indent="0" marL="0">
              <a:buNone/>
            </a:pPr>
            <a:r>
              <a:rPr lang="en-US" sz="1400" i="1" dirty="0">
                <a:solidFill>
                  <a:srgbClr val="AACCB0"/>
                </a:solidFill>
                <a:latin typeface="Calibri" pitchFamily="34" charset="0"/>
                <a:ea typeface="Calibri" pitchFamily="34" charset="-122"/>
                <a:cs typeface="Calibri" pitchFamily="34" charset="-120"/>
              </a:rPr>
              <a:t>Nâng tầm hình ảnh thương hiệu — Showcase công trình — Chinh phục đối tác</a:t>
            </a:r>
            <a:endParaRPr lang="en-US" sz="1400" dirty="0"/>
          </a:p>
        </p:txBody>
      </p:sp>
      <p:sp>
        <p:nvSpPr>
          <p:cNvPr id="13" name="Shape 11"/>
          <p:cNvSpPr/>
          <p:nvPr/>
        </p:nvSpPr>
        <p:spPr>
          <a:xfrm>
            <a:off x="411480" y="3794760"/>
            <a:ext cx="4572000" cy="0"/>
          </a:xfrm>
          <a:prstGeom prst="line">
            <a:avLst/>
          </a:prstGeom>
          <a:noFill/>
          <a:ln w="19050">
            <a:solidFill>
              <a:srgbClr val="BE7B2B"/>
            </a:solidFill>
            <a:prstDash val="solid"/>
          </a:ln>
        </p:spPr>
      </p:sp>
      <p:sp>
        <p:nvSpPr>
          <p:cNvPr id="14" name="Text 12"/>
          <p:cNvSpPr/>
          <p:nvPr/>
        </p:nvSpPr>
        <p:spPr>
          <a:xfrm>
            <a:off x="274320" y="4617720"/>
            <a:ext cx="859536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fam.com.vn  →  landscape-company-three.vercel.app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7130A"/>
          </a:solidFill>
          <a:ln w="12700">
            <a:solidFill>
              <a:srgbClr val="07130A"/>
            </a:solidFill>
            <a:prstDash val="solid"/>
          </a:ln>
        </p:spPr>
      </p:sp>
      <p:sp>
        <p:nvSpPr>
          <p:cNvPr id="3" name="Shape 1"/>
          <p:cNvSpPr/>
          <p:nvPr/>
        </p:nvSpPr>
        <p:spPr>
          <a:xfrm>
            <a:off x="0" y="914400"/>
            <a:ext cx="9144000" cy="54864"/>
          </a:xfrm>
          <a:prstGeom prst="rect">
            <a:avLst/>
          </a:prstGeom>
          <a:solidFill>
            <a:srgbClr val="328442"/>
          </a:solidFill>
          <a:ln w="12700">
            <a:solidFill>
              <a:srgbClr val="328442"/>
            </a:solidFill>
            <a:prstDash val="solid"/>
          </a:ln>
        </p:spPr>
      </p:sp>
      <p:sp>
        <p:nvSpPr>
          <p:cNvPr id="4" name="Text 2"/>
          <p:cNvSpPr/>
          <p:nvPr/>
        </p:nvSpPr>
        <p:spPr>
          <a:xfrm>
            <a:off x="457200" y="0"/>
            <a:ext cx="822960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NỘI DUNG TRÌNH BÀY</a:t>
            </a:r>
            <a:endParaRPr lang="en-US" sz="2800" dirty="0"/>
          </a:p>
        </p:txBody>
      </p:sp>
      <p:sp>
        <p:nvSpPr>
          <p:cNvPr id="5" name="Shape 3"/>
          <p:cNvSpPr/>
          <p:nvPr/>
        </p:nvSpPr>
        <p:spPr>
          <a:xfrm>
            <a:off x="365760" y="1188720"/>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1188720"/>
            <a:ext cx="73152" cy="960120"/>
          </a:xfrm>
          <a:prstGeom prst="rect">
            <a:avLst/>
          </a:prstGeom>
          <a:solidFill>
            <a:srgbClr val="328442"/>
          </a:solidFill>
          <a:ln w="12700">
            <a:solidFill>
              <a:srgbClr val="328442"/>
            </a:solidFill>
            <a:prstDash val="solid"/>
          </a:ln>
        </p:spPr>
      </p:sp>
      <p:sp>
        <p:nvSpPr>
          <p:cNvPr id="7" name="Text 5"/>
          <p:cNvSpPr/>
          <p:nvPr/>
        </p:nvSpPr>
        <p:spPr>
          <a:xfrm>
            <a:off x="502920" y="1261872"/>
            <a:ext cx="502920" cy="411480"/>
          </a:xfrm>
          <a:prstGeom prst="rect">
            <a:avLst/>
          </a:prstGeom>
          <a:noFill/>
          <a:ln/>
        </p:spPr>
        <p:txBody>
          <a:bodyPr wrap="square" lIns="0" tIns="0" rIns="0" bIns="0" rtlCol="0" anchor="ctr"/>
          <a:lstStyle/>
          <a:p>
            <a:pPr algn="l" indent="0" marL="0">
              <a:buNone/>
            </a:pPr>
            <a:r>
              <a:rPr lang="en-US" sz="2200" b="1" dirty="0">
                <a:solidFill>
                  <a:srgbClr val="328442"/>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1024128" y="1261872"/>
            <a:ext cx="3273552" cy="347472"/>
          </a:xfrm>
          <a:prstGeom prst="rect">
            <a:avLst/>
          </a:prstGeom>
          <a:noFill/>
          <a:ln/>
        </p:spPr>
        <p:txBody>
          <a:bodyPr wrap="square" lIns="0" tIns="0" rIns="0" bIns="0" rtlCol="0" anchor="ctr"/>
          <a:lstStyle/>
          <a:p>
            <a:pPr algn="l" indent="0" marL="0">
              <a:buNone/>
            </a:pPr>
            <a:r>
              <a:rPr lang="en-US" sz="1300" b="1" dirty="0">
                <a:solidFill>
                  <a:srgbClr val="1A2E1C"/>
                </a:solidFill>
                <a:latin typeface="Calibri" pitchFamily="34" charset="0"/>
                <a:ea typeface="Calibri" pitchFamily="34" charset="-122"/>
                <a:cs typeface="Calibri" pitchFamily="34" charset="-120"/>
              </a:rPr>
              <a:t>Thực trạng</a:t>
            </a:r>
            <a:endParaRPr lang="en-US" sz="1300" dirty="0"/>
          </a:p>
        </p:txBody>
      </p:sp>
      <p:sp>
        <p:nvSpPr>
          <p:cNvPr id="9" name="Text 7"/>
          <p:cNvSpPr/>
          <p:nvPr/>
        </p:nvSpPr>
        <p:spPr>
          <a:xfrm>
            <a:off x="1024128" y="1664208"/>
            <a:ext cx="3273552" cy="347472"/>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Website fam.com.vn hiện tại và những hạn chế</a:t>
            </a:r>
            <a:endParaRPr lang="en-US" sz="1000" dirty="0"/>
          </a:p>
        </p:txBody>
      </p:sp>
      <p:sp>
        <p:nvSpPr>
          <p:cNvPr id="10" name="Shape 8"/>
          <p:cNvSpPr/>
          <p:nvPr/>
        </p:nvSpPr>
        <p:spPr>
          <a:xfrm>
            <a:off x="4846320" y="1188720"/>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846320" y="1188720"/>
            <a:ext cx="73152" cy="960120"/>
          </a:xfrm>
          <a:prstGeom prst="rect">
            <a:avLst/>
          </a:prstGeom>
          <a:solidFill>
            <a:srgbClr val="328442"/>
          </a:solidFill>
          <a:ln w="12700">
            <a:solidFill>
              <a:srgbClr val="328442"/>
            </a:solidFill>
            <a:prstDash val="solid"/>
          </a:ln>
        </p:spPr>
      </p:sp>
      <p:sp>
        <p:nvSpPr>
          <p:cNvPr id="12" name="Text 10"/>
          <p:cNvSpPr/>
          <p:nvPr/>
        </p:nvSpPr>
        <p:spPr>
          <a:xfrm>
            <a:off x="4983480" y="1261872"/>
            <a:ext cx="502920" cy="411480"/>
          </a:xfrm>
          <a:prstGeom prst="rect">
            <a:avLst/>
          </a:prstGeom>
          <a:noFill/>
          <a:ln/>
        </p:spPr>
        <p:txBody>
          <a:bodyPr wrap="square" lIns="0" tIns="0" rIns="0" bIns="0" rtlCol="0" anchor="ctr"/>
          <a:lstStyle/>
          <a:p>
            <a:pPr algn="l" indent="0" marL="0">
              <a:buNone/>
            </a:pPr>
            <a:r>
              <a:rPr lang="en-US" sz="2200" b="1" dirty="0">
                <a:solidFill>
                  <a:srgbClr val="328442"/>
                </a:solidFill>
                <a:latin typeface="Georgia" pitchFamily="34" charset="0"/>
                <a:ea typeface="Georgia" pitchFamily="34" charset="-122"/>
                <a:cs typeface="Georgia" pitchFamily="34" charset="-120"/>
              </a:rPr>
              <a:t>02</a:t>
            </a:r>
            <a:endParaRPr lang="en-US" sz="2200" dirty="0"/>
          </a:p>
        </p:txBody>
      </p:sp>
      <p:sp>
        <p:nvSpPr>
          <p:cNvPr id="13" name="Text 11"/>
          <p:cNvSpPr/>
          <p:nvPr/>
        </p:nvSpPr>
        <p:spPr>
          <a:xfrm>
            <a:off x="5504688" y="1261872"/>
            <a:ext cx="3273552" cy="347472"/>
          </a:xfrm>
          <a:prstGeom prst="rect">
            <a:avLst/>
          </a:prstGeom>
          <a:noFill/>
          <a:ln/>
        </p:spPr>
        <p:txBody>
          <a:bodyPr wrap="square" lIns="0" tIns="0" rIns="0" bIns="0" rtlCol="0" anchor="ctr"/>
          <a:lstStyle/>
          <a:p>
            <a:pPr algn="l" indent="0" marL="0">
              <a:buNone/>
            </a:pPr>
            <a:r>
              <a:rPr lang="en-US" sz="1300" b="1" dirty="0">
                <a:solidFill>
                  <a:srgbClr val="1A2E1C"/>
                </a:solidFill>
                <a:latin typeface="Calibri" pitchFamily="34" charset="0"/>
                <a:ea typeface="Calibri" pitchFamily="34" charset="-122"/>
                <a:cs typeface="Calibri" pitchFamily="34" charset="-120"/>
              </a:rPr>
              <a:t>Vì sao cần website mới?</a:t>
            </a:r>
            <a:endParaRPr lang="en-US" sz="1300" dirty="0"/>
          </a:p>
        </p:txBody>
      </p:sp>
      <p:sp>
        <p:nvSpPr>
          <p:cNvPr id="14" name="Text 12"/>
          <p:cNvSpPr/>
          <p:nvPr/>
        </p:nvSpPr>
        <p:spPr>
          <a:xfrm>
            <a:off x="5504688" y="1664208"/>
            <a:ext cx="3273552" cy="347472"/>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4 lý do cốt lõi cần nâng cấp toàn diện</a:t>
            </a:r>
            <a:endParaRPr lang="en-US" sz="1000" dirty="0"/>
          </a:p>
        </p:txBody>
      </p:sp>
      <p:sp>
        <p:nvSpPr>
          <p:cNvPr id="15" name="Shape 13"/>
          <p:cNvSpPr/>
          <p:nvPr/>
        </p:nvSpPr>
        <p:spPr>
          <a:xfrm>
            <a:off x="365760" y="2423160"/>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65760" y="2423160"/>
            <a:ext cx="73152" cy="960120"/>
          </a:xfrm>
          <a:prstGeom prst="rect">
            <a:avLst/>
          </a:prstGeom>
          <a:solidFill>
            <a:srgbClr val="328442"/>
          </a:solidFill>
          <a:ln w="12700">
            <a:solidFill>
              <a:srgbClr val="328442"/>
            </a:solidFill>
            <a:prstDash val="solid"/>
          </a:ln>
        </p:spPr>
      </p:sp>
      <p:sp>
        <p:nvSpPr>
          <p:cNvPr id="17" name="Text 15"/>
          <p:cNvSpPr/>
          <p:nvPr/>
        </p:nvSpPr>
        <p:spPr>
          <a:xfrm>
            <a:off x="502920" y="2496312"/>
            <a:ext cx="502920" cy="411480"/>
          </a:xfrm>
          <a:prstGeom prst="rect">
            <a:avLst/>
          </a:prstGeom>
          <a:noFill/>
          <a:ln/>
        </p:spPr>
        <p:txBody>
          <a:bodyPr wrap="square" lIns="0" tIns="0" rIns="0" bIns="0" rtlCol="0" anchor="ctr"/>
          <a:lstStyle/>
          <a:p>
            <a:pPr algn="l" indent="0" marL="0">
              <a:buNone/>
            </a:pPr>
            <a:r>
              <a:rPr lang="en-US" sz="2200" b="1" dirty="0">
                <a:solidFill>
                  <a:srgbClr val="328442"/>
                </a:solidFill>
                <a:latin typeface="Georgia" pitchFamily="34" charset="0"/>
                <a:ea typeface="Georgia" pitchFamily="34" charset="-122"/>
                <a:cs typeface="Georgia" pitchFamily="34" charset="-120"/>
              </a:rPr>
              <a:t>03</a:t>
            </a:r>
            <a:endParaRPr lang="en-US" sz="2200" dirty="0"/>
          </a:p>
        </p:txBody>
      </p:sp>
      <p:sp>
        <p:nvSpPr>
          <p:cNvPr id="18" name="Text 16"/>
          <p:cNvSpPr/>
          <p:nvPr/>
        </p:nvSpPr>
        <p:spPr>
          <a:xfrm>
            <a:off x="1024128" y="2496312"/>
            <a:ext cx="3273552" cy="347472"/>
          </a:xfrm>
          <a:prstGeom prst="rect">
            <a:avLst/>
          </a:prstGeom>
          <a:noFill/>
          <a:ln/>
        </p:spPr>
        <p:txBody>
          <a:bodyPr wrap="square" lIns="0" tIns="0" rIns="0" bIns="0" rtlCol="0" anchor="ctr"/>
          <a:lstStyle/>
          <a:p>
            <a:pPr algn="l" indent="0" marL="0">
              <a:buNone/>
            </a:pPr>
            <a:r>
              <a:rPr lang="en-US" sz="1300" b="1" dirty="0">
                <a:solidFill>
                  <a:srgbClr val="1A2E1C"/>
                </a:solidFill>
                <a:latin typeface="Calibri" pitchFamily="34" charset="0"/>
                <a:ea typeface="Calibri" pitchFamily="34" charset="-122"/>
                <a:cs typeface="Calibri" pitchFamily="34" charset="-120"/>
              </a:rPr>
              <a:t>Giải pháp đề xuất</a:t>
            </a:r>
            <a:endParaRPr lang="en-US" sz="1300" dirty="0"/>
          </a:p>
        </p:txBody>
      </p:sp>
      <p:sp>
        <p:nvSpPr>
          <p:cNvPr id="19" name="Text 17"/>
          <p:cNvSpPr/>
          <p:nvPr/>
        </p:nvSpPr>
        <p:spPr>
          <a:xfrm>
            <a:off x="1024128" y="2898648"/>
            <a:ext cx="3273552" cy="347472"/>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Tổng quan website mới &amp; tính năng nổi bật</a:t>
            </a:r>
            <a:endParaRPr lang="en-US" sz="1000" dirty="0"/>
          </a:p>
        </p:txBody>
      </p:sp>
      <p:sp>
        <p:nvSpPr>
          <p:cNvPr id="20" name="Shape 18"/>
          <p:cNvSpPr/>
          <p:nvPr/>
        </p:nvSpPr>
        <p:spPr>
          <a:xfrm>
            <a:off x="4846320" y="2423160"/>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846320" y="2423160"/>
            <a:ext cx="73152" cy="960120"/>
          </a:xfrm>
          <a:prstGeom prst="rect">
            <a:avLst/>
          </a:prstGeom>
          <a:solidFill>
            <a:srgbClr val="328442"/>
          </a:solidFill>
          <a:ln w="12700">
            <a:solidFill>
              <a:srgbClr val="328442"/>
            </a:solidFill>
            <a:prstDash val="solid"/>
          </a:ln>
        </p:spPr>
      </p:sp>
      <p:sp>
        <p:nvSpPr>
          <p:cNvPr id="22" name="Text 20"/>
          <p:cNvSpPr/>
          <p:nvPr/>
        </p:nvSpPr>
        <p:spPr>
          <a:xfrm>
            <a:off x="4983480" y="2496312"/>
            <a:ext cx="502920" cy="411480"/>
          </a:xfrm>
          <a:prstGeom prst="rect">
            <a:avLst/>
          </a:prstGeom>
          <a:noFill/>
          <a:ln/>
        </p:spPr>
        <p:txBody>
          <a:bodyPr wrap="square" lIns="0" tIns="0" rIns="0" bIns="0" rtlCol="0" anchor="ctr"/>
          <a:lstStyle/>
          <a:p>
            <a:pPr algn="l" indent="0" marL="0">
              <a:buNone/>
            </a:pPr>
            <a:r>
              <a:rPr lang="en-US" sz="2200" b="1" dirty="0">
                <a:solidFill>
                  <a:srgbClr val="328442"/>
                </a:solidFill>
                <a:latin typeface="Georgia" pitchFamily="34" charset="0"/>
                <a:ea typeface="Georgia" pitchFamily="34" charset="-122"/>
                <a:cs typeface="Georgia" pitchFamily="34" charset="-120"/>
              </a:rPr>
              <a:t>04</a:t>
            </a:r>
            <a:endParaRPr lang="en-US" sz="2200" dirty="0"/>
          </a:p>
        </p:txBody>
      </p:sp>
      <p:sp>
        <p:nvSpPr>
          <p:cNvPr id="23" name="Text 21"/>
          <p:cNvSpPr/>
          <p:nvPr/>
        </p:nvSpPr>
        <p:spPr>
          <a:xfrm>
            <a:off x="5504688" y="2496312"/>
            <a:ext cx="3273552" cy="347472"/>
          </a:xfrm>
          <a:prstGeom prst="rect">
            <a:avLst/>
          </a:prstGeom>
          <a:noFill/>
          <a:ln/>
        </p:spPr>
        <p:txBody>
          <a:bodyPr wrap="square" lIns="0" tIns="0" rIns="0" bIns="0" rtlCol="0" anchor="ctr"/>
          <a:lstStyle/>
          <a:p>
            <a:pPr algn="l" indent="0" marL="0">
              <a:buNone/>
            </a:pPr>
            <a:r>
              <a:rPr lang="en-US" sz="1300" b="1" dirty="0">
                <a:solidFill>
                  <a:srgbClr val="1A2E1C"/>
                </a:solidFill>
                <a:latin typeface="Calibri" pitchFamily="34" charset="0"/>
                <a:ea typeface="Calibri" pitchFamily="34" charset="-122"/>
                <a:cs typeface="Calibri" pitchFamily="34" charset="-120"/>
              </a:rPr>
              <a:t>Admin &amp; Quản lý nội dung</a:t>
            </a:r>
            <a:endParaRPr lang="en-US" sz="1300" dirty="0"/>
          </a:p>
        </p:txBody>
      </p:sp>
      <p:sp>
        <p:nvSpPr>
          <p:cNvPr id="24" name="Text 22"/>
          <p:cNvSpPr/>
          <p:nvPr/>
        </p:nvSpPr>
        <p:spPr>
          <a:xfrm>
            <a:off x="5504688" y="2898648"/>
            <a:ext cx="3273552" cy="347472"/>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Hệ thống quản trị dự án, bài viết, đối tác</a:t>
            </a:r>
            <a:endParaRPr lang="en-US" sz="1000" dirty="0"/>
          </a:p>
        </p:txBody>
      </p:sp>
      <p:sp>
        <p:nvSpPr>
          <p:cNvPr id="25" name="Shape 23"/>
          <p:cNvSpPr/>
          <p:nvPr/>
        </p:nvSpPr>
        <p:spPr>
          <a:xfrm>
            <a:off x="365760" y="3657600"/>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365760" y="3657600"/>
            <a:ext cx="73152" cy="960120"/>
          </a:xfrm>
          <a:prstGeom prst="rect">
            <a:avLst/>
          </a:prstGeom>
          <a:solidFill>
            <a:srgbClr val="328442"/>
          </a:solidFill>
          <a:ln w="12700">
            <a:solidFill>
              <a:srgbClr val="328442"/>
            </a:solidFill>
            <a:prstDash val="solid"/>
          </a:ln>
        </p:spPr>
      </p:sp>
      <p:sp>
        <p:nvSpPr>
          <p:cNvPr id="27" name="Text 25"/>
          <p:cNvSpPr/>
          <p:nvPr/>
        </p:nvSpPr>
        <p:spPr>
          <a:xfrm>
            <a:off x="502920" y="3730752"/>
            <a:ext cx="502920" cy="411480"/>
          </a:xfrm>
          <a:prstGeom prst="rect">
            <a:avLst/>
          </a:prstGeom>
          <a:noFill/>
          <a:ln/>
        </p:spPr>
        <p:txBody>
          <a:bodyPr wrap="square" lIns="0" tIns="0" rIns="0" bIns="0" rtlCol="0" anchor="ctr"/>
          <a:lstStyle/>
          <a:p>
            <a:pPr algn="l" indent="0" marL="0">
              <a:buNone/>
            </a:pPr>
            <a:r>
              <a:rPr lang="en-US" sz="2200" b="1" dirty="0">
                <a:solidFill>
                  <a:srgbClr val="328442"/>
                </a:solidFill>
                <a:latin typeface="Georgia" pitchFamily="34" charset="0"/>
                <a:ea typeface="Georgia" pitchFamily="34" charset="-122"/>
                <a:cs typeface="Georgia" pitchFamily="34" charset="-120"/>
              </a:rPr>
              <a:t>05</a:t>
            </a:r>
            <a:endParaRPr lang="en-US" sz="2200" dirty="0"/>
          </a:p>
        </p:txBody>
      </p:sp>
      <p:sp>
        <p:nvSpPr>
          <p:cNvPr id="28" name="Text 26"/>
          <p:cNvSpPr/>
          <p:nvPr/>
        </p:nvSpPr>
        <p:spPr>
          <a:xfrm>
            <a:off x="1024128" y="3730752"/>
            <a:ext cx="3273552" cy="347472"/>
          </a:xfrm>
          <a:prstGeom prst="rect">
            <a:avLst/>
          </a:prstGeom>
          <a:noFill/>
          <a:ln/>
        </p:spPr>
        <p:txBody>
          <a:bodyPr wrap="square" lIns="0" tIns="0" rIns="0" bIns="0" rtlCol="0" anchor="ctr"/>
          <a:lstStyle/>
          <a:p>
            <a:pPr algn="l" indent="0" marL="0">
              <a:buNone/>
            </a:pPr>
            <a:r>
              <a:rPr lang="en-US" sz="1300" b="1" dirty="0">
                <a:solidFill>
                  <a:srgbClr val="1A2E1C"/>
                </a:solidFill>
                <a:latin typeface="Calibri" pitchFamily="34" charset="0"/>
                <a:ea typeface="Calibri" pitchFamily="34" charset="-122"/>
                <a:cs typeface="Calibri" pitchFamily="34" charset="-120"/>
              </a:rPr>
              <a:t>Flipbook — Catalog số</a:t>
            </a:r>
            <a:endParaRPr lang="en-US" sz="1300" dirty="0"/>
          </a:p>
        </p:txBody>
      </p:sp>
      <p:sp>
        <p:nvSpPr>
          <p:cNvPr id="29" name="Text 27"/>
          <p:cNvSpPr/>
          <p:nvPr/>
        </p:nvSpPr>
        <p:spPr>
          <a:xfrm>
            <a:off x="1024128" y="4133088"/>
            <a:ext cx="3273552" cy="347472"/>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Hồ sơ năng lực trực tuyến dành cho đối tác</a:t>
            </a:r>
            <a:endParaRPr lang="en-US" sz="1000" dirty="0"/>
          </a:p>
        </p:txBody>
      </p:sp>
      <p:sp>
        <p:nvSpPr>
          <p:cNvPr id="30" name="Shape 28"/>
          <p:cNvSpPr/>
          <p:nvPr/>
        </p:nvSpPr>
        <p:spPr>
          <a:xfrm>
            <a:off x="4846320" y="3657600"/>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4846320" y="3657600"/>
            <a:ext cx="73152" cy="960120"/>
          </a:xfrm>
          <a:prstGeom prst="rect">
            <a:avLst/>
          </a:prstGeom>
          <a:solidFill>
            <a:srgbClr val="328442"/>
          </a:solidFill>
          <a:ln w="12700">
            <a:solidFill>
              <a:srgbClr val="328442"/>
            </a:solidFill>
            <a:prstDash val="solid"/>
          </a:ln>
        </p:spPr>
      </p:sp>
      <p:sp>
        <p:nvSpPr>
          <p:cNvPr id="32" name="Text 30"/>
          <p:cNvSpPr/>
          <p:nvPr/>
        </p:nvSpPr>
        <p:spPr>
          <a:xfrm>
            <a:off x="4983480" y="3730752"/>
            <a:ext cx="502920" cy="411480"/>
          </a:xfrm>
          <a:prstGeom prst="rect">
            <a:avLst/>
          </a:prstGeom>
          <a:noFill/>
          <a:ln/>
        </p:spPr>
        <p:txBody>
          <a:bodyPr wrap="square" lIns="0" tIns="0" rIns="0" bIns="0" rtlCol="0" anchor="ctr"/>
          <a:lstStyle/>
          <a:p>
            <a:pPr algn="l" indent="0" marL="0">
              <a:buNone/>
            </a:pPr>
            <a:r>
              <a:rPr lang="en-US" sz="2200" b="1" dirty="0">
                <a:solidFill>
                  <a:srgbClr val="328442"/>
                </a:solidFill>
                <a:latin typeface="Georgia" pitchFamily="34" charset="0"/>
                <a:ea typeface="Georgia" pitchFamily="34" charset="-122"/>
                <a:cs typeface="Georgia" pitchFamily="34" charset="-120"/>
              </a:rPr>
              <a:t>06</a:t>
            </a:r>
            <a:endParaRPr lang="en-US" sz="2200" dirty="0"/>
          </a:p>
        </p:txBody>
      </p:sp>
      <p:sp>
        <p:nvSpPr>
          <p:cNvPr id="33" name="Text 31"/>
          <p:cNvSpPr/>
          <p:nvPr/>
        </p:nvSpPr>
        <p:spPr>
          <a:xfrm>
            <a:off x="5504688" y="3730752"/>
            <a:ext cx="3273552" cy="347472"/>
          </a:xfrm>
          <a:prstGeom prst="rect">
            <a:avLst/>
          </a:prstGeom>
          <a:noFill/>
          <a:ln/>
        </p:spPr>
        <p:txBody>
          <a:bodyPr wrap="square" lIns="0" tIns="0" rIns="0" bIns="0" rtlCol="0" anchor="ctr"/>
          <a:lstStyle/>
          <a:p>
            <a:pPr algn="l" indent="0" marL="0">
              <a:buNone/>
            </a:pPr>
            <a:r>
              <a:rPr lang="en-US" sz="1300" b="1" dirty="0">
                <a:solidFill>
                  <a:srgbClr val="1A2E1C"/>
                </a:solidFill>
                <a:latin typeface="Calibri" pitchFamily="34" charset="0"/>
                <a:ea typeface="Calibri" pitchFamily="34" charset="-122"/>
                <a:cs typeface="Calibri" pitchFamily="34" charset="-120"/>
              </a:rPr>
              <a:t>Tech Stack &amp; Lộ trình</a:t>
            </a:r>
            <a:endParaRPr lang="en-US" sz="1300" dirty="0"/>
          </a:p>
        </p:txBody>
      </p:sp>
      <p:sp>
        <p:nvSpPr>
          <p:cNvPr id="34" name="Text 32"/>
          <p:cNvSpPr/>
          <p:nvPr/>
        </p:nvSpPr>
        <p:spPr>
          <a:xfrm>
            <a:off x="5504688" y="4133088"/>
            <a:ext cx="3273552" cy="347472"/>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Công nghệ hiện đại &amp; kế hoạch triển khai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7130A"/>
          </a:solidFill>
          <a:ln w="12700">
            <a:solidFill>
              <a:srgbClr val="07130A"/>
            </a:solidFill>
            <a:prstDash val="solid"/>
          </a:ln>
        </p:spPr>
      </p:sp>
      <p:sp>
        <p:nvSpPr>
          <p:cNvPr id="3" name="Shape 1"/>
          <p:cNvSpPr/>
          <p:nvPr/>
        </p:nvSpPr>
        <p:spPr>
          <a:xfrm>
            <a:off x="0" y="914400"/>
            <a:ext cx="9144000" cy="54864"/>
          </a:xfrm>
          <a:prstGeom prst="rect">
            <a:avLst/>
          </a:prstGeom>
          <a:solidFill>
            <a:srgbClr val="BE7B2B"/>
          </a:solidFill>
          <a:ln w="12700">
            <a:solidFill>
              <a:srgbClr val="BE7B2B"/>
            </a:solidFill>
            <a:prstDash val="solid"/>
          </a:ln>
        </p:spPr>
      </p:sp>
      <p:sp>
        <p:nvSpPr>
          <p:cNvPr id="4" name="Text 2"/>
          <p:cNvSpPr/>
          <p:nvPr/>
        </p:nvSpPr>
        <p:spPr>
          <a:xfrm>
            <a:off x="457200" y="0"/>
            <a:ext cx="548640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THỰC TRẠNG</a:t>
            </a:r>
            <a:endParaRPr lang="en-US" sz="2800" dirty="0"/>
          </a:p>
        </p:txBody>
      </p:sp>
      <p:sp>
        <p:nvSpPr>
          <p:cNvPr id="5" name="Text 3"/>
          <p:cNvSpPr/>
          <p:nvPr/>
        </p:nvSpPr>
        <p:spPr>
          <a:xfrm>
            <a:off x="5943600" y="0"/>
            <a:ext cx="2743200" cy="914400"/>
          </a:xfrm>
          <a:prstGeom prst="rect">
            <a:avLst/>
          </a:prstGeom>
          <a:noFill/>
          <a:ln/>
        </p:spPr>
        <p:txBody>
          <a:bodyPr wrap="square" lIns="0" tIns="0" rIns="0" bIns="0" rtlCol="0" anchor="ctr"/>
          <a:lstStyle/>
          <a:p>
            <a:pPr algn="r" indent="0" marL="0">
              <a:buNone/>
            </a:pPr>
            <a:r>
              <a:rPr lang="en-US" sz="1600" i="1" dirty="0">
                <a:solidFill>
                  <a:srgbClr val="BE7B2B"/>
                </a:solidFill>
                <a:latin typeface="Calibri" pitchFamily="34" charset="0"/>
                <a:ea typeface="Calibri" pitchFamily="34" charset="-122"/>
                <a:cs typeface="Calibri" pitchFamily="34" charset="-120"/>
              </a:rPr>
              <a:t>fam.com.vn</a:t>
            </a:r>
            <a:endParaRPr lang="en-US" sz="1600" dirty="0"/>
          </a:p>
        </p:txBody>
      </p:sp>
      <p:sp>
        <p:nvSpPr>
          <p:cNvPr id="6" name="Shape 4"/>
          <p:cNvSpPr/>
          <p:nvPr/>
        </p:nvSpPr>
        <p:spPr>
          <a:xfrm>
            <a:off x="365760" y="1143000"/>
            <a:ext cx="3840480" cy="3520440"/>
          </a:xfrm>
          <a:prstGeom prst="rect">
            <a:avLst/>
          </a:prstGeom>
          <a:solidFill>
            <a:srgbClr val="0D1F0F"/>
          </a:solidFill>
          <a:ln w="12700">
            <a:solidFill>
              <a:srgbClr val="328442"/>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57200" y="1234440"/>
            <a:ext cx="3657600" cy="411480"/>
          </a:xfrm>
          <a:prstGeom prst="rect">
            <a:avLst/>
          </a:prstGeom>
          <a:noFill/>
          <a:ln/>
        </p:spPr>
        <p:txBody>
          <a:bodyPr wrap="square" lIns="0" tIns="0" rIns="0" bIns="0" rtlCol="0" anchor="ctr"/>
          <a:lstStyle/>
          <a:p>
            <a:pPr algn="l" indent="0" marL="0">
              <a:buNone/>
            </a:pPr>
            <a:r>
              <a:rPr lang="en-US" sz="1300" b="1" dirty="0">
                <a:solidFill>
                  <a:srgbClr val="97BC62"/>
                </a:solidFill>
                <a:latin typeface="Calibri" pitchFamily="34" charset="0"/>
                <a:ea typeface="Calibri" pitchFamily="34" charset="-122"/>
                <a:cs typeface="Calibri" pitchFamily="34" charset="-120"/>
              </a:rPr>
              <a:t>🌐  fam.com.vn</a:t>
            </a:r>
            <a:endParaRPr lang="en-US" sz="1300" dirty="0"/>
          </a:p>
        </p:txBody>
      </p:sp>
      <p:sp>
        <p:nvSpPr>
          <p:cNvPr id="8" name="Shape 6"/>
          <p:cNvSpPr/>
          <p:nvPr/>
        </p:nvSpPr>
        <p:spPr>
          <a:xfrm>
            <a:off x="457200" y="1691640"/>
            <a:ext cx="3657600" cy="274320"/>
          </a:xfrm>
          <a:prstGeom prst="rect">
            <a:avLst/>
          </a:prstGeom>
          <a:solidFill>
            <a:srgbClr val="1A2E1C"/>
          </a:solidFill>
          <a:ln w="12700">
            <a:solidFill>
              <a:srgbClr val="2D4A2F"/>
            </a:solidFill>
            <a:prstDash val="solid"/>
          </a:ln>
        </p:spPr>
      </p:sp>
      <p:sp>
        <p:nvSpPr>
          <p:cNvPr id="9" name="Text 7"/>
          <p:cNvSpPr/>
          <p:nvPr/>
        </p:nvSpPr>
        <p:spPr>
          <a:xfrm>
            <a:off x="502920" y="1709928"/>
            <a:ext cx="3566160" cy="237744"/>
          </a:xfrm>
          <a:prstGeom prst="rect">
            <a:avLst/>
          </a:prstGeom>
          <a:noFill/>
          <a:ln/>
        </p:spPr>
        <p:txBody>
          <a:bodyPr wrap="square" lIns="0" tIns="0" rIns="0" bIns="0" rtlCol="0" anchor="ctr"/>
          <a:lstStyle/>
          <a:p>
            <a:pPr algn="l" indent="0" marL="0">
              <a:buNone/>
            </a:pPr>
            <a:r>
              <a:rPr lang="en-US" sz="900" dirty="0">
                <a:solidFill>
                  <a:srgbClr val="7AAA7C"/>
                </a:solidFill>
                <a:latin typeface="Calibri" pitchFamily="34" charset="0"/>
                <a:ea typeface="Calibri" pitchFamily="34" charset="-122"/>
                <a:cs typeface="Calibri" pitchFamily="34" charset="-120"/>
              </a:rPr>
              <a:t>https://fam.com.vn</a:t>
            </a:r>
            <a:endParaRPr lang="en-US" sz="900" dirty="0"/>
          </a:p>
        </p:txBody>
      </p:sp>
      <p:sp>
        <p:nvSpPr>
          <p:cNvPr id="10" name="Shape 8"/>
          <p:cNvSpPr/>
          <p:nvPr/>
        </p:nvSpPr>
        <p:spPr>
          <a:xfrm>
            <a:off x="457200" y="2011680"/>
            <a:ext cx="3657600" cy="2377440"/>
          </a:xfrm>
          <a:prstGeom prst="rect">
            <a:avLst/>
          </a:prstGeom>
          <a:solidFill>
            <a:srgbClr val="0F2211"/>
          </a:solidFill>
          <a:ln w="12700">
            <a:solidFill>
              <a:srgbClr val="2D4A2F"/>
            </a:solidFill>
            <a:prstDash val="solid"/>
          </a:ln>
        </p:spPr>
      </p:sp>
      <p:sp>
        <p:nvSpPr>
          <p:cNvPr id="11" name="Shape 9"/>
          <p:cNvSpPr/>
          <p:nvPr/>
        </p:nvSpPr>
        <p:spPr>
          <a:xfrm>
            <a:off x="457200" y="2011680"/>
            <a:ext cx="3657600" cy="274320"/>
          </a:xfrm>
          <a:prstGeom prst="rect">
            <a:avLst/>
          </a:prstGeom>
          <a:solidFill>
            <a:srgbClr val="1A3A1C"/>
          </a:solidFill>
          <a:ln w="12700">
            <a:solidFill>
              <a:srgbClr val="1A3A1C"/>
            </a:solidFill>
            <a:prstDash val="solid"/>
          </a:ln>
        </p:spPr>
      </p:sp>
      <p:sp>
        <p:nvSpPr>
          <p:cNvPr id="12" name="Shape 10"/>
          <p:cNvSpPr/>
          <p:nvPr/>
        </p:nvSpPr>
        <p:spPr>
          <a:xfrm>
            <a:off x="457200" y="2331720"/>
            <a:ext cx="3657600" cy="914400"/>
          </a:xfrm>
          <a:prstGeom prst="rect">
            <a:avLst/>
          </a:prstGeom>
          <a:solidFill>
            <a:srgbClr val="243D26"/>
          </a:solidFill>
          <a:ln w="12700">
            <a:solidFill>
              <a:srgbClr val="243D26"/>
            </a:solidFill>
            <a:prstDash val="solid"/>
          </a:ln>
        </p:spPr>
      </p:sp>
      <p:sp>
        <p:nvSpPr>
          <p:cNvPr id="13" name="Text 11"/>
          <p:cNvSpPr/>
          <p:nvPr/>
        </p:nvSpPr>
        <p:spPr>
          <a:xfrm>
            <a:off x="502920" y="2423160"/>
            <a:ext cx="3566160" cy="640080"/>
          </a:xfrm>
          <a:prstGeom prst="rect">
            <a:avLst/>
          </a:prstGeom>
          <a:noFill/>
          <a:ln/>
        </p:spPr>
        <p:txBody>
          <a:bodyPr wrap="square" lIns="0" tIns="0" rIns="0" bIns="0" rtlCol="0" anchor="ctr"/>
          <a:lstStyle/>
          <a:p>
            <a:pPr algn="ctr" indent="0" marL="0">
              <a:buNone/>
            </a:pPr>
            <a:r>
              <a:rPr lang="en-US" sz="900" i="1" dirty="0">
                <a:solidFill>
                  <a:srgbClr val="5A7A5C"/>
                </a:solidFill>
                <a:latin typeface="Calibri" pitchFamily="34" charset="0"/>
                <a:ea typeface="Calibri" pitchFamily="34" charset="-122"/>
                <a:cs typeface="Calibri" pitchFamily="34" charset="-120"/>
              </a:rPr>
              <a:t>[ Hero Banner cũ — Ảnh nhỏ, không tối ưu ]</a:t>
            </a:r>
            <a:endParaRPr lang="en-US" sz="900" dirty="0"/>
          </a:p>
        </p:txBody>
      </p:sp>
      <p:sp>
        <p:nvSpPr>
          <p:cNvPr id="14" name="Shape 12"/>
          <p:cNvSpPr/>
          <p:nvPr/>
        </p:nvSpPr>
        <p:spPr>
          <a:xfrm>
            <a:off x="457200" y="3291840"/>
            <a:ext cx="1737360" cy="411480"/>
          </a:xfrm>
          <a:prstGeom prst="rect">
            <a:avLst/>
          </a:prstGeom>
          <a:solidFill>
            <a:srgbClr val="1A3A1C"/>
          </a:solidFill>
          <a:ln w="12700">
            <a:solidFill>
              <a:srgbClr val="2A4E2C"/>
            </a:solidFill>
            <a:prstDash val="solid"/>
          </a:ln>
        </p:spPr>
      </p:sp>
      <p:sp>
        <p:nvSpPr>
          <p:cNvPr id="15" name="Text 13"/>
          <p:cNvSpPr/>
          <p:nvPr/>
        </p:nvSpPr>
        <p:spPr>
          <a:xfrm>
            <a:off x="502920" y="3310128"/>
            <a:ext cx="1645920" cy="365760"/>
          </a:xfrm>
          <a:prstGeom prst="rect">
            <a:avLst/>
          </a:prstGeom>
          <a:noFill/>
          <a:ln/>
        </p:spPr>
        <p:txBody>
          <a:bodyPr wrap="square" lIns="0" tIns="0" rIns="0" bIns="0" rtlCol="0" anchor="ctr"/>
          <a:lstStyle/>
          <a:p>
            <a:pPr algn="ctr" indent="0" marL="0">
              <a:buNone/>
            </a:pPr>
            <a:r>
              <a:rPr lang="en-US" sz="900" dirty="0">
                <a:solidFill>
                  <a:srgbClr val="5A7A5C"/>
                </a:solidFill>
                <a:latin typeface="Calibri" pitchFamily="34" charset="0"/>
                <a:ea typeface="Calibri" pitchFamily="34" charset="-122"/>
                <a:cs typeface="Calibri" pitchFamily="34" charset="-120"/>
              </a:rPr>
              <a:t>Giới thiệu</a:t>
            </a:r>
            <a:endParaRPr lang="en-US" sz="900" dirty="0"/>
          </a:p>
        </p:txBody>
      </p:sp>
      <p:sp>
        <p:nvSpPr>
          <p:cNvPr id="16" name="Shape 14"/>
          <p:cNvSpPr/>
          <p:nvPr/>
        </p:nvSpPr>
        <p:spPr>
          <a:xfrm>
            <a:off x="2286000" y="3291840"/>
            <a:ext cx="1737360" cy="411480"/>
          </a:xfrm>
          <a:prstGeom prst="rect">
            <a:avLst/>
          </a:prstGeom>
          <a:solidFill>
            <a:srgbClr val="1A3A1C"/>
          </a:solidFill>
          <a:ln w="12700">
            <a:solidFill>
              <a:srgbClr val="2A4E2C"/>
            </a:solidFill>
            <a:prstDash val="solid"/>
          </a:ln>
        </p:spPr>
      </p:sp>
      <p:sp>
        <p:nvSpPr>
          <p:cNvPr id="17" name="Text 15"/>
          <p:cNvSpPr/>
          <p:nvPr/>
        </p:nvSpPr>
        <p:spPr>
          <a:xfrm>
            <a:off x="2331720" y="3310128"/>
            <a:ext cx="1645920" cy="365760"/>
          </a:xfrm>
          <a:prstGeom prst="rect">
            <a:avLst/>
          </a:prstGeom>
          <a:noFill/>
          <a:ln/>
        </p:spPr>
        <p:txBody>
          <a:bodyPr wrap="square" lIns="0" tIns="0" rIns="0" bIns="0" rtlCol="0" anchor="ctr"/>
          <a:lstStyle/>
          <a:p>
            <a:pPr algn="ctr" indent="0" marL="0">
              <a:buNone/>
            </a:pPr>
            <a:r>
              <a:rPr lang="en-US" sz="900" dirty="0">
                <a:solidFill>
                  <a:srgbClr val="5A7A5C"/>
                </a:solidFill>
                <a:latin typeface="Calibri" pitchFamily="34" charset="0"/>
                <a:ea typeface="Calibri" pitchFamily="34" charset="-122"/>
                <a:cs typeface="Calibri" pitchFamily="34" charset="-120"/>
              </a:rPr>
              <a:t>Dịch vụ</a:t>
            </a:r>
            <a:endParaRPr lang="en-US" sz="900" dirty="0"/>
          </a:p>
        </p:txBody>
      </p:sp>
      <p:sp>
        <p:nvSpPr>
          <p:cNvPr id="18" name="Shape 16"/>
          <p:cNvSpPr/>
          <p:nvPr/>
        </p:nvSpPr>
        <p:spPr>
          <a:xfrm>
            <a:off x="457200" y="3794760"/>
            <a:ext cx="1737360" cy="411480"/>
          </a:xfrm>
          <a:prstGeom prst="rect">
            <a:avLst/>
          </a:prstGeom>
          <a:solidFill>
            <a:srgbClr val="1A3A1C"/>
          </a:solidFill>
          <a:ln w="12700">
            <a:solidFill>
              <a:srgbClr val="2A4E2C"/>
            </a:solidFill>
            <a:prstDash val="solid"/>
          </a:ln>
        </p:spPr>
      </p:sp>
      <p:sp>
        <p:nvSpPr>
          <p:cNvPr id="19" name="Text 17"/>
          <p:cNvSpPr/>
          <p:nvPr/>
        </p:nvSpPr>
        <p:spPr>
          <a:xfrm>
            <a:off x="502920" y="3813048"/>
            <a:ext cx="1645920" cy="365760"/>
          </a:xfrm>
          <a:prstGeom prst="rect">
            <a:avLst/>
          </a:prstGeom>
          <a:noFill/>
          <a:ln/>
        </p:spPr>
        <p:txBody>
          <a:bodyPr wrap="square" lIns="0" tIns="0" rIns="0" bIns="0" rtlCol="0" anchor="ctr"/>
          <a:lstStyle/>
          <a:p>
            <a:pPr algn="ctr" indent="0" marL="0">
              <a:buNone/>
            </a:pPr>
            <a:r>
              <a:rPr lang="en-US" sz="900" dirty="0">
                <a:solidFill>
                  <a:srgbClr val="5A7A5C"/>
                </a:solidFill>
                <a:latin typeface="Calibri" pitchFamily="34" charset="0"/>
                <a:ea typeface="Calibri" pitchFamily="34" charset="-122"/>
                <a:cs typeface="Calibri" pitchFamily="34" charset="-120"/>
              </a:rPr>
              <a:t>Dự án</a:t>
            </a:r>
            <a:endParaRPr lang="en-US" sz="900" dirty="0"/>
          </a:p>
        </p:txBody>
      </p:sp>
      <p:sp>
        <p:nvSpPr>
          <p:cNvPr id="20" name="Shape 18"/>
          <p:cNvSpPr/>
          <p:nvPr/>
        </p:nvSpPr>
        <p:spPr>
          <a:xfrm>
            <a:off x="2286000" y="3794760"/>
            <a:ext cx="1737360" cy="411480"/>
          </a:xfrm>
          <a:prstGeom prst="rect">
            <a:avLst/>
          </a:prstGeom>
          <a:solidFill>
            <a:srgbClr val="1A3A1C"/>
          </a:solidFill>
          <a:ln w="12700">
            <a:solidFill>
              <a:srgbClr val="2A4E2C"/>
            </a:solidFill>
            <a:prstDash val="solid"/>
          </a:ln>
        </p:spPr>
      </p:sp>
      <p:sp>
        <p:nvSpPr>
          <p:cNvPr id="21" name="Text 19"/>
          <p:cNvSpPr/>
          <p:nvPr/>
        </p:nvSpPr>
        <p:spPr>
          <a:xfrm>
            <a:off x="2331720" y="3813048"/>
            <a:ext cx="1645920" cy="365760"/>
          </a:xfrm>
          <a:prstGeom prst="rect">
            <a:avLst/>
          </a:prstGeom>
          <a:noFill/>
          <a:ln/>
        </p:spPr>
        <p:txBody>
          <a:bodyPr wrap="square" lIns="0" tIns="0" rIns="0" bIns="0" rtlCol="0" anchor="ctr"/>
          <a:lstStyle/>
          <a:p>
            <a:pPr algn="ctr" indent="0" marL="0">
              <a:buNone/>
            </a:pPr>
            <a:r>
              <a:rPr lang="en-US" sz="900" dirty="0">
                <a:solidFill>
                  <a:srgbClr val="5A7A5C"/>
                </a:solidFill>
                <a:latin typeface="Calibri" pitchFamily="34" charset="0"/>
                <a:ea typeface="Calibri" pitchFamily="34" charset="-122"/>
                <a:cs typeface="Calibri" pitchFamily="34" charset="-120"/>
              </a:rPr>
              <a:t>Liên hệ</a:t>
            </a:r>
            <a:endParaRPr lang="en-US" sz="900" dirty="0"/>
          </a:p>
        </p:txBody>
      </p:sp>
      <p:sp>
        <p:nvSpPr>
          <p:cNvPr id="22" name="Shape 20"/>
          <p:cNvSpPr/>
          <p:nvPr/>
        </p:nvSpPr>
        <p:spPr>
          <a:xfrm>
            <a:off x="4572000" y="1143000"/>
            <a:ext cx="420624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572000" y="1143000"/>
            <a:ext cx="64008" cy="804672"/>
          </a:xfrm>
          <a:prstGeom prst="rect">
            <a:avLst/>
          </a:prstGeom>
          <a:solidFill>
            <a:srgbClr val="D94F4F"/>
          </a:solidFill>
          <a:ln w="12700">
            <a:solidFill>
              <a:srgbClr val="D94F4F"/>
            </a:solidFill>
            <a:prstDash val="solid"/>
          </a:ln>
        </p:spPr>
      </p:sp>
      <p:sp>
        <p:nvSpPr>
          <p:cNvPr id="24" name="Text 22"/>
          <p:cNvSpPr/>
          <p:nvPr/>
        </p:nvSpPr>
        <p:spPr>
          <a:xfrm>
            <a:off x="4681728" y="1188720"/>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5" name="Text 23"/>
          <p:cNvSpPr/>
          <p:nvPr/>
        </p:nvSpPr>
        <p:spPr>
          <a:xfrm>
            <a:off x="5138928" y="1197864"/>
            <a:ext cx="352044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Giao diện lỗi thời</a:t>
            </a:r>
            <a:endParaRPr lang="en-US" sz="1200" dirty="0"/>
          </a:p>
        </p:txBody>
      </p:sp>
      <p:sp>
        <p:nvSpPr>
          <p:cNvPr id="26" name="Text 24"/>
          <p:cNvSpPr/>
          <p:nvPr/>
        </p:nvSpPr>
        <p:spPr>
          <a:xfrm>
            <a:off x="5138928" y="1490472"/>
            <a:ext cx="352044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Thiết kế từ nhiều năm trước, không theo xu hướng hiện đại, trải nghiệm người dùng kém</a:t>
            </a:r>
            <a:endParaRPr lang="en-US" sz="950" dirty="0"/>
          </a:p>
        </p:txBody>
      </p:sp>
      <p:sp>
        <p:nvSpPr>
          <p:cNvPr id="27" name="Shape 25"/>
          <p:cNvSpPr/>
          <p:nvPr/>
        </p:nvSpPr>
        <p:spPr>
          <a:xfrm>
            <a:off x="4572000" y="2103120"/>
            <a:ext cx="420624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4572000" y="2103120"/>
            <a:ext cx="64008" cy="804672"/>
          </a:xfrm>
          <a:prstGeom prst="rect">
            <a:avLst/>
          </a:prstGeom>
          <a:solidFill>
            <a:srgbClr val="D94F4F"/>
          </a:solidFill>
          <a:ln w="12700">
            <a:solidFill>
              <a:srgbClr val="D94F4F"/>
            </a:solidFill>
            <a:prstDash val="solid"/>
          </a:ln>
        </p:spPr>
      </p:sp>
      <p:sp>
        <p:nvSpPr>
          <p:cNvPr id="29" name="Text 27"/>
          <p:cNvSpPr/>
          <p:nvPr/>
        </p:nvSpPr>
        <p:spPr>
          <a:xfrm>
            <a:off x="4681728" y="2148840"/>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5138928" y="2157984"/>
            <a:ext cx="352044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Không tối ưu Mobile</a:t>
            </a:r>
            <a:endParaRPr lang="en-US" sz="1200" dirty="0"/>
          </a:p>
        </p:txBody>
      </p:sp>
      <p:sp>
        <p:nvSpPr>
          <p:cNvPr id="31" name="Text 29"/>
          <p:cNvSpPr/>
          <p:nvPr/>
        </p:nvSpPr>
        <p:spPr>
          <a:xfrm>
            <a:off x="5138928" y="2450592"/>
            <a:ext cx="352044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Hơn 70% người dùng truy cập qua điện thoại nhưng site chưa responsive đúng chuẩn</a:t>
            </a:r>
            <a:endParaRPr lang="en-US" sz="950" dirty="0"/>
          </a:p>
        </p:txBody>
      </p:sp>
      <p:sp>
        <p:nvSpPr>
          <p:cNvPr id="32" name="Shape 30"/>
          <p:cNvSpPr/>
          <p:nvPr/>
        </p:nvSpPr>
        <p:spPr>
          <a:xfrm>
            <a:off x="4572000" y="3063240"/>
            <a:ext cx="420624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572000" y="3063240"/>
            <a:ext cx="64008" cy="804672"/>
          </a:xfrm>
          <a:prstGeom prst="rect">
            <a:avLst/>
          </a:prstGeom>
          <a:solidFill>
            <a:srgbClr val="D94F4F"/>
          </a:solidFill>
          <a:ln w="12700">
            <a:solidFill>
              <a:srgbClr val="D94F4F"/>
            </a:solidFill>
            <a:prstDash val="solid"/>
          </a:ln>
        </p:spPr>
      </p:sp>
      <p:sp>
        <p:nvSpPr>
          <p:cNvPr id="34" name="Text 32"/>
          <p:cNvSpPr/>
          <p:nvPr/>
        </p:nvSpPr>
        <p:spPr>
          <a:xfrm>
            <a:off x="4681728" y="3108960"/>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5" name="Text 33"/>
          <p:cNvSpPr/>
          <p:nvPr/>
        </p:nvSpPr>
        <p:spPr>
          <a:xfrm>
            <a:off x="5138928" y="3118104"/>
            <a:ext cx="352044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SEO &amp; Tốc độ yếu</a:t>
            </a:r>
            <a:endParaRPr lang="en-US" sz="1200" dirty="0"/>
          </a:p>
        </p:txBody>
      </p:sp>
      <p:sp>
        <p:nvSpPr>
          <p:cNvPr id="36" name="Text 34"/>
          <p:cNvSpPr/>
          <p:nvPr/>
        </p:nvSpPr>
        <p:spPr>
          <a:xfrm>
            <a:off x="5138928" y="3410712"/>
            <a:ext cx="352044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Không tối ưu từ khóa, tốc độ tải chậm, ảnh hưởng xếp hạng tìm kiếm Google</a:t>
            </a:r>
            <a:endParaRPr lang="en-US" sz="950" dirty="0"/>
          </a:p>
        </p:txBody>
      </p:sp>
      <p:sp>
        <p:nvSpPr>
          <p:cNvPr id="37" name="Shape 35"/>
          <p:cNvSpPr/>
          <p:nvPr/>
        </p:nvSpPr>
        <p:spPr>
          <a:xfrm>
            <a:off x="4572000" y="4023360"/>
            <a:ext cx="420624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4572000" y="4023360"/>
            <a:ext cx="64008" cy="804672"/>
          </a:xfrm>
          <a:prstGeom prst="rect">
            <a:avLst/>
          </a:prstGeom>
          <a:solidFill>
            <a:srgbClr val="D94F4F"/>
          </a:solidFill>
          <a:ln w="12700">
            <a:solidFill>
              <a:srgbClr val="D94F4F"/>
            </a:solidFill>
            <a:prstDash val="solid"/>
          </a:ln>
        </p:spPr>
      </p:sp>
      <p:sp>
        <p:nvSpPr>
          <p:cNvPr id="39" name="Text 37"/>
          <p:cNvSpPr/>
          <p:nvPr/>
        </p:nvSpPr>
        <p:spPr>
          <a:xfrm>
            <a:off x="4681728" y="4069080"/>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0" name="Text 38"/>
          <p:cNvSpPr/>
          <p:nvPr/>
        </p:nvSpPr>
        <p:spPr>
          <a:xfrm>
            <a:off x="5138928" y="4078224"/>
            <a:ext cx="352044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Showcase hạn chế</a:t>
            </a:r>
            <a:endParaRPr lang="en-US" sz="1200" dirty="0"/>
          </a:p>
        </p:txBody>
      </p:sp>
      <p:sp>
        <p:nvSpPr>
          <p:cNvPr id="41" name="Text 39"/>
          <p:cNvSpPr/>
          <p:nvPr/>
        </p:nvSpPr>
        <p:spPr>
          <a:xfrm>
            <a:off x="5138928" y="4370832"/>
            <a:ext cx="352044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Thiếu gallery dự án ấn tượng, không thể hiện được năng lực thực sự của công ty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30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E7B2B"/>
          </a:solidFill>
          <a:ln w="12700">
            <a:solidFill>
              <a:srgbClr val="BE7B2B"/>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VÌ SAO CẦN WEBSITE MỚI?</a:t>
            </a:r>
            <a:endParaRPr lang="en-US" sz="3200" dirty="0"/>
          </a:p>
        </p:txBody>
      </p:sp>
      <p:sp>
        <p:nvSpPr>
          <p:cNvPr id="4" name="Text 2"/>
          <p:cNvSpPr/>
          <p:nvPr/>
        </p:nvSpPr>
        <p:spPr>
          <a:xfrm>
            <a:off x="457200" y="822960"/>
            <a:ext cx="8229600" cy="320040"/>
          </a:xfrm>
          <a:prstGeom prst="rect">
            <a:avLst/>
          </a:prstGeom>
          <a:noFill/>
          <a:ln/>
        </p:spPr>
        <p:txBody>
          <a:bodyPr wrap="square" lIns="0" tIns="0" rIns="0" bIns="0" rtlCol="0" anchor="ctr"/>
          <a:lstStyle/>
          <a:p>
            <a:pPr indent="0" marL="0">
              <a:buNone/>
            </a:pPr>
            <a:r>
              <a:rPr lang="en-US" sz="1200" i="1" dirty="0">
                <a:solidFill>
                  <a:srgbClr val="AACCB0"/>
                </a:solidFill>
                <a:latin typeface="Calibri" pitchFamily="34" charset="0"/>
                <a:ea typeface="Calibri" pitchFamily="34" charset="-122"/>
                <a:cs typeface="Calibri" pitchFamily="34" charset="-120"/>
              </a:rPr>
              <a:t>FAM Landscape là công ty hàng đầu về thiết kế &amp; thi công cảnh quan — website phải phản ánh tầm vóc đó</a:t>
            </a:r>
            <a:endParaRPr lang="en-US" sz="1200" dirty="0"/>
          </a:p>
        </p:txBody>
      </p:sp>
      <p:sp>
        <p:nvSpPr>
          <p:cNvPr id="5" name="Shape 3"/>
          <p:cNvSpPr/>
          <p:nvPr/>
        </p:nvSpPr>
        <p:spPr>
          <a:xfrm>
            <a:off x="365760" y="1325880"/>
            <a:ext cx="4114800" cy="1600200"/>
          </a:xfrm>
          <a:prstGeom prst="rect">
            <a:avLst/>
          </a:prstGeom>
          <a:solidFill>
            <a:srgbClr val="0D1F0F"/>
          </a:solidFill>
          <a:ln w="12700">
            <a:solidFill>
              <a:srgbClr val="328442"/>
            </a:solidFill>
            <a:prstDash val="solid"/>
          </a:ln>
        </p:spPr>
      </p:sp>
      <p:sp>
        <p:nvSpPr>
          <p:cNvPr id="6" name="Shape 4"/>
          <p:cNvSpPr/>
          <p:nvPr/>
        </p:nvSpPr>
        <p:spPr>
          <a:xfrm>
            <a:off x="365760" y="1325880"/>
            <a:ext cx="4114800" cy="64008"/>
          </a:xfrm>
          <a:prstGeom prst="rect">
            <a:avLst/>
          </a:prstGeom>
          <a:solidFill>
            <a:srgbClr val="328442"/>
          </a:solidFill>
          <a:ln w="12700">
            <a:solidFill>
              <a:srgbClr val="328442"/>
            </a:solidFill>
            <a:prstDash val="solid"/>
          </a:ln>
        </p:spPr>
      </p:sp>
      <p:sp>
        <p:nvSpPr>
          <p:cNvPr id="7" name="Shape 5"/>
          <p:cNvSpPr/>
          <p:nvPr/>
        </p:nvSpPr>
        <p:spPr>
          <a:xfrm>
            <a:off x="530352" y="1463040"/>
            <a:ext cx="457200" cy="457200"/>
          </a:xfrm>
          <a:prstGeom prst="ellipse">
            <a:avLst/>
          </a:prstGeom>
          <a:solidFill>
            <a:srgbClr val="328442"/>
          </a:solidFill>
          <a:ln w="12700">
            <a:solidFill>
              <a:srgbClr val="328442"/>
            </a:solidFill>
            <a:prstDash val="solid"/>
          </a:ln>
        </p:spPr>
      </p:sp>
      <p:sp>
        <p:nvSpPr>
          <p:cNvPr id="8" name="Text 6"/>
          <p:cNvSpPr/>
          <p:nvPr/>
        </p:nvSpPr>
        <p:spPr>
          <a:xfrm>
            <a:off x="530352" y="14630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01</a:t>
            </a:r>
            <a:endParaRPr lang="en-US" sz="1100" dirty="0"/>
          </a:p>
        </p:txBody>
      </p:sp>
      <p:sp>
        <p:nvSpPr>
          <p:cNvPr id="9" name="Text 7"/>
          <p:cNvSpPr/>
          <p:nvPr/>
        </p:nvSpPr>
        <p:spPr>
          <a:xfrm>
            <a:off x="1078992" y="1481328"/>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Showcase Công Trình</a:t>
            </a:r>
            <a:endParaRPr lang="en-US" sz="1400" dirty="0"/>
          </a:p>
        </p:txBody>
      </p:sp>
      <p:sp>
        <p:nvSpPr>
          <p:cNvPr id="10" name="Text 8"/>
          <p:cNvSpPr/>
          <p:nvPr/>
        </p:nvSpPr>
        <p:spPr>
          <a:xfrm>
            <a:off x="530352" y="1984248"/>
            <a:ext cx="3200400" cy="713232"/>
          </a:xfrm>
          <a:prstGeom prst="rect">
            <a:avLst/>
          </a:prstGeom>
          <a:noFill/>
          <a:ln/>
        </p:spPr>
        <p:txBody>
          <a:bodyPr wrap="square" lIns="0" tIns="0" rIns="0" bIns="0" rtlCol="0" anchor="ctr"/>
          <a:lstStyle/>
          <a:p>
            <a:pPr indent="0" marL="0">
              <a:buNone/>
            </a:pPr>
            <a:r>
              <a:rPr lang="en-US" sz="950" dirty="0">
                <a:solidFill>
                  <a:srgbClr val="AACCB0"/>
                </a:solidFill>
                <a:latin typeface="Calibri" pitchFamily="34" charset="0"/>
                <a:ea typeface="Calibri" pitchFamily="34" charset="-122"/>
                <a:cs typeface="Calibri" pitchFamily="34" charset="-120"/>
              </a:rPr>
              <a:t>Công ty đã thực hiện 24+ dự án lớn nhỏ nhưng website cũ không thể hiện được portfolio một cách ấn tượng. Đối tác cần nhìn thấy công trình thực tế để ra quyết định.</a:t>
            </a:r>
            <a:endParaRPr lang="en-US" sz="950" dirty="0"/>
          </a:p>
        </p:txBody>
      </p:sp>
      <p:sp>
        <p:nvSpPr>
          <p:cNvPr id="11" name="Text 9"/>
          <p:cNvSpPr/>
          <p:nvPr/>
        </p:nvSpPr>
        <p:spPr>
          <a:xfrm>
            <a:off x="3657600" y="1463040"/>
            <a:ext cx="713232" cy="411480"/>
          </a:xfrm>
          <a:prstGeom prst="rect">
            <a:avLst/>
          </a:prstGeom>
          <a:noFill/>
          <a:ln/>
        </p:spPr>
        <p:txBody>
          <a:bodyPr wrap="square" lIns="0" tIns="0" rIns="0" bIns="0" rtlCol="0" anchor="ctr"/>
          <a:lstStyle/>
          <a:p>
            <a:pPr algn="ctr" indent="0" marL="0">
              <a:buNone/>
            </a:pPr>
            <a:r>
              <a:rPr lang="en-US" sz="2200" b="1" dirty="0">
                <a:solidFill>
                  <a:srgbClr val="328442"/>
                </a:solidFill>
                <a:latin typeface="Georgia" pitchFamily="34" charset="0"/>
                <a:ea typeface="Georgia" pitchFamily="34" charset="-122"/>
                <a:cs typeface="Georgia" pitchFamily="34" charset="-120"/>
              </a:rPr>
              <a:t>24+</a:t>
            </a:r>
            <a:endParaRPr lang="en-US" sz="2200" dirty="0"/>
          </a:p>
        </p:txBody>
      </p:sp>
      <p:sp>
        <p:nvSpPr>
          <p:cNvPr id="12" name="Text 10"/>
          <p:cNvSpPr/>
          <p:nvPr/>
        </p:nvSpPr>
        <p:spPr>
          <a:xfrm>
            <a:off x="3566160" y="1856232"/>
            <a:ext cx="822960"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Dự án hoàn thành</a:t>
            </a:r>
            <a:endParaRPr lang="en-US" sz="700" dirty="0"/>
          </a:p>
        </p:txBody>
      </p:sp>
      <p:sp>
        <p:nvSpPr>
          <p:cNvPr id="13" name="Shape 11"/>
          <p:cNvSpPr/>
          <p:nvPr/>
        </p:nvSpPr>
        <p:spPr>
          <a:xfrm>
            <a:off x="4754880" y="1325880"/>
            <a:ext cx="4114800" cy="1600200"/>
          </a:xfrm>
          <a:prstGeom prst="rect">
            <a:avLst/>
          </a:prstGeom>
          <a:solidFill>
            <a:srgbClr val="0D1F0F"/>
          </a:solidFill>
          <a:ln w="12700">
            <a:solidFill>
              <a:srgbClr val="BE7B2B"/>
            </a:solidFill>
            <a:prstDash val="solid"/>
          </a:ln>
        </p:spPr>
      </p:sp>
      <p:sp>
        <p:nvSpPr>
          <p:cNvPr id="14" name="Shape 12"/>
          <p:cNvSpPr/>
          <p:nvPr/>
        </p:nvSpPr>
        <p:spPr>
          <a:xfrm>
            <a:off x="4754880" y="1325880"/>
            <a:ext cx="4114800" cy="64008"/>
          </a:xfrm>
          <a:prstGeom prst="rect">
            <a:avLst/>
          </a:prstGeom>
          <a:solidFill>
            <a:srgbClr val="BE7B2B"/>
          </a:solidFill>
          <a:ln w="12700">
            <a:solidFill>
              <a:srgbClr val="BE7B2B"/>
            </a:solidFill>
            <a:prstDash val="solid"/>
          </a:ln>
        </p:spPr>
      </p:sp>
      <p:sp>
        <p:nvSpPr>
          <p:cNvPr id="15" name="Shape 13"/>
          <p:cNvSpPr/>
          <p:nvPr/>
        </p:nvSpPr>
        <p:spPr>
          <a:xfrm>
            <a:off x="4919472" y="1463040"/>
            <a:ext cx="457200" cy="457200"/>
          </a:xfrm>
          <a:prstGeom prst="ellipse">
            <a:avLst/>
          </a:prstGeom>
          <a:solidFill>
            <a:srgbClr val="BE7B2B"/>
          </a:solidFill>
          <a:ln w="12700">
            <a:solidFill>
              <a:srgbClr val="BE7B2B"/>
            </a:solidFill>
            <a:prstDash val="solid"/>
          </a:ln>
        </p:spPr>
      </p:sp>
      <p:sp>
        <p:nvSpPr>
          <p:cNvPr id="16" name="Text 14"/>
          <p:cNvSpPr/>
          <p:nvPr/>
        </p:nvSpPr>
        <p:spPr>
          <a:xfrm>
            <a:off x="4919472" y="14630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02</a:t>
            </a:r>
            <a:endParaRPr lang="en-US" sz="1100" dirty="0"/>
          </a:p>
        </p:txBody>
      </p:sp>
      <p:sp>
        <p:nvSpPr>
          <p:cNvPr id="17" name="Text 15"/>
          <p:cNvSpPr/>
          <p:nvPr/>
        </p:nvSpPr>
        <p:spPr>
          <a:xfrm>
            <a:off x="5468112" y="1481328"/>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Thu Hút Đối Tác</a:t>
            </a:r>
            <a:endParaRPr lang="en-US" sz="1400" dirty="0"/>
          </a:p>
        </p:txBody>
      </p:sp>
      <p:sp>
        <p:nvSpPr>
          <p:cNvPr id="18" name="Text 16"/>
          <p:cNvSpPr/>
          <p:nvPr/>
        </p:nvSpPr>
        <p:spPr>
          <a:xfrm>
            <a:off x="4919472" y="1984248"/>
            <a:ext cx="3200400" cy="713232"/>
          </a:xfrm>
          <a:prstGeom prst="rect">
            <a:avLst/>
          </a:prstGeom>
          <a:noFill/>
          <a:ln/>
        </p:spPr>
        <p:txBody>
          <a:bodyPr wrap="square" lIns="0" tIns="0" rIns="0" bIns="0" rtlCol="0" anchor="ctr"/>
          <a:lstStyle/>
          <a:p>
            <a:pPr indent="0" marL="0">
              <a:buNone/>
            </a:pPr>
            <a:r>
              <a:rPr lang="en-US" sz="950" dirty="0">
                <a:solidFill>
                  <a:srgbClr val="AACCB0"/>
                </a:solidFill>
                <a:latin typeface="Calibri" pitchFamily="34" charset="0"/>
                <a:ea typeface="Calibri" pitchFamily="34" charset="-122"/>
                <a:cs typeface="Calibri" pitchFamily="34" charset="-120"/>
              </a:rPr>
              <a:t>Website là công cụ bán hàng 24/7. Đối tác &amp; khách hàng tiềm năng sẽ tra cứu online trước khi liên hệ — ấn tượng đầu tiên quyết định 70% cơ hội.</a:t>
            </a:r>
            <a:endParaRPr lang="en-US" sz="950" dirty="0"/>
          </a:p>
        </p:txBody>
      </p:sp>
      <p:sp>
        <p:nvSpPr>
          <p:cNvPr id="19" name="Text 17"/>
          <p:cNvSpPr/>
          <p:nvPr/>
        </p:nvSpPr>
        <p:spPr>
          <a:xfrm>
            <a:off x="8046720" y="1463040"/>
            <a:ext cx="713232" cy="411480"/>
          </a:xfrm>
          <a:prstGeom prst="rect">
            <a:avLst/>
          </a:prstGeom>
          <a:noFill/>
          <a:ln/>
        </p:spPr>
        <p:txBody>
          <a:bodyPr wrap="square" lIns="0" tIns="0" rIns="0" bIns="0" rtlCol="0" anchor="ctr"/>
          <a:lstStyle/>
          <a:p>
            <a:pPr algn="ctr" indent="0" marL="0">
              <a:buNone/>
            </a:pPr>
            <a:r>
              <a:rPr lang="en-US" sz="2200" b="1" dirty="0">
                <a:solidFill>
                  <a:srgbClr val="BE7B2B"/>
                </a:solidFill>
                <a:latin typeface="Georgia" pitchFamily="34" charset="0"/>
                <a:ea typeface="Georgia" pitchFamily="34" charset="-122"/>
                <a:cs typeface="Georgia" pitchFamily="34" charset="-120"/>
              </a:rPr>
              <a:t>70%</a:t>
            </a:r>
            <a:endParaRPr lang="en-US" sz="2200" dirty="0"/>
          </a:p>
        </p:txBody>
      </p:sp>
      <p:sp>
        <p:nvSpPr>
          <p:cNvPr id="20" name="Text 18"/>
          <p:cNvSpPr/>
          <p:nvPr/>
        </p:nvSpPr>
        <p:spPr>
          <a:xfrm>
            <a:off x="7955280" y="1856232"/>
            <a:ext cx="822960"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Quyết định từ web</a:t>
            </a:r>
            <a:endParaRPr lang="en-US" sz="700" dirty="0"/>
          </a:p>
        </p:txBody>
      </p:sp>
      <p:sp>
        <p:nvSpPr>
          <p:cNvPr id="21" name="Shape 19"/>
          <p:cNvSpPr/>
          <p:nvPr/>
        </p:nvSpPr>
        <p:spPr>
          <a:xfrm>
            <a:off x="365760" y="3063240"/>
            <a:ext cx="4114800" cy="1600200"/>
          </a:xfrm>
          <a:prstGeom prst="rect">
            <a:avLst/>
          </a:prstGeom>
          <a:solidFill>
            <a:srgbClr val="0D1F0F"/>
          </a:solidFill>
          <a:ln w="12700">
            <a:solidFill>
              <a:srgbClr val="97BC62"/>
            </a:solidFill>
            <a:prstDash val="solid"/>
          </a:ln>
        </p:spPr>
      </p:sp>
      <p:sp>
        <p:nvSpPr>
          <p:cNvPr id="22" name="Shape 20"/>
          <p:cNvSpPr/>
          <p:nvPr/>
        </p:nvSpPr>
        <p:spPr>
          <a:xfrm>
            <a:off x="365760" y="3063240"/>
            <a:ext cx="4114800" cy="64008"/>
          </a:xfrm>
          <a:prstGeom prst="rect">
            <a:avLst/>
          </a:prstGeom>
          <a:solidFill>
            <a:srgbClr val="97BC62"/>
          </a:solidFill>
          <a:ln w="12700">
            <a:solidFill>
              <a:srgbClr val="97BC62"/>
            </a:solidFill>
            <a:prstDash val="solid"/>
          </a:ln>
        </p:spPr>
      </p:sp>
      <p:sp>
        <p:nvSpPr>
          <p:cNvPr id="23" name="Shape 21"/>
          <p:cNvSpPr/>
          <p:nvPr/>
        </p:nvSpPr>
        <p:spPr>
          <a:xfrm>
            <a:off x="530352" y="3200400"/>
            <a:ext cx="457200" cy="457200"/>
          </a:xfrm>
          <a:prstGeom prst="ellipse">
            <a:avLst/>
          </a:prstGeom>
          <a:solidFill>
            <a:srgbClr val="97BC62"/>
          </a:solidFill>
          <a:ln w="12700">
            <a:solidFill>
              <a:srgbClr val="97BC62"/>
            </a:solidFill>
            <a:prstDash val="solid"/>
          </a:ln>
        </p:spPr>
      </p:sp>
      <p:sp>
        <p:nvSpPr>
          <p:cNvPr id="24" name="Text 22"/>
          <p:cNvSpPr/>
          <p:nvPr/>
        </p:nvSpPr>
        <p:spPr>
          <a:xfrm>
            <a:off x="530352" y="32004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03</a:t>
            </a:r>
            <a:endParaRPr lang="en-US" sz="1100" dirty="0"/>
          </a:p>
        </p:txBody>
      </p:sp>
      <p:sp>
        <p:nvSpPr>
          <p:cNvPr id="25" name="Text 23"/>
          <p:cNvSpPr/>
          <p:nvPr/>
        </p:nvSpPr>
        <p:spPr>
          <a:xfrm>
            <a:off x="1078992" y="3218688"/>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Quản Lý Nội Dung</a:t>
            </a:r>
            <a:endParaRPr lang="en-US" sz="1400" dirty="0"/>
          </a:p>
        </p:txBody>
      </p:sp>
      <p:sp>
        <p:nvSpPr>
          <p:cNvPr id="26" name="Text 24"/>
          <p:cNvSpPr/>
          <p:nvPr/>
        </p:nvSpPr>
        <p:spPr>
          <a:xfrm>
            <a:off x="530352" y="3721608"/>
            <a:ext cx="3200400" cy="713232"/>
          </a:xfrm>
          <a:prstGeom prst="rect">
            <a:avLst/>
          </a:prstGeom>
          <a:noFill/>
          <a:ln/>
        </p:spPr>
        <p:txBody>
          <a:bodyPr wrap="square" lIns="0" tIns="0" rIns="0" bIns="0" rtlCol="0" anchor="ctr"/>
          <a:lstStyle/>
          <a:p>
            <a:pPr indent="0" marL="0">
              <a:buNone/>
            </a:pPr>
            <a:r>
              <a:rPr lang="en-US" sz="950" dirty="0">
                <a:solidFill>
                  <a:srgbClr val="AACCB0"/>
                </a:solidFill>
                <a:latin typeface="Calibri" pitchFamily="34" charset="0"/>
                <a:ea typeface="Calibri" pitchFamily="34" charset="-122"/>
                <a:cs typeface="Calibri" pitchFamily="34" charset="-120"/>
              </a:rPr>
              <a:t>Admin panel giúp đội ngũ tự cập nhật dự án, tin tức, đối tác mà không cần developer. Nội dung luôn mới, phản ánh năng lực hiện tại của công ty.</a:t>
            </a:r>
            <a:endParaRPr lang="en-US" sz="950" dirty="0"/>
          </a:p>
        </p:txBody>
      </p:sp>
      <p:sp>
        <p:nvSpPr>
          <p:cNvPr id="27" name="Text 25"/>
          <p:cNvSpPr/>
          <p:nvPr/>
        </p:nvSpPr>
        <p:spPr>
          <a:xfrm>
            <a:off x="3657600" y="3200400"/>
            <a:ext cx="713232" cy="411480"/>
          </a:xfrm>
          <a:prstGeom prst="rect">
            <a:avLst/>
          </a:prstGeom>
          <a:noFill/>
          <a:ln/>
        </p:spPr>
        <p:txBody>
          <a:bodyPr wrap="square" lIns="0" tIns="0" rIns="0" bIns="0" rtlCol="0" anchor="ctr"/>
          <a:lstStyle/>
          <a:p>
            <a:pPr algn="ctr" indent="0" marL="0">
              <a:buNone/>
            </a:pPr>
            <a:r>
              <a:rPr lang="en-US" sz="2200" b="1" dirty="0">
                <a:solidFill>
                  <a:srgbClr val="97BC62"/>
                </a:solidFill>
                <a:latin typeface="Georgia" pitchFamily="34" charset="0"/>
                <a:ea typeface="Georgia" pitchFamily="34" charset="-122"/>
                <a:cs typeface="Georgia" pitchFamily="34" charset="-120"/>
              </a:rPr>
              <a:t>∞</a:t>
            </a:r>
            <a:endParaRPr lang="en-US" sz="2200" dirty="0"/>
          </a:p>
        </p:txBody>
      </p:sp>
      <p:sp>
        <p:nvSpPr>
          <p:cNvPr id="28" name="Text 26"/>
          <p:cNvSpPr/>
          <p:nvPr/>
        </p:nvSpPr>
        <p:spPr>
          <a:xfrm>
            <a:off x="3566160" y="3593592"/>
            <a:ext cx="822960"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Cập nhật không giới hạn</a:t>
            </a:r>
            <a:endParaRPr lang="en-US" sz="700" dirty="0"/>
          </a:p>
        </p:txBody>
      </p:sp>
      <p:sp>
        <p:nvSpPr>
          <p:cNvPr id="29" name="Shape 27"/>
          <p:cNvSpPr/>
          <p:nvPr/>
        </p:nvSpPr>
        <p:spPr>
          <a:xfrm>
            <a:off x="4754880" y="3063240"/>
            <a:ext cx="4114800" cy="1600200"/>
          </a:xfrm>
          <a:prstGeom prst="rect">
            <a:avLst/>
          </a:prstGeom>
          <a:solidFill>
            <a:srgbClr val="0D1F0F"/>
          </a:solidFill>
          <a:ln w="12700">
            <a:solidFill>
              <a:srgbClr val="E07A5F"/>
            </a:solidFill>
            <a:prstDash val="solid"/>
          </a:ln>
        </p:spPr>
      </p:sp>
      <p:sp>
        <p:nvSpPr>
          <p:cNvPr id="30" name="Shape 28"/>
          <p:cNvSpPr/>
          <p:nvPr/>
        </p:nvSpPr>
        <p:spPr>
          <a:xfrm>
            <a:off x="4754880" y="3063240"/>
            <a:ext cx="4114800" cy="64008"/>
          </a:xfrm>
          <a:prstGeom prst="rect">
            <a:avLst/>
          </a:prstGeom>
          <a:solidFill>
            <a:srgbClr val="E07A5F"/>
          </a:solidFill>
          <a:ln w="12700">
            <a:solidFill>
              <a:srgbClr val="E07A5F"/>
            </a:solidFill>
            <a:prstDash val="solid"/>
          </a:ln>
        </p:spPr>
      </p:sp>
      <p:sp>
        <p:nvSpPr>
          <p:cNvPr id="31" name="Shape 29"/>
          <p:cNvSpPr/>
          <p:nvPr/>
        </p:nvSpPr>
        <p:spPr>
          <a:xfrm>
            <a:off x="4919472" y="3200400"/>
            <a:ext cx="457200" cy="457200"/>
          </a:xfrm>
          <a:prstGeom prst="ellipse">
            <a:avLst/>
          </a:prstGeom>
          <a:solidFill>
            <a:srgbClr val="E07A5F"/>
          </a:solidFill>
          <a:ln w="12700">
            <a:solidFill>
              <a:srgbClr val="E07A5F"/>
            </a:solidFill>
            <a:prstDash val="solid"/>
          </a:ln>
        </p:spPr>
      </p:sp>
      <p:sp>
        <p:nvSpPr>
          <p:cNvPr id="32" name="Text 30"/>
          <p:cNvSpPr/>
          <p:nvPr/>
        </p:nvSpPr>
        <p:spPr>
          <a:xfrm>
            <a:off x="4919472" y="32004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04</a:t>
            </a:r>
            <a:endParaRPr lang="en-US" sz="1100" dirty="0"/>
          </a:p>
        </p:txBody>
      </p:sp>
      <p:sp>
        <p:nvSpPr>
          <p:cNvPr id="33" name="Text 31"/>
          <p:cNvSpPr/>
          <p:nvPr/>
        </p:nvSpPr>
        <p:spPr>
          <a:xfrm>
            <a:off x="5468112" y="3218688"/>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Flipbook — Hồ Sơ Số</a:t>
            </a:r>
            <a:endParaRPr lang="en-US" sz="1400" dirty="0"/>
          </a:p>
        </p:txBody>
      </p:sp>
      <p:sp>
        <p:nvSpPr>
          <p:cNvPr id="34" name="Text 32"/>
          <p:cNvSpPr/>
          <p:nvPr/>
        </p:nvSpPr>
        <p:spPr>
          <a:xfrm>
            <a:off x="4919472" y="3721608"/>
            <a:ext cx="3200400" cy="713232"/>
          </a:xfrm>
          <a:prstGeom prst="rect">
            <a:avLst/>
          </a:prstGeom>
          <a:noFill/>
          <a:ln/>
        </p:spPr>
        <p:txBody>
          <a:bodyPr wrap="square" lIns="0" tIns="0" rIns="0" bIns="0" rtlCol="0" anchor="ctr"/>
          <a:lstStyle/>
          <a:p>
            <a:pPr indent="0" marL="0">
              <a:buNone/>
            </a:pPr>
            <a:r>
              <a:rPr lang="en-US" sz="950" dirty="0">
                <a:solidFill>
                  <a:srgbClr val="AACCB0"/>
                </a:solidFill>
                <a:latin typeface="Calibri" pitchFamily="34" charset="0"/>
                <a:ea typeface="Calibri" pitchFamily="34" charset="-122"/>
                <a:cs typeface="Calibri" pitchFamily="34" charset="-120"/>
              </a:rPr>
              <a:t>Catalog kỹ thuật số dạng flipbook thay thế hồ sơ in ấn tốn kém. Gửi link cho đối tác, họ xem ngay trên điện thoại — chuyên nghiệp và hiện đại.</a:t>
            </a:r>
            <a:endParaRPr lang="en-US" sz="950" dirty="0"/>
          </a:p>
        </p:txBody>
      </p:sp>
      <p:sp>
        <p:nvSpPr>
          <p:cNvPr id="35" name="Text 33"/>
          <p:cNvSpPr/>
          <p:nvPr/>
        </p:nvSpPr>
        <p:spPr>
          <a:xfrm>
            <a:off x="8046720" y="3200400"/>
            <a:ext cx="713232" cy="411480"/>
          </a:xfrm>
          <a:prstGeom prst="rect">
            <a:avLst/>
          </a:prstGeom>
          <a:noFill/>
          <a:ln/>
        </p:spPr>
        <p:txBody>
          <a:bodyPr wrap="square" lIns="0" tIns="0" rIns="0" bIns="0" rtlCol="0" anchor="ctr"/>
          <a:lstStyle/>
          <a:p>
            <a:pPr algn="ctr" indent="0" marL="0">
              <a:buNone/>
            </a:pPr>
            <a:r>
              <a:rPr lang="en-US" sz="2200" b="1" dirty="0">
                <a:solidFill>
                  <a:srgbClr val="E07A5F"/>
                </a:solidFill>
                <a:latin typeface="Georgia" pitchFamily="34" charset="0"/>
                <a:ea typeface="Georgia" pitchFamily="34" charset="-122"/>
                <a:cs typeface="Georgia" pitchFamily="34" charset="-120"/>
              </a:rPr>
              <a:t>0đ</a:t>
            </a:r>
            <a:endParaRPr lang="en-US" sz="2200" dirty="0"/>
          </a:p>
        </p:txBody>
      </p:sp>
      <p:sp>
        <p:nvSpPr>
          <p:cNvPr id="36" name="Text 34"/>
          <p:cNvSpPr/>
          <p:nvPr/>
        </p:nvSpPr>
        <p:spPr>
          <a:xfrm>
            <a:off x="7955280" y="3593592"/>
            <a:ext cx="822960"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Chi phí in ấn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7130A"/>
          </a:solidFill>
          <a:ln w="12700">
            <a:solidFill>
              <a:srgbClr val="07130A"/>
            </a:solidFill>
            <a:prstDash val="solid"/>
          </a:ln>
        </p:spPr>
      </p:sp>
      <p:sp>
        <p:nvSpPr>
          <p:cNvPr id="3" name="Shape 1"/>
          <p:cNvSpPr/>
          <p:nvPr/>
        </p:nvSpPr>
        <p:spPr>
          <a:xfrm>
            <a:off x="0" y="914400"/>
            <a:ext cx="9144000" cy="54864"/>
          </a:xfrm>
          <a:prstGeom prst="rect">
            <a:avLst/>
          </a:prstGeom>
          <a:solidFill>
            <a:srgbClr val="328442"/>
          </a:solidFill>
          <a:ln w="12700">
            <a:solidFill>
              <a:srgbClr val="328442"/>
            </a:solidFill>
            <a:prstDash val="solid"/>
          </a:ln>
        </p:spPr>
      </p:sp>
      <p:sp>
        <p:nvSpPr>
          <p:cNvPr id="4" name="Text 2"/>
          <p:cNvSpPr/>
          <p:nvPr/>
        </p:nvSpPr>
        <p:spPr>
          <a:xfrm>
            <a:off x="457200" y="0"/>
            <a:ext cx="640080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WEBSITE MỚI — DEMO</a:t>
            </a:r>
            <a:endParaRPr lang="en-US" sz="2800" dirty="0"/>
          </a:p>
        </p:txBody>
      </p:sp>
      <p:sp>
        <p:nvSpPr>
          <p:cNvPr id="5" name="Text 3"/>
          <p:cNvSpPr/>
          <p:nvPr/>
        </p:nvSpPr>
        <p:spPr>
          <a:xfrm>
            <a:off x="4572000" y="0"/>
            <a:ext cx="4114800" cy="914400"/>
          </a:xfrm>
          <a:prstGeom prst="rect">
            <a:avLst/>
          </a:prstGeom>
          <a:noFill/>
          <a:ln/>
        </p:spPr>
        <p:txBody>
          <a:bodyPr wrap="square" lIns="0" tIns="0" rIns="0" bIns="0" rtlCol="0" anchor="ctr"/>
          <a:lstStyle/>
          <a:p>
            <a:pPr algn="r" indent="0" marL="0">
              <a:buNone/>
            </a:pPr>
            <a:r>
              <a:rPr lang="en-US" sz="1100" i="1" dirty="0">
                <a:solidFill>
                  <a:srgbClr val="BE7B2B"/>
                </a:solidFill>
                <a:latin typeface="Calibri" pitchFamily="34" charset="0"/>
                <a:ea typeface="Calibri" pitchFamily="34" charset="-122"/>
                <a:cs typeface="Calibri" pitchFamily="34" charset="-120"/>
              </a:rPr>
              <a:t>landscape-company-three.vercel.app</a:t>
            </a:r>
            <a:endParaRPr lang="en-US" sz="1100" dirty="0"/>
          </a:p>
        </p:txBody>
      </p:sp>
      <p:sp>
        <p:nvSpPr>
          <p:cNvPr id="6" name="Shape 4"/>
          <p:cNvSpPr/>
          <p:nvPr/>
        </p:nvSpPr>
        <p:spPr>
          <a:xfrm>
            <a:off x="365760" y="1097280"/>
            <a:ext cx="5029200" cy="3657600"/>
          </a:xfrm>
          <a:prstGeom prst="rect">
            <a:avLst/>
          </a:prstGeom>
          <a:solidFill>
            <a:srgbClr val="0D1F0F"/>
          </a:solidFill>
          <a:ln w="19050">
            <a:solidFill>
              <a:srgbClr val="328442"/>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097280"/>
            <a:ext cx="5029200" cy="320040"/>
          </a:xfrm>
          <a:prstGeom prst="rect">
            <a:avLst/>
          </a:prstGeom>
          <a:solidFill>
            <a:srgbClr val="1A3A1C"/>
          </a:solidFill>
          <a:ln w="12700">
            <a:solidFill>
              <a:srgbClr val="1A3A1C"/>
            </a:solidFill>
            <a:prstDash val="solid"/>
          </a:ln>
        </p:spPr>
      </p:sp>
      <p:sp>
        <p:nvSpPr>
          <p:cNvPr id="8" name="Shape 6"/>
          <p:cNvSpPr/>
          <p:nvPr/>
        </p:nvSpPr>
        <p:spPr>
          <a:xfrm>
            <a:off x="530352" y="1165860"/>
            <a:ext cx="109728" cy="109728"/>
          </a:xfrm>
          <a:prstGeom prst="ellipse">
            <a:avLst/>
          </a:prstGeom>
          <a:solidFill>
            <a:srgbClr val="FF5F56"/>
          </a:solidFill>
          <a:ln w="12700">
            <a:solidFill>
              <a:srgbClr val="FF5F56"/>
            </a:solidFill>
            <a:prstDash val="solid"/>
          </a:ln>
        </p:spPr>
      </p:sp>
      <p:sp>
        <p:nvSpPr>
          <p:cNvPr id="9" name="Shape 7"/>
          <p:cNvSpPr/>
          <p:nvPr/>
        </p:nvSpPr>
        <p:spPr>
          <a:xfrm>
            <a:off x="731520" y="1165860"/>
            <a:ext cx="109728" cy="109728"/>
          </a:xfrm>
          <a:prstGeom prst="ellipse">
            <a:avLst/>
          </a:prstGeom>
          <a:solidFill>
            <a:srgbClr val="FFBD2E"/>
          </a:solidFill>
          <a:ln w="12700">
            <a:solidFill>
              <a:srgbClr val="FFBD2E"/>
            </a:solidFill>
            <a:prstDash val="solid"/>
          </a:ln>
        </p:spPr>
      </p:sp>
      <p:sp>
        <p:nvSpPr>
          <p:cNvPr id="10" name="Shape 8"/>
          <p:cNvSpPr/>
          <p:nvPr/>
        </p:nvSpPr>
        <p:spPr>
          <a:xfrm>
            <a:off x="932688" y="1165860"/>
            <a:ext cx="109728" cy="109728"/>
          </a:xfrm>
          <a:prstGeom prst="ellipse">
            <a:avLst/>
          </a:prstGeom>
          <a:solidFill>
            <a:srgbClr val="27C93F"/>
          </a:solidFill>
          <a:ln w="12700">
            <a:solidFill>
              <a:srgbClr val="27C93F"/>
            </a:solidFill>
            <a:prstDash val="solid"/>
          </a:ln>
        </p:spPr>
      </p:sp>
      <p:sp>
        <p:nvSpPr>
          <p:cNvPr id="11" name="Shape 9"/>
          <p:cNvSpPr/>
          <p:nvPr/>
        </p:nvSpPr>
        <p:spPr>
          <a:xfrm>
            <a:off x="1005840" y="1152144"/>
            <a:ext cx="3200400" cy="201168"/>
          </a:xfrm>
          <a:prstGeom prst="rect">
            <a:avLst/>
          </a:prstGeom>
          <a:solidFill>
            <a:srgbClr val="0D2210"/>
          </a:solidFill>
          <a:ln w="12700">
            <a:solidFill>
              <a:srgbClr val="2D4A2F"/>
            </a:solidFill>
            <a:prstDash val="solid"/>
          </a:ln>
        </p:spPr>
      </p:sp>
      <p:sp>
        <p:nvSpPr>
          <p:cNvPr id="12" name="Text 10"/>
          <p:cNvSpPr/>
          <p:nvPr/>
        </p:nvSpPr>
        <p:spPr>
          <a:xfrm>
            <a:off x="1051560" y="1156716"/>
            <a:ext cx="3108960" cy="182880"/>
          </a:xfrm>
          <a:prstGeom prst="rect">
            <a:avLst/>
          </a:prstGeom>
          <a:noFill/>
          <a:ln/>
        </p:spPr>
        <p:txBody>
          <a:bodyPr wrap="square" lIns="0" tIns="0" rIns="0" bIns="0" rtlCol="0" anchor="ctr"/>
          <a:lstStyle/>
          <a:p>
            <a:pPr algn="ctr" indent="0" marL="0">
              <a:buNone/>
            </a:pPr>
            <a:r>
              <a:rPr lang="en-US" sz="750" dirty="0">
                <a:solidFill>
                  <a:srgbClr val="7AAA7C"/>
                </a:solidFill>
                <a:latin typeface="Calibri" pitchFamily="34" charset="0"/>
                <a:ea typeface="Calibri" pitchFamily="34" charset="-122"/>
                <a:cs typeface="Calibri" pitchFamily="34" charset="-120"/>
              </a:rPr>
              <a:t>landscape-company-three.vercel.app</a:t>
            </a:r>
            <a:endParaRPr lang="en-US" sz="750" dirty="0"/>
          </a:p>
        </p:txBody>
      </p:sp>
      <p:sp>
        <p:nvSpPr>
          <p:cNvPr id="13" name="Shape 11"/>
          <p:cNvSpPr/>
          <p:nvPr/>
        </p:nvSpPr>
        <p:spPr>
          <a:xfrm>
            <a:off x="365760" y="1417320"/>
            <a:ext cx="5029200" cy="1371600"/>
          </a:xfrm>
          <a:prstGeom prst="rect">
            <a:avLst/>
          </a:prstGeom>
          <a:solidFill>
            <a:srgbClr val="0F2412"/>
          </a:solidFill>
          <a:ln w="12700">
            <a:solidFill>
              <a:srgbClr val="0F2412"/>
            </a:solidFill>
            <a:prstDash val="solid"/>
          </a:ln>
        </p:spPr>
      </p:sp>
      <p:sp>
        <p:nvSpPr>
          <p:cNvPr id="14" name="Text 12"/>
          <p:cNvSpPr/>
          <p:nvPr/>
        </p:nvSpPr>
        <p:spPr>
          <a:xfrm>
            <a:off x="594360" y="1600200"/>
            <a:ext cx="3200400" cy="384048"/>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THIẾT KẾ CẢNH QUAN</a:t>
            </a:r>
            <a:endParaRPr lang="en-US" sz="1800" dirty="0"/>
          </a:p>
        </p:txBody>
      </p:sp>
      <p:sp>
        <p:nvSpPr>
          <p:cNvPr id="15" name="Text 13"/>
          <p:cNvSpPr/>
          <p:nvPr/>
        </p:nvSpPr>
        <p:spPr>
          <a:xfrm>
            <a:off x="594360" y="2011680"/>
            <a:ext cx="2926080" cy="274320"/>
          </a:xfrm>
          <a:prstGeom prst="rect">
            <a:avLst/>
          </a:prstGeom>
          <a:noFill/>
          <a:ln/>
        </p:spPr>
        <p:txBody>
          <a:bodyPr wrap="square" lIns="0" tIns="0" rIns="0" bIns="0" rtlCol="0" anchor="ctr"/>
          <a:lstStyle/>
          <a:p>
            <a:pPr indent="0" marL="0">
              <a:buNone/>
            </a:pPr>
            <a:r>
              <a:rPr lang="en-US" sz="950" dirty="0">
                <a:solidFill>
                  <a:srgbClr val="7AAA7C"/>
                </a:solidFill>
                <a:latin typeface="Calibri" pitchFamily="34" charset="0"/>
                <a:ea typeface="Calibri" pitchFamily="34" charset="-122"/>
                <a:cs typeface="Calibri" pitchFamily="34" charset="-120"/>
              </a:rPr>
              <a:t>Tạo nên không gian sống xanh đẳng cấp</a:t>
            </a:r>
            <a:endParaRPr lang="en-US" sz="950" dirty="0"/>
          </a:p>
        </p:txBody>
      </p:sp>
      <p:sp>
        <p:nvSpPr>
          <p:cNvPr id="16" name="Shape 14"/>
          <p:cNvSpPr/>
          <p:nvPr/>
        </p:nvSpPr>
        <p:spPr>
          <a:xfrm>
            <a:off x="594360" y="2331720"/>
            <a:ext cx="1188720" cy="256032"/>
          </a:xfrm>
          <a:prstGeom prst="rect">
            <a:avLst/>
          </a:prstGeom>
          <a:solidFill>
            <a:srgbClr val="328442"/>
          </a:solidFill>
          <a:ln w="12700">
            <a:solidFill>
              <a:srgbClr val="328442"/>
            </a:solidFill>
            <a:prstDash val="solid"/>
          </a:ln>
        </p:spPr>
      </p:sp>
      <p:sp>
        <p:nvSpPr>
          <p:cNvPr id="17" name="Text 15"/>
          <p:cNvSpPr/>
          <p:nvPr/>
        </p:nvSpPr>
        <p:spPr>
          <a:xfrm>
            <a:off x="594360" y="233172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Xem Dự Án</a:t>
            </a:r>
            <a:endParaRPr lang="en-US" sz="800" dirty="0"/>
          </a:p>
        </p:txBody>
      </p:sp>
      <p:sp>
        <p:nvSpPr>
          <p:cNvPr id="18" name="Shape 16"/>
          <p:cNvSpPr/>
          <p:nvPr/>
        </p:nvSpPr>
        <p:spPr>
          <a:xfrm>
            <a:off x="3657600" y="1463040"/>
            <a:ext cx="1600200" cy="1261872"/>
          </a:xfrm>
          <a:prstGeom prst="rect">
            <a:avLst/>
          </a:prstGeom>
          <a:solidFill>
            <a:srgbClr val="1A3A1C"/>
          </a:solidFill>
          <a:ln w="12700">
            <a:solidFill>
              <a:srgbClr val="2A4E2C"/>
            </a:solidFill>
            <a:prstDash val="solid"/>
          </a:ln>
        </p:spPr>
      </p:sp>
      <p:sp>
        <p:nvSpPr>
          <p:cNvPr id="19" name="Text 17"/>
          <p:cNvSpPr/>
          <p:nvPr/>
        </p:nvSpPr>
        <p:spPr>
          <a:xfrm>
            <a:off x="3657600" y="1463040"/>
            <a:ext cx="1600200" cy="1261872"/>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20" name="Shape 18"/>
          <p:cNvSpPr/>
          <p:nvPr/>
        </p:nvSpPr>
        <p:spPr>
          <a:xfrm>
            <a:off x="365760" y="2834640"/>
            <a:ext cx="5029200" cy="320040"/>
          </a:xfrm>
          <a:prstGeom prst="rect">
            <a:avLst/>
          </a:prstGeom>
          <a:solidFill>
            <a:srgbClr val="1A3A1C"/>
          </a:solidFill>
          <a:ln w="12700">
            <a:solidFill>
              <a:srgbClr val="1A3A1C"/>
            </a:solidFill>
            <a:prstDash val="solid"/>
          </a:ln>
        </p:spPr>
      </p:sp>
      <p:sp>
        <p:nvSpPr>
          <p:cNvPr id="21" name="Text 19"/>
          <p:cNvSpPr/>
          <p:nvPr/>
        </p:nvSpPr>
        <p:spPr>
          <a:xfrm>
            <a:off x="548640" y="2852928"/>
            <a:ext cx="2743200" cy="274320"/>
          </a:xfrm>
          <a:prstGeom prst="rect">
            <a:avLst/>
          </a:prstGeom>
          <a:noFill/>
          <a:ln/>
        </p:spPr>
        <p:txBody>
          <a:bodyPr wrap="square" lIns="0" tIns="0" rIns="0" bIns="0" rtlCol="0" anchor="ctr"/>
          <a:lstStyle/>
          <a:p>
            <a:pPr indent="0" marL="0">
              <a:buNone/>
            </a:pPr>
            <a:r>
              <a:rPr lang="en-US" sz="900" b="1" dirty="0">
                <a:solidFill>
                  <a:srgbClr val="97BC62"/>
                </a:solidFill>
                <a:latin typeface="Calibri" pitchFamily="34" charset="0"/>
                <a:ea typeface="Calibri" pitchFamily="34" charset="-122"/>
                <a:cs typeface="Calibri" pitchFamily="34" charset="-120"/>
              </a:rPr>
              <a:t>CÔNG TRÌNH NỔI BẬT</a:t>
            </a:r>
            <a:endParaRPr lang="en-US" sz="900" dirty="0"/>
          </a:p>
        </p:txBody>
      </p:sp>
      <p:sp>
        <p:nvSpPr>
          <p:cNvPr id="22" name="Shape 20"/>
          <p:cNvSpPr/>
          <p:nvPr/>
        </p:nvSpPr>
        <p:spPr>
          <a:xfrm>
            <a:off x="457200" y="3200400"/>
            <a:ext cx="1463040" cy="914400"/>
          </a:xfrm>
          <a:prstGeom prst="rect">
            <a:avLst/>
          </a:prstGeom>
          <a:solidFill>
            <a:srgbClr val="1A3A1C"/>
          </a:solidFill>
          <a:ln w="12700">
            <a:solidFill>
              <a:srgbClr val="2A4E2C"/>
            </a:solidFill>
            <a:prstDash val="solid"/>
          </a:ln>
        </p:spPr>
      </p:sp>
      <p:sp>
        <p:nvSpPr>
          <p:cNvPr id="23" name="Text 21"/>
          <p:cNvSpPr/>
          <p:nvPr/>
        </p:nvSpPr>
        <p:spPr>
          <a:xfrm>
            <a:off x="457200" y="3218688"/>
            <a:ext cx="1463040" cy="5303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Shape 22"/>
          <p:cNvSpPr/>
          <p:nvPr/>
        </p:nvSpPr>
        <p:spPr>
          <a:xfrm>
            <a:off x="457200" y="3767328"/>
            <a:ext cx="1463040" cy="320040"/>
          </a:xfrm>
          <a:prstGeom prst="rect">
            <a:avLst/>
          </a:prstGeom>
          <a:solidFill>
            <a:srgbClr val="0D2210"/>
          </a:solidFill>
          <a:ln w="12700">
            <a:solidFill>
              <a:srgbClr val="0D2210"/>
            </a:solidFill>
            <a:prstDash val="solid"/>
          </a:ln>
        </p:spPr>
      </p:sp>
      <p:sp>
        <p:nvSpPr>
          <p:cNvPr id="25" name="Text 23"/>
          <p:cNvSpPr/>
          <p:nvPr/>
        </p:nvSpPr>
        <p:spPr>
          <a:xfrm>
            <a:off x="457200" y="3776472"/>
            <a:ext cx="1463040" cy="301752"/>
          </a:xfrm>
          <a:prstGeom prst="rect">
            <a:avLst/>
          </a:prstGeom>
          <a:noFill/>
          <a:ln/>
        </p:spPr>
        <p:txBody>
          <a:bodyPr wrap="square" lIns="0" tIns="0" rIns="0" bIns="0" rtlCol="0" anchor="ctr"/>
          <a:lstStyle/>
          <a:p>
            <a:pPr algn="ctr" indent="0" marL="0">
              <a:buNone/>
            </a:pPr>
            <a:r>
              <a:rPr lang="en-US" sz="800" dirty="0">
                <a:solidFill>
                  <a:srgbClr val="7AAA7C"/>
                </a:solidFill>
                <a:latin typeface="Calibri" pitchFamily="34" charset="0"/>
                <a:ea typeface="Calibri" pitchFamily="34" charset="-122"/>
                <a:cs typeface="Calibri" pitchFamily="34" charset="-120"/>
              </a:rPr>
              <a:t>Villa Green</a:t>
            </a:r>
            <a:endParaRPr lang="en-US" sz="800" dirty="0"/>
          </a:p>
        </p:txBody>
      </p:sp>
      <p:sp>
        <p:nvSpPr>
          <p:cNvPr id="26" name="Shape 24"/>
          <p:cNvSpPr/>
          <p:nvPr/>
        </p:nvSpPr>
        <p:spPr>
          <a:xfrm>
            <a:off x="2057400" y="3200400"/>
            <a:ext cx="1463040" cy="914400"/>
          </a:xfrm>
          <a:prstGeom prst="rect">
            <a:avLst/>
          </a:prstGeom>
          <a:solidFill>
            <a:srgbClr val="1A3A1C"/>
          </a:solidFill>
          <a:ln w="12700">
            <a:solidFill>
              <a:srgbClr val="2A4E2C"/>
            </a:solidFill>
            <a:prstDash val="solid"/>
          </a:ln>
        </p:spPr>
      </p:sp>
      <p:sp>
        <p:nvSpPr>
          <p:cNvPr id="27" name="Text 25"/>
          <p:cNvSpPr/>
          <p:nvPr/>
        </p:nvSpPr>
        <p:spPr>
          <a:xfrm>
            <a:off x="2057400" y="3218688"/>
            <a:ext cx="1463040" cy="5303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8" name="Shape 26"/>
          <p:cNvSpPr/>
          <p:nvPr/>
        </p:nvSpPr>
        <p:spPr>
          <a:xfrm>
            <a:off x="2057400" y="3767328"/>
            <a:ext cx="1463040" cy="320040"/>
          </a:xfrm>
          <a:prstGeom prst="rect">
            <a:avLst/>
          </a:prstGeom>
          <a:solidFill>
            <a:srgbClr val="0D2210"/>
          </a:solidFill>
          <a:ln w="12700">
            <a:solidFill>
              <a:srgbClr val="0D2210"/>
            </a:solidFill>
            <a:prstDash val="solid"/>
          </a:ln>
        </p:spPr>
      </p:sp>
      <p:sp>
        <p:nvSpPr>
          <p:cNvPr id="29" name="Text 27"/>
          <p:cNvSpPr/>
          <p:nvPr/>
        </p:nvSpPr>
        <p:spPr>
          <a:xfrm>
            <a:off x="2057400" y="3776472"/>
            <a:ext cx="1463040" cy="301752"/>
          </a:xfrm>
          <a:prstGeom prst="rect">
            <a:avLst/>
          </a:prstGeom>
          <a:noFill/>
          <a:ln/>
        </p:spPr>
        <p:txBody>
          <a:bodyPr wrap="square" lIns="0" tIns="0" rIns="0" bIns="0" rtlCol="0" anchor="ctr"/>
          <a:lstStyle/>
          <a:p>
            <a:pPr algn="ctr" indent="0" marL="0">
              <a:buNone/>
            </a:pPr>
            <a:r>
              <a:rPr lang="en-US" sz="800" dirty="0">
                <a:solidFill>
                  <a:srgbClr val="7AAA7C"/>
                </a:solidFill>
                <a:latin typeface="Calibri" pitchFamily="34" charset="0"/>
                <a:ea typeface="Calibri" pitchFamily="34" charset="-122"/>
                <a:cs typeface="Calibri" pitchFamily="34" charset="-120"/>
              </a:rPr>
              <a:t>Resort Park</a:t>
            </a:r>
            <a:endParaRPr lang="en-US" sz="800" dirty="0"/>
          </a:p>
        </p:txBody>
      </p:sp>
      <p:sp>
        <p:nvSpPr>
          <p:cNvPr id="30" name="Shape 28"/>
          <p:cNvSpPr/>
          <p:nvPr/>
        </p:nvSpPr>
        <p:spPr>
          <a:xfrm>
            <a:off x="3657600" y="3200400"/>
            <a:ext cx="1463040" cy="914400"/>
          </a:xfrm>
          <a:prstGeom prst="rect">
            <a:avLst/>
          </a:prstGeom>
          <a:solidFill>
            <a:srgbClr val="1A3A1C"/>
          </a:solidFill>
          <a:ln w="12700">
            <a:solidFill>
              <a:srgbClr val="2A4E2C"/>
            </a:solidFill>
            <a:prstDash val="solid"/>
          </a:ln>
        </p:spPr>
      </p:sp>
      <p:sp>
        <p:nvSpPr>
          <p:cNvPr id="31" name="Text 29"/>
          <p:cNvSpPr/>
          <p:nvPr/>
        </p:nvSpPr>
        <p:spPr>
          <a:xfrm>
            <a:off x="3657600" y="3218688"/>
            <a:ext cx="1463040" cy="5303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2" name="Shape 30"/>
          <p:cNvSpPr/>
          <p:nvPr/>
        </p:nvSpPr>
        <p:spPr>
          <a:xfrm>
            <a:off x="3657600" y="3767328"/>
            <a:ext cx="1463040" cy="320040"/>
          </a:xfrm>
          <a:prstGeom prst="rect">
            <a:avLst/>
          </a:prstGeom>
          <a:solidFill>
            <a:srgbClr val="0D2210"/>
          </a:solidFill>
          <a:ln w="12700">
            <a:solidFill>
              <a:srgbClr val="0D2210"/>
            </a:solidFill>
            <a:prstDash val="solid"/>
          </a:ln>
        </p:spPr>
      </p:sp>
      <p:sp>
        <p:nvSpPr>
          <p:cNvPr id="33" name="Text 31"/>
          <p:cNvSpPr/>
          <p:nvPr/>
        </p:nvSpPr>
        <p:spPr>
          <a:xfrm>
            <a:off x="3657600" y="3776472"/>
            <a:ext cx="1463040" cy="301752"/>
          </a:xfrm>
          <a:prstGeom prst="rect">
            <a:avLst/>
          </a:prstGeom>
          <a:noFill/>
          <a:ln/>
        </p:spPr>
        <p:txBody>
          <a:bodyPr wrap="square" lIns="0" tIns="0" rIns="0" bIns="0" rtlCol="0" anchor="ctr"/>
          <a:lstStyle/>
          <a:p>
            <a:pPr algn="ctr" indent="0" marL="0">
              <a:buNone/>
            </a:pPr>
            <a:r>
              <a:rPr lang="en-US" sz="800" dirty="0">
                <a:solidFill>
                  <a:srgbClr val="7AAA7C"/>
                </a:solidFill>
                <a:latin typeface="Calibri" pitchFamily="34" charset="0"/>
                <a:ea typeface="Calibri" pitchFamily="34" charset="-122"/>
                <a:cs typeface="Calibri" pitchFamily="34" charset="-120"/>
              </a:rPr>
              <a:t>Water Garden</a:t>
            </a:r>
            <a:endParaRPr lang="en-US" sz="800" dirty="0"/>
          </a:p>
        </p:txBody>
      </p:sp>
      <p:sp>
        <p:nvSpPr>
          <p:cNvPr id="34" name="Shape 32"/>
          <p:cNvSpPr/>
          <p:nvPr/>
        </p:nvSpPr>
        <p:spPr>
          <a:xfrm>
            <a:off x="5669280" y="1143000"/>
            <a:ext cx="310896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5669280" y="1143000"/>
            <a:ext cx="64008" cy="804672"/>
          </a:xfrm>
          <a:prstGeom prst="rect">
            <a:avLst/>
          </a:prstGeom>
          <a:solidFill>
            <a:srgbClr val="328442"/>
          </a:solidFill>
          <a:ln w="12700">
            <a:solidFill>
              <a:srgbClr val="328442"/>
            </a:solidFill>
            <a:prstDash val="solid"/>
          </a:ln>
        </p:spPr>
      </p:sp>
      <p:sp>
        <p:nvSpPr>
          <p:cNvPr id="36" name="Text 34"/>
          <p:cNvSpPr/>
          <p:nvPr/>
        </p:nvSpPr>
        <p:spPr>
          <a:xfrm>
            <a:off x="5742432" y="1197864"/>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7" name="Text 35"/>
          <p:cNvSpPr/>
          <p:nvPr/>
        </p:nvSpPr>
        <p:spPr>
          <a:xfrm>
            <a:off x="6199632" y="1207008"/>
            <a:ext cx="246888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Giao diện hiện đại</a:t>
            </a:r>
            <a:endParaRPr lang="en-US" sz="1200" dirty="0"/>
          </a:p>
        </p:txBody>
      </p:sp>
      <p:sp>
        <p:nvSpPr>
          <p:cNvPr id="38" name="Text 36"/>
          <p:cNvSpPr/>
          <p:nvPr/>
        </p:nvSpPr>
        <p:spPr>
          <a:xfrm>
            <a:off x="6199632" y="1508760"/>
            <a:ext cx="246888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Dark theme sang trọng, hiệu ứng Framer Motion mượt mà, chuẩn 2025</a:t>
            </a:r>
            <a:endParaRPr lang="en-US" sz="950" dirty="0"/>
          </a:p>
        </p:txBody>
      </p:sp>
      <p:sp>
        <p:nvSpPr>
          <p:cNvPr id="39" name="Shape 37"/>
          <p:cNvSpPr/>
          <p:nvPr/>
        </p:nvSpPr>
        <p:spPr>
          <a:xfrm>
            <a:off x="5669280" y="2103120"/>
            <a:ext cx="310896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5669280" y="2103120"/>
            <a:ext cx="64008" cy="804672"/>
          </a:xfrm>
          <a:prstGeom prst="rect">
            <a:avLst/>
          </a:prstGeom>
          <a:solidFill>
            <a:srgbClr val="328442"/>
          </a:solidFill>
          <a:ln w="12700">
            <a:solidFill>
              <a:srgbClr val="328442"/>
            </a:solidFill>
            <a:prstDash val="solid"/>
          </a:ln>
        </p:spPr>
      </p:sp>
      <p:sp>
        <p:nvSpPr>
          <p:cNvPr id="41" name="Text 39"/>
          <p:cNvSpPr/>
          <p:nvPr/>
        </p:nvSpPr>
        <p:spPr>
          <a:xfrm>
            <a:off x="5742432" y="2157984"/>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2" name="Text 40"/>
          <p:cNvSpPr/>
          <p:nvPr/>
        </p:nvSpPr>
        <p:spPr>
          <a:xfrm>
            <a:off x="6199632" y="2167128"/>
            <a:ext cx="246888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Responsive hoàn hảo</a:t>
            </a:r>
            <a:endParaRPr lang="en-US" sz="1200" dirty="0"/>
          </a:p>
        </p:txBody>
      </p:sp>
      <p:sp>
        <p:nvSpPr>
          <p:cNvPr id="43" name="Text 41"/>
          <p:cNvSpPr/>
          <p:nvPr/>
        </p:nvSpPr>
        <p:spPr>
          <a:xfrm>
            <a:off x="6199632" y="2468880"/>
            <a:ext cx="246888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Tối ưu cho tất cả thiết bị: desktop, tablet, mobile</a:t>
            </a:r>
            <a:endParaRPr lang="en-US" sz="950" dirty="0"/>
          </a:p>
        </p:txBody>
      </p:sp>
      <p:sp>
        <p:nvSpPr>
          <p:cNvPr id="44" name="Shape 42"/>
          <p:cNvSpPr/>
          <p:nvPr/>
        </p:nvSpPr>
        <p:spPr>
          <a:xfrm>
            <a:off x="5669280" y="3063240"/>
            <a:ext cx="310896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5" name="Shape 43"/>
          <p:cNvSpPr/>
          <p:nvPr/>
        </p:nvSpPr>
        <p:spPr>
          <a:xfrm>
            <a:off x="5669280" y="3063240"/>
            <a:ext cx="64008" cy="804672"/>
          </a:xfrm>
          <a:prstGeom prst="rect">
            <a:avLst/>
          </a:prstGeom>
          <a:solidFill>
            <a:srgbClr val="328442"/>
          </a:solidFill>
          <a:ln w="12700">
            <a:solidFill>
              <a:srgbClr val="328442"/>
            </a:solidFill>
            <a:prstDash val="solid"/>
          </a:ln>
        </p:spPr>
      </p:sp>
      <p:sp>
        <p:nvSpPr>
          <p:cNvPr id="46" name="Text 44"/>
          <p:cNvSpPr/>
          <p:nvPr/>
        </p:nvSpPr>
        <p:spPr>
          <a:xfrm>
            <a:off x="5742432" y="3118104"/>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7" name="Text 45"/>
          <p:cNvSpPr/>
          <p:nvPr/>
        </p:nvSpPr>
        <p:spPr>
          <a:xfrm>
            <a:off x="6199632" y="3127248"/>
            <a:ext cx="246888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Song ngữ Vi/En</a:t>
            </a:r>
            <a:endParaRPr lang="en-US" sz="1200" dirty="0"/>
          </a:p>
        </p:txBody>
      </p:sp>
      <p:sp>
        <p:nvSpPr>
          <p:cNvPr id="48" name="Text 46"/>
          <p:cNvSpPr/>
          <p:nvPr/>
        </p:nvSpPr>
        <p:spPr>
          <a:xfrm>
            <a:off x="6199632" y="3429000"/>
            <a:ext cx="246888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Hỗ trợ 2 ngôn ngữ với next-intl, tiếp cận đối tác quốc tế</a:t>
            </a:r>
            <a:endParaRPr lang="en-US" sz="950" dirty="0"/>
          </a:p>
        </p:txBody>
      </p:sp>
      <p:sp>
        <p:nvSpPr>
          <p:cNvPr id="49" name="Shape 47"/>
          <p:cNvSpPr/>
          <p:nvPr/>
        </p:nvSpPr>
        <p:spPr>
          <a:xfrm>
            <a:off x="5669280" y="4023360"/>
            <a:ext cx="310896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0" name="Shape 48"/>
          <p:cNvSpPr/>
          <p:nvPr/>
        </p:nvSpPr>
        <p:spPr>
          <a:xfrm>
            <a:off x="5669280" y="4023360"/>
            <a:ext cx="64008" cy="804672"/>
          </a:xfrm>
          <a:prstGeom prst="rect">
            <a:avLst/>
          </a:prstGeom>
          <a:solidFill>
            <a:srgbClr val="328442"/>
          </a:solidFill>
          <a:ln w="12700">
            <a:solidFill>
              <a:srgbClr val="328442"/>
            </a:solidFill>
            <a:prstDash val="solid"/>
          </a:ln>
        </p:spPr>
      </p:sp>
      <p:sp>
        <p:nvSpPr>
          <p:cNvPr id="51" name="Text 49"/>
          <p:cNvSpPr/>
          <p:nvPr/>
        </p:nvSpPr>
        <p:spPr>
          <a:xfrm>
            <a:off x="5742432" y="4078224"/>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52" name="Text 50"/>
          <p:cNvSpPr/>
          <p:nvPr/>
        </p:nvSpPr>
        <p:spPr>
          <a:xfrm>
            <a:off x="6199632" y="4087368"/>
            <a:ext cx="246888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Tốc độ cao</a:t>
            </a:r>
            <a:endParaRPr lang="en-US" sz="1200" dirty="0"/>
          </a:p>
        </p:txBody>
      </p:sp>
      <p:sp>
        <p:nvSpPr>
          <p:cNvPr id="53" name="Text 51"/>
          <p:cNvSpPr/>
          <p:nvPr/>
        </p:nvSpPr>
        <p:spPr>
          <a:xfrm>
            <a:off x="6199632" y="4389120"/>
            <a:ext cx="246888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Next.js 16 + Turbopack, Core Web Vitals đạt chuẩn Google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30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28442"/>
          </a:solidFill>
          <a:ln w="12700">
            <a:solidFill>
              <a:srgbClr val="328442"/>
            </a:solidFill>
            <a:prstDash val="solid"/>
          </a:ln>
        </p:spPr>
      </p:sp>
      <p:sp>
        <p:nvSpPr>
          <p:cNvPr id="3" name="Text 1"/>
          <p:cNvSpPr/>
          <p:nvPr/>
        </p:nvSpPr>
        <p:spPr>
          <a:xfrm>
            <a:off x="457200" y="137160"/>
            <a:ext cx="6400800" cy="5943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SHOWCASE CÔNG TRÌNH</a:t>
            </a:r>
            <a:endParaRPr lang="en-US" sz="3000" dirty="0"/>
          </a:p>
        </p:txBody>
      </p:sp>
      <p:sp>
        <p:nvSpPr>
          <p:cNvPr id="4" name="Text 2"/>
          <p:cNvSpPr/>
          <p:nvPr/>
        </p:nvSpPr>
        <p:spPr>
          <a:xfrm>
            <a:off x="457200" y="731520"/>
            <a:ext cx="8229600" cy="274320"/>
          </a:xfrm>
          <a:prstGeom prst="rect">
            <a:avLst/>
          </a:prstGeom>
          <a:noFill/>
          <a:ln/>
        </p:spPr>
        <p:txBody>
          <a:bodyPr wrap="square" lIns="0" tIns="0" rIns="0" bIns="0" rtlCol="0" anchor="ctr"/>
          <a:lstStyle/>
          <a:p>
            <a:pPr indent="0" marL="0">
              <a:buNone/>
            </a:pPr>
            <a:r>
              <a:rPr lang="en-US" sz="1200" i="1" dirty="0">
                <a:solidFill>
                  <a:srgbClr val="AACCB0"/>
                </a:solidFill>
                <a:latin typeface="Calibri" pitchFamily="34" charset="0"/>
                <a:ea typeface="Calibri" pitchFamily="34" charset="-122"/>
                <a:cs typeface="Calibri" pitchFamily="34" charset="-120"/>
              </a:rPr>
              <a:t>Gallery tương tác — Lọc theo danh mục — Chi tiết dự án đầy đủ</a:t>
            </a:r>
            <a:endParaRPr lang="en-US" sz="1200" dirty="0"/>
          </a:p>
        </p:txBody>
      </p:sp>
      <p:sp>
        <p:nvSpPr>
          <p:cNvPr id="5" name="Shape 3"/>
          <p:cNvSpPr/>
          <p:nvPr/>
        </p:nvSpPr>
        <p:spPr>
          <a:xfrm>
            <a:off x="457200" y="1097280"/>
            <a:ext cx="1234440" cy="274320"/>
          </a:xfrm>
          <a:prstGeom prst="rect">
            <a:avLst/>
          </a:prstGeom>
          <a:solidFill>
            <a:srgbClr val="328442"/>
          </a:solidFill>
          <a:ln w="12700">
            <a:solidFill>
              <a:srgbClr val="328442"/>
            </a:solidFill>
            <a:prstDash val="solid"/>
          </a:ln>
        </p:spPr>
      </p:sp>
      <p:sp>
        <p:nvSpPr>
          <p:cNvPr id="6" name="Text 4"/>
          <p:cNvSpPr/>
          <p:nvPr/>
        </p:nvSpPr>
        <p:spPr>
          <a:xfrm>
            <a:off x="457200" y="1097280"/>
            <a:ext cx="12344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Tất cả</a:t>
            </a:r>
            <a:endParaRPr lang="en-US" sz="850" dirty="0"/>
          </a:p>
        </p:txBody>
      </p:sp>
      <p:sp>
        <p:nvSpPr>
          <p:cNvPr id="7" name="Shape 5"/>
          <p:cNvSpPr/>
          <p:nvPr/>
        </p:nvSpPr>
        <p:spPr>
          <a:xfrm>
            <a:off x="1828800" y="1097280"/>
            <a:ext cx="1234440" cy="274320"/>
          </a:xfrm>
          <a:prstGeom prst="rect">
            <a:avLst/>
          </a:prstGeom>
          <a:solidFill>
            <a:srgbClr val="1A3A1C"/>
          </a:solidFill>
          <a:ln w="12700">
            <a:solidFill>
              <a:srgbClr val="2D4A2F"/>
            </a:solidFill>
            <a:prstDash val="solid"/>
          </a:ln>
        </p:spPr>
      </p:sp>
      <p:sp>
        <p:nvSpPr>
          <p:cNvPr id="8" name="Text 6"/>
          <p:cNvSpPr/>
          <p:nvPr/>
        </p:nvSpPr>
        <p:spPr>
          <a:xfrm>
            <a:off x="1828800" y="1097280"/>
            <a:ext cx="1234440" cy="274320"/>
          </a:xfrm>
          <a:prstGeom prst="rect">
            <a:avLst/>
          </a:prstGeom>
          <a:noFill/>
          <a:ln/>
        </p:spPr>
        <p:txBody>
          <a:bodyPr wrap="square" lIns="0" tIns="0" rIns="0" bIns="0" rtlCol="0" anchor="ctr"/>
          <a:lstStyle/>
          <a:p>
            <a:pPr algn="ctr" indent="0" marL="0">
              <a:buNone/>
            </a:pPr>
            <a:r>
              <a:rPr lang="en-US" sz="850" dirty="0">
                <a:solidFill>
                  <a:srgbClr val="7AAA7C"/>
                </a:solidFill>
                <a:latin typeface="Calibri" pitchFamily="34" charset="0"/>
                <a:ea typeface="Calibri" pitchFamily="34" charset="-122"/>
                <a:cs typeface="Calibri" pitchFamily="34" charset="-120"/>
              </a:rPr>
              <a:t>Biệt thự</a:t>
            </a:r>
            <a:endParaRPr lang="en-US" sz="850" dirty="0"/>
          </a:p>
        </p:txBody>
      </p:sp>
      <p:sp>
        <p:nvSpPr>
          <p:cNvPr id="9" name="Shape 7"/>
          <p:cNvSpPr/>
          <p:nvPr/>
        </p:nvSpPr>
        <p:spPr>
          <a:xfrm>
            <a:off x="3200400" y="1097280"/>
            <a:ext cx="1234440" cy="274320"/>
          </a:xfrm>
          <a:prstGeom prst="rect">
            <a:avLst/>
          </a:prstGeom>
          <a:solidFill>
            <a:srgbClr val="1A3A1C"/>
          </a:solidFill>
          <a:ln w="12700">
            <a:solidFill>
              <a:srgbClr val="2D4A2F"/>
            </a:solidFill>
            <a:prstDash val="solid"/>
          </a:ln>
        </p:spPr>
      </p:sp>
      <p:sp>
        <p:nvSpPr>
          <p:cNvPr id="10" name="Text 8"/>
          <p:cNvSpPr/>
          <p:nvPr/>
        </p:nvSpPr>
        <p:spPr>
          <a:xfrm>
            <a:off x="3200400" y="1097280"/>
            <a:ext cx="1234440" cy="274320"/>
          </a:xfrm>
          <a:prstGeom prst="rect">
            <a:avLst/>
          </a:prstGeom>
          <a:noFill/>
          <a:ln/>
        </p:spPr>
        <p:txBody>
          <a:bodyPr wrap="square" lIns="0" tIns="0" rIns="0" bIns="0" rtlCol="0" anchor="ctr"/>
          <a:lstStyle/>
          <a:p>
            <a:pPr algn="ctr" indent="0" marL="0">
              <a:buNone/>
            </a:pPr>
            <a:r>
              <a:rPr lang="en-US" sz="850" dirty="0">
                <a:solidFill>
                  <a:srgbClr val="7AAA7C"/>
                </a:solidFill>
                <a:latin typeface="Calibri" pitchFamily="34" charset="0"/>
                <a:ea typeface="Calibri" pitchFamily="34" charset="-122"/>
                <a:cs typeface="Calibri" pitchFamily="34" charset="-120"/>
              </a:rPr>
              <a:t>Resort</a:t>
            </a:r>
            <a:endParaRPr lang="en-US" sz="850" dirty="0"/>
          </a:p>
        </p:txBody>
      </p:sp>
      <p:sp>
        <p:nvSpPr>
          <p:cNvPr id="11" name="Shape 9"/>
          <p:cNvSpPr/>
          <p:nvPr/>
        </p:nvSpPr>
        <p:spPr>
          <a:xfrm>
            <a:off x="4572000" y="1097280"/>
            <a:ext cx="1234440" cy="274320"/>
          </a:xfrm>
          <a:prstGeom prst="rect">
            <a:avLst/>
          </a:prstGeom>
          <a:solidFill>
            <a:srgbClr val="1A3A1C"/>
          </a:solidFill>
          <a:ln w="12700">
            <a:solidFill>
              <a:srgbClr val="2D4A2F"/>
            </a:solidFill>
            <a:prstDash val="solid"/>
          </a:ln>
        </p:spPr>
      </p:sp>
      <p:sp>
        <p:nvSpPr>
          <p:cNvPr id="12" name="Text 10"/>
          <p:cNvSpPr/>
          <p:nvPr/>
        </p:nvSpPr>
        <p:spPr>
          <a:xfrm>
            <a:off x="4572000" y="1097280"/>
            <a:ext cx="1234440" cy="274320"/>
          </a:xfrm>
          <a:prstGeom prst="rect">
            <a:avLst/>
          </a:prstGeom>
          <a:noFill/>
          <a:ln/>
        </p:spPr>
        <p:txBody>
          <a:bodyPr wrap="square" lIns="0" tIns="0" rIns="0" bIns="0" rtlCol="0" anchor="ctr"/>
          <a:lstStyle/>
          <a:p>
            <a:pPr algn="ctr" indent="0" marL="0">
              <a:buNone/>
            </a:pPr>
            <a:r>
              <a:rPr lang="en-US" sz="850" dirty="0">
                <a:solidFill>
                  <a:srgbClr val="7AAA7C"/>
                </a:solidFill>
                <a:latin typeface="Calibri" pitchFamily="34" charset="0"/>
                <a:ea typeface="Calibri" pitchFamily="34" charset="-122"/>
                <a:cs typeface="Calibri" pitchFamily="34" charset="-120"/>
              </a:rPr>
              <a:t>Công viên</a:t>
            </a:r>
            <a:endParaRPr lang="en-US" sz="850" dirty="0"/>
          </a:p>
        </p:txBody>
      </p:sp>
      <p:sp>
        <p:nvSpPr>
          <p:cNvPr id="13" name="Shape 11"/>
          <p:cNvSpPr/>
          <p:nvPr/>
        </p:nvSpPr>
        <p:spPr>
          <a:xfrm>
            <a:off x="5943600" y="1097280"/>
            <a:ext cx="1234440" cy="274320"/>
          </a:xfrm>
          <a:prstGeom prst="rect">
            <a:avLst/>
          </a:prstGeom>
          <a:solidFill>
            <a:srgbClr val="1A3A1C"/>
          </a:solidFill>
          <a:ln w="12700">
            <a:solidFill>
              <a:srgbClr val="2D4A2F"/>
            </a:solidFill>
            <a:prstDash val="solid"/>
          </a:ln>
        </p:spPr>
      </p:sp>
      <p:sp>
        <p:nvSpPr>
          <p:cNvPr id="14" name="Text 12"/>
          <p:cNvSpPr/>
          <p:nvPr/>
        </p:nvSpPr>
        <p:spPr>
          <a:xfrm>
            <a:off x="5943600" y="1097280"/>
            <a:ext cx="1234440" cy="274320"/>
          </a:xfrm>
          <a:prstGeom prst="rect">
            <a:avLst/>
          </a:prstGeom>
          <a:noFill/>
          <a:ln/>
        </p:spPr>
        <p:txBody>
          <a:bodyPr wrap="square" lIns="0" tIns="0" rIns="0" bIns="0" rtlCol="0" anchor="ctr"/>
          <a:lstStyle/>
          <a:p>
            <a:pPr algn="ctr" indent="0" marL="0">
              <a:buNone/>
            </a:pPr>
            <a:r>
              <a:rPr lang="en-US" sz="850" dirty="0">
                <a:solidFill>
                  <a:srgbClr val="7AAA7C"/>
                </a:solidFill>
                <a:latin typeface="Calibri" pitchFamily="34" charset="0"/>
                <a:ea typeface="Calibri" pitchFamily="34" charset="-122"/>
                <a:cs typeface="Calibri" pitchFamily="34" charset="-120"/>
              </a:rPr>
              <a:t>Văn phòng</a:t>
            </a:r>
            <a:endParaRPr lang="en-US" sz="850" dirty="0"/>
          </a:p>
        </p:txBody>
      </p:sp>
      <p:sp>
        <p:nvSpPr>
          <p:cNvPr id="15" name="Shape 13"/>
          <p:cNvSpPr/>
          <p:nvPr/>
        </p:nvSpPr>
        <p:spPr>
          <a:xfrm>
            <a:off x="7315200" y="1097280"/>
            <a:ext cx="1234440" cy="274320"/>
          </a:xfrm>
          <a:prstGeom prst="rect">
            <a:avLst/>
          </a:prstGeom>
          <a:solidFill>
            <a:srgbClr val="1A3A1C"/>
          </a:solidFill>
          <a:ln w="12700">
            <a:solidFill>
              <a:srgbClr val="2D4A2F"/>
            </a:solidFill>
            <a:prstDash val="solid"/>
          </a:ln>
        </p:spPr>
      </p:sp>
      <p:sp>
        <p:nvSpPr>
          <p:cNvPr id="16" name="Text 14"/>
          <p:cNvSpPr/>
          <p:nvPr/>
        </p:nvSpPr>
        <p:spPr>
          <a:xfrm>
            <a:off x="7315200" y="1097280"/>
            <a:ext cx="1234440" cy="274320"/>
          </a:xfrm>
          <a:prstGeom prst="rect">
            <a:avLst/>
          </a:prstGeom>
          <a:noFill/>
          <a:ln/>
        </p:spPr>
        <p:txBody>
          <a:bodyPr wrap="square" lIns="0" tIns="0" rIns="0" bIns="0" rtlCol="0" anchor="ctr"/>
          <a:lstStyle/>
          <a:p>
            <a:pPr algn="ctr" indent="0" marL="0">
              <a:buNone/>
            </a:pPr>
            <a:r>
              <a:rPr lang="en-US" sz="850" dirty="0">
                <a:solidFill>
                  <a:srgbClr val="7AAA7C"/>
                </a:solidFill>
                <a:latin typeface="Calibri" pitchFamily="34" charset="0"/>
                <a:ea typeface="Calibri" pitchFamily="34" charset="-122"/>
                <a:cs typeface="Calibri" pitchFamily="34" charset="-120"/>
              </a:rPr>
              <a:t>Khu đô thị</a:t>
            </a:r>
            <a:endParaRPr lang="en-US" sz="850" dirty="0"/>
          </a:p>
        </p:txBody>
      </p:sp>
      <p:sp>
        <p:nvSpPr>
          <p:cNvPr id="17" name="Shape 15"/>
          <p:cNvSpPr/>
          <p:nvPr/>
        </p:nvSpPr>
        <p:spPr>
          <a:xfrm>
            <a:off x="457200" y="1508760"/>
            <a:ext cx="2560320" cy="1508760"/>
          </a:xfrm>
          <a:prstGeom prst="rect">
            <a:avLst/>
          </a:prstGeom>
          <a:solidFill>
            <a:srgbClr val="0D2210"/>
          </a:solidFill>
          <a:ln w="12700">
            <a:solidFill>
              <a:srgbClr val="2D4A2F"/>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57200" y="1508760"/>
            <a:ext cx="2560320" cy="1005840"/>
          </a:xfrm>
          <a:prstGeom prst="rect">
            <a:avLst/>
          </a:prstGeom>
          <a:solidFill>
            <a:srgbClr val="1A3A1C"/>
          </a:solidFill>
          <a:ln w="12700">
            <a:solidFill>
              <a:srgbClr val="1A3A1C"/>
            </a:solidFill>
            <a:prstDash val="solid"/>
          </a:ln>
        </p:spPr>
      </p:sp>
      <p:sp>
        <p:nvSpPr>
          <p:cNvPr id="19" name="Text 17"/>
          <p:cNvSpPr/>
          <p:nvPr/>
        </p:nvSpPr>
        <p:spPr>
          <a:xfrm>
            <a:off x="457200" y="1508760"/>
            <a:ext cx="2560320" cy="10058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20" name="Shape 18"/>
          <p:cNvSpPr/>
          <p:nvPr/>
        </p:nvSpPr>
        <p:spPr>
          <a:xfrm>
            <a:off x="548640" y="2258568"/>
            <a:ext cx="731520" cy="182880"/>
          </a:xfrm>
          <a:prstGeom prst="rect">
            <a:avLst/>
          </a:prstGeom>
          <a:solidFill>
            <a:srgbClr val="328442"/>
          </a:solidFill>
          <a:ln w="12700">
            <a:solidFill>
              <a:srgbClr val="328442"/>
            </a:solidFill>
            <a:prstDash val="solid"/>
          </a:ln>
        </p:spPr>
      </p:sp>
      <p:sp>
        <p:nvSpPr>
          <p:cNvPr id="21" name="Text 19"/>
          <p:cNvSpPr/>
          <p:nvPr/>
        </p:nvSpPr>
        <p:spPr>
          <a:xfrm>
            <a:off x="548640" y="2258568"/>
            <a:ext cx="73152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Biệt thự</a:t>
            </a:r>
            <a:endParaRPr lang="en-US" sz="650" dirty="0"/>
          </a:p>
        </p:txBody>
      </p:sp>
      <p:sp>
        <p:nvSpPr>
          <p:cNvPr id="22" name="Text 20"/>
          <p:cNvSpPr/>
          <p:nvPr/>
        </p:nvSpPr>
        <p:spPr>
          <a:xfrm>
            <a:off x="566928" y="2532888"/>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Villa Xanh</a:t>
            </a:r>
            <a:endParaRPr lang="en-US" sz="1000" dirty="0"/>
          </a:p>
        </p:txBody>
      </p:sp>
      <p:sp>
        <p:nvSpPr>
          <p:cNvPr id="23" name="Text 21"/>
          <p:cNvSpPr/>
          <p:nvPr/>
        </p:nvSpPr>
        <p:spPr>
          <a:xfrm>
            <a:off x="2560320" y="2532888"/>
            <a:ext cx="411480" cy="256032"/>
          </a:xfrm>
          <a:prstGeom prst="rect">
            <a:avLst/>
          </a:prstGeom>
          <a:noFill/>
          <a:ln/>
        </p:spPr>
        <p:txBody>
          <a:bodyPr wrap="square" lIns="0" tIns="0" rIns="0" bIns="0" rtlCol="0" anchor="ctr"/>
          <a:lstStyle/>
          <a:p>
            <a:pPr algn="r" indent="0" marL="0">
              <a:buNone/>
            </a:pPr>
            <a:r>
              <a:rPr lang="en-US" sz="900" dirty="0">
                <a:solidFill>
                  <a:srgbClr val="BE7B2B"/>
                </a:solidFill>
                <a:latin typeface="Calibri" pitchFamily="34" charset="0"/>
                <a:ea typeface="Calibri" pitchFamily="34" charset="-122"/>
                <a:cs typeface="Calibri" pitchFamily="34" charset="-120"/>
              </a:rPr>
              <a:t>2024</a:t>
            </a:r>
            <a:endParaRPr lang="en-US" sz="900" dirty="0"/>
          </a:p>
        </p:txBody>
      </p:sp>
      <p:sp>
        <p:nvSpPr>
          <p:cNvPr id="24" name="Text 22"/>
          <p:cNvSpPr/>
          <p:nvPr/>
        </p:nvSpPr>
        <p:spPr>
          <a:xfrm>
            <a:off x="566928" y="2788920"/>
            <a:ext cx="1828800" cy="182880"/>
          </a:xfrm>
          <a:prstGeom prst="rect">
            <a:avLst/>
          </a:prstGeom>
          <a:noFill/>
          <a:ln/>
        </p:spPr>
        <p:txBody>
          <a:bodyPr wrap="square" lIns="0" tIns="0" rIns="0" bIns="0" rtlCol="0" anchor="ctr"/>
          <a:lstStyle/>
          <a:p>
            <a:pPr indent="0" marL="0">
              <a:buNone/>
            </a:pPr>
            <a:r>
              <a:rPr lang="en-US" sz="800" dirty="0">
                <a:solidFill>
                  <a:srgbClr val="97BC62"/>
                </a:solidFill>
                <a:latin typeface="Calibri" pitchFamily="34" charset="0"/>
                <a:ea typeface="Calibri" pitchFamily="34" charset="-122"/>
                <a:cs typeface="Calibri" pitchFamily="34" charset="-120"/>
              </a:rPr>
              <a:t>Xem chi tiết →</a:t>
            </a:r>
            <a:endParaRPr lang="en-US" sz="800" dirty="0"/>
          </a:p>
        </p:txBody>
      </p:sp>
      <p:sp>
        <p:nvSpPr>
          <p:cNvPr id="25" name="Shape 23"/>
          <p:cNvSpPr/>
          <p:nvPr/>
        </p:nvSpPr>
        <p:spPr>
          <a:xfrm>
            <a:off x="3200400" y="1508760"/>
            <a:ext cx="2560320" cy="1508760"/>
          </a:xfrm>
          <a:prstGeom prst="rect">
            <a:avLst/>
          </a:prstGeom>
          <a:solidFill>
            <a:srgbClr val="0D2210"/>
          </a:solidFill>
          <a:ln w="12700">
            <a:solidFill>
              <a:srgbClr val="2D4A2F"/>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3200400" y="1508760"/>
            <a:ext cx="2560320" cy="1005840"/>
          </a:xfrm>
          <a:prstGeom prst="rect">
            <a:avLst/>
          </a:prstGeom>
          <a:solidFill>
            <a:srgbClr val="1A3A1C"/>
          </a:solidFill>
          <a:ln w="12700">
            <a:solidFill>
              <a:srgbClr val="1A3A1C"/>
            </a:solidFill>
            <a:prstDash val="solid"/>
          </a:ln>
        </p:spPr>
      </p:sp>
      <p:sp>
        <p:nvSpPr>
          <p:cNvPr id="27" name="Text 25"/>
          <p:cNvSpPr/>
          <p:nvPr/>
        </p:nvSpPr>
        <p:spPr>
          <a:xfrm>
            <a:off x="3200400" y="1508760"/>
            <a:ext cx="2560320" cy="10058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28" name="Shape 26"/>
          <p:cNvSpPr/>
          <p:nvPr/>
        </p:nvSpPr>
        <p:spPr>
          <a:xfrm>
            <a:off x="3291840" y="2258568"/>
            <a:ext cx="731520" cy="182880"/>
          </a:xfrm>
          <a:prstGeom prst="rect">
            <a:avLst/>
          </a:prstGeom>
          <a:solidFill>
            <a:srgbClr val="328442"/>
          </a:solidFill>
          <a:ln w="12700">
            <a:solidFill>
              <a:srgbClr val="328442"/>
            </a:solidFill>
            <a:prstDash val="solid"/>
          </a:ln>
        </p:spPr>
      </p:sp>
      <p:sp>
        <p:nvSpPr>
          <p:cNvPr id="29" name="Text 27"/>
          <p:cNvSpPr/>
          <p:nvPr/>
        </p:nvSpPr>
        <p:spPr>
          <a:xfrm>
            <a:off x="3291840" y="2258568"/>
            <a:ext cx="73152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Resort</a:t>
            </a:r>
            <a:endParaRPr lang="en-US" sz="650" dirty="0"/>
          </a:p>
        </p:txBody>
      </p:sp>
      <p:sp>
        <p:nvSpPr>
          <p:cNvPr id="30" name="Text 28"/>
          <p:cNvSpPr/>
          <p:nvPr/>
        </p:nvSpPr>
        <p:spPr>
          <a:xfrm>
            <a:off x="3310128" y="2532888"/>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Aqua Garden</a:t>
            </a:r>
            <a:endParaRPr lang="en-US" sz="1000" dirty="0"/>
          </a:p>
        </p:txBody>
      </p:sp>
      <p:sp>
        <p:nvSpPr>
          <p:cNvPr id="31" name="Text 29"/>
          <p:cNvSpPr/>
          <p:nvPr/>
        </p:nvSpPr>
        <p:spPr>
          <a:xfrm>
            <a:off x="5303520" y="2532888"/>
            <a:ext cx="411480" cy="256032"/>
          </a:xfrm>
          <a:prstGeom prst="rect">
            <a:avLst/>
          </a:prstGeom>
          <a:noFill/>
          <a:ln/>
        </p:spPr>
        <p:txBody>
          <a:bodyPr wrap="square" lIns="0" tIns="0" rIns="0" bIns="0" rtlCol="0" anchor="ctr"/>
          <a:lstStyle/>
          <a:p>
            <a:pPr algn="r" indent="0" marL="0">
              <a:buNone/>
            </a:pPr>
            <a:r>
              <a:rPr lang="en-US" sz="900" dirty="0">
                <a:solidFill>
                  <a:srgbClr val="BE7B2B"/>
                </a:solidFill>
                <a:latin typeface="Calibri" pitchFamily="34" charset="0"/>
                <a:ea typeface="Calibri" pitchFamily="34" charset="-122"/>
                <a:cs typeface="Calibri" pitchFamily="34" charset="-120"/>
              </a:rPr>
              <a:t>2024</a:t>
            </a:r>
            <a:endParaRPr lang="en-US" sz="900" dirty="0"/>
          </a:p>
        </p:txBody>
      </p:sp>
      <p:sp>
        <p:nvSpPr>
          <p:cNvPr id="32" name="Text 30"/>
          <p:cNvSpPr/>
          <p:nvPr/>
        </p:nvSpPr>
        <p:spPr>
          <a:xfrm>
            <a:off x="3310128" y="2788920"/>
            <a:ext cx="1828800" cy="182880"/>
          </a:xfrm>
          <a:prstGeom prst="rect">
            <a:avLst/>
          </a:prstGeom>
          <a:noFill/>
          <a:ln/>
        </p:spPr>
        <p:txBody>
          <a:bodyPr wrap="square" lIns="0" tIns="0" rIns="0" bIns="0" rtlCol="0" anchor="ctr"/>
          <a:lstStyle/>
          <a:p>
            <a:pPr indent="0" marL="0">
              <a:buNone/>
            </a:pPr>
            <a:r>
              <a:rPr lang="en-US" sz="800" dirty="0">
                <a:solidFill>
                  <a:srgbClr val="97BC62"/>
                </a:solidFill>
                <a:latin typeface="Calibri" pitchFamily="34" charset="0"/>
                <a:ea typeface="Calibri" pitchFamily="34" charset="-122"/>
                <a:cs typeface="Calibri" pitchFamily="34" charset="-120"/>
              </a:rPr>
              <a:t>Xem chi tiết →</a:t>
            </a:r>
            <a:endParaRPr lang="en-US" sz="800" dirty="0"/>
          </a:p>
        </p:txBody>
      </p:sp>
      <p:sp>
        <p:nvSpPr>
          <p:cNvPr id="33" name="Shape 31"/>
          <p:cNvSpPr/>
          <p:nvPr/>
        </p:nvSpPr>
        <p:spPr>
          <a:xfrm>
            <a:off x="5943600" y="1508760"/>
            <a:ext cx="2560320" cy="1508760"/>
          </a:xfrm>
          <a:prstGeom prst="rect">
            <a:avLst/>
          </a:prstGeom>
          <a:solidFill>
            <a:srgbClr val="0D2210"/>
          </a:solidFill>
          <a:ln w="12700">
            <a:solidFill>
              <a:srgbClr val="2D4A2F"/>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5943600" y="1508760"/>
            <a:ext cx="2560320" cy="1005840"/>
          </a:xfrm>
          <a:prstGeom prst="rect">
            <a:avLst/>
          </a:prstGeom>
          <a:solidFill>
            <a:srgbClr val="1A3A1C"/>
          </a:solidFill>
          <a:ln w="12700">
            <a:solidFill>
              <a:srgbClr val="1A3A1C"/>
            </a:solidFill>
            <a:prstDash val="solid"/>
          </a:ln>
        </p:spPr>
      </p:sp>
      <p:sp>
        <p:nvSpPr>
          <p:cNvPr id="35" name="Text 33"/>
          <p:cNvSpPr/>
          <p:nvPr/>
        </p:nvSpPr>
        <p:spPr>
          <a:xfrm>
            <a:off x="5943600" y="1508760"/>
            <a:ext cx="2560320" cy="10058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6" name="Shape 34"/>
          <p:cNvSpPr/>
          <p:nvPr/>
        </p:nvSpPr>
        <p:spPr>
          <a:xfrm>
            <a:off x="6035040" y="2258568"/>
            <a:ext cx="731520" cy="182880"/>
          </a:xfrm>
          <a:prstGeom prst="rect">
            <a:avLst/>
          </a:prstGeom>
          <a:solidFill>
            <a:srgbClr val="328442"/>
          </a:solidFill>
          <a:ln w="12700">
            <a:solidFill>
              <a:srgbClr val="328442"/>
            </a:solidFill>
            <a:prstDash val="solid"/>
          </a:ln>
        </p:spPr>
      </p:sp>
      <p:sp>
        <p:nvSpPr>
          <p:cNvPr id="37" name="Text 35"/>
          <p:cNvSpPr/>
          <p:nvPr/>
        </p:nvSpPr>
        <p:spPr>
          <a:xfrm>
            <a:off x="6035040" y="2258568"/>
            <a:ext cx="73152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Công viên</a:t>
            </a:r>
            <a:endParaRPr lang="en-US" sz="650" dirty="0"/>
          </a:p>
        </p:txBody>
      </p:sp>
      <p:sp>
        <p:nvSpPr>
          <p:cNvPr id="38" name="Text 36"/>
          <p:cNvSpPr/>
          <p:nvPr/>
        </p:nvSpPr>
        <p:spPr>
          <a:xfrm>
            <a:off x="6053328" y="2532888"/>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Central Park</a:t>
            </a:r>
            <a:endParaRPr lang="en-US" sz="1000" dirty="0"/>
          </a:p>
        </p:txBody>
      </p:sp>
      <p:sp>
        <p:nvSpPr>
          <p:cNvPr id="39" name="Text 37"/>
          <p:cNvSpPr/>
          <p:nvPr/>
        </p:nvSpPr>
        <p:spPr>
          <a:xfrm>
            <a:off x="8046720" y="2532888"/>
            <a:ext cx="411480" cy="256032"/>
          </a:xfrm>
          <a:prstGeom prst="rect">
            <a:avLst/>
          </a:prstGeom>
          <a:noFill/>
          <a:ln/>
        </p:spPr>
        <p:txBody>
          <a:bodyPr wrap="square" lIns="0" tIns="0" rIns="0" bIns="0" rtlCol="0" anchor="ctr"/>
          <a:lstStyle/>
          <a:p>
            <a:pPr algn="r" indent="0" marL="0">
              <a:buNone/>
            </a:pPr>
            <a:r>
              <a:rPr lang="en-US" sz="900" dirty="0">
                <a:solidFill>
                  <a:srgbClr val="BE7B2B"/>
                </a:solidFill>
                <a:latin typeface="Calibri" pitchFamily="34" charset="0"/>
                <a:ea typeface="Calibri" pitchFamily="34" charset="-122"/>
                <a:cs typeface="Calibri" pitchFamily="34" charset="-120"/>
              </a:rPr>
              <a:t>2023</a:t>
            </a:r>
            <a:endParaRPr lang="en-US" sz="900" dirty="0"/>
          </a:p>
        </p:txBody>
      </p:sp>
      <p:sp>
        <p:nvSpPr>
          <p:cNvPr id="40" name="Text 38"/>
          <p:cNvSpPr/>
          <p:nvPr/>
        </p:nvSpPr>
        <p:spPr>
          <a:xfrm>
            <a:off x="6053328" y="2788920"/>
            <a:ext cx="1828800" cy="182880"/>
          </a:xfrm>
          <a:prstGeom prst="rect">
            <a:avLst/>
          </a:prstGeom>
          <a:noFill/>
          <a:ln/>
        </p:spPr>
        <p:txBody>
          <a:bodyPr wrap="square" lIns="0" tIns="0" rIns="0" bIns="0" rtlCol="0" anchor="ctr"/>
          <a:lstStyle/>
          <a:p>
            <a:pPr indent="0" marL="0">
              <a:buNone/>
            </a:pPr>
            <a:r>
              <a:rPr lang="en-US" sz="800" dirty="0">
                <a:solidFill>
                  <a:srgbClr val="97BC62"/>
                </a:solidFill>
                <a:latin typeface="Calibri" pitchFamily="34" charset="0"/>
                <a:ea typeface="Calibri" pitchFamily="34" charset="-122"/>
                <a:cs typeface="Calibri" pitchFamily="34" charset="-120"/>
              </a:rPr>
              <a:t>Xem chi tiết →</a:t>
            </a:r>
            <a:endParaRPr lang="en-US" sz="800" dirty="0"/>
          </a:p>
        </p:txBody>
      </p:sp>
      <p:sp>
        <p:nvSpPr>
          <p:cNvPr id="41" name="Shape 39"/>
          <p:cNvSpPr/>
          <p:nvPr/>
        </p:nvSpPr>
        <p:spPr>
          <a:xfrm>
            <a:off x="457200" y="3172968"/>
            <a:ext cx="2560320" cy="1508760"/>
          </a:xfrm>
          <a:prstGeom prst="rect">
            <a:avLst/>
          </a:prstGeom>
          <a:solidFill>
            <a:srgbClr val="0D2210"/>
          </a:solidFill>
          <a:ln w="12700">
            <a:solidFill>
              <a:srgbClr val="2D4A2F"/>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457200" y="3172968"/>
            <a:ext cx="2560320" cy="1005840"/>
          </a:xfrm>
          <a:prstGeom prst="rect">
            <a:avLst/>
          </a:prstGeom>
          <a:solidFill>
            <a:srgbClr val="1A3A1C"/>
          </a:solidFill>
          <a:ln w="12700">
            <a:solidFill>
              <a:srgbClr val="1A3A1C"/>
            </a:solidFill>
            <a:prstDash val="solid"/>
          </a:ln>
        </p:spPr>
      </p:sp>
      <p:sp>
        <p:nvSpPr>
          <p:cNvPr id="43" name="Text 41"/>
          <p:cNvSpPr/>
          <p:nvPr/>
        </p:nvSpPr>
        <p:spPr>
          <a:xfrm>
            <a:off x="457200" y="3172968"/>
            <a:ext cx="2560320" cy="10058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44" name="Shape 42"/>
          <p:cNvSpPr/>
          <p:nvPr/>
        </p:nvSpPr>
        <p:spPr>
          <a:xfrm>
            <a:off x="548640" y="3922776"/>
            <a:ext cx="731520" cy="182880"/>
          </a:xfrm>
          <a:prstGeom prst="rect">
            <a:avLst/>
          </a:prstGeom>
          <a:solidFill>
            <a:srgbClr val="328442"/>
          </a:solidFill>
          <a:ln w="12700">
            <a:solidFill>
              <a:srgbClr val="328442"/>
            </a:solidFill>
            <a:prstDash val="solid"/>
          </a:ln>
        </p:spPr>
      </p:sp>
      <p:sp>
        <p:nvSpPr>
          <p:cNvPr id="45" name="Text 43"/>
          <p:cNvSpPr/>
          <p:nvPr/>
        </p:nvSpPr>
        <p:spPr>
          <a:xfrm>
            <a:off x="548640" y="3922776"/>
            <a:ext cx="73152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Văn phòng</a:t>
            </a:r>
            <a:endParaRPr lang="en-US" sz="650" dirty="0"/>
          </a:p>
        </p:txBody>
      </p:sp>
      <p:sp>
        <p:nvSpPr>
          <p:cNvPr id="46" name="Text 44"/>
          <p:cNvSpPr/>
          <p:nvPr/>
        </p:nvSpPr>
        <p:spPr>
          <a:xfrm>
            <a:off x="566928" y="4197096"/>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Green Office</a:t>
            </a:r>
            <a:endParaRPr lang="en-US" sz="1000" dirty="0"/>
          </a:p>
        </p:txBody>
      </p:sp>
      <p:sp>
        <p:nvSpPr>
          <p:cNvPr id="47" name="Text 45"/>
          <p:cNvSpPr/>
          <p:nvPr/>
        </p:nvSpPr>
        <p:spPr>
          <a:xfrm>
            <a:off x="2560320" y="4197096"/>
            <a:ext cx="411480" cy="256032"/>
          </a:xfrm>
          <a:prstGeom prst="rect">
            <a:avLst/>
          </a:prstGeom>
          <a:noFill/>
          <a:ln/>
        </p:spPr>
        <p:txBody>
          <a:bodyPr wrap="square" lIns="0" tIns="0" rIns="0" bIns="0" rtlCol="0" anchor="ctr"/>
          <a:lstStyle/>
          <a:p>
            <a:pPr algn="r" indent="0" marL="0">
              <a:buNone/>
            </a:pPr>
            <a:r>
              <a:rPr lang="en-US" sz="900" dirty="0">
                <a:solidFill>
                  <a:srgbClr val="BE7B2B"/>
                </a:solidFill>
                <a:latin typeface="Calibri" pitchFamily="34" charset="0"/>
                <a:ea typeface="Calibri" pitchFamily="34" charset="-122"/>
                <a:cs typeface="Calibri" pitchFamily="34" charset="-120"/>
              </a:rPr>
              <a:t>2023</a:t>
            </a:r>
            <a:endParaRPr lang="en-US" sz="900" dirty="0"/>
          </a:p>
        </p:txBody>
      </p:sp>
      <p:sp>
        <p:nvSpPr>
          <p:cNvPr id="48" name="Text 46"/>
          <p:cNvSpPr/>
          <p:nvPr/>
        </p:nvSpPr>
        <p:spPr>
          <a:xfrm>
            <a:off x="566928" y="4453128"/>
            <a:ext cx="1828800" cy="182880"/>
          </a:xfrm>
          <a:prstGeom prst="rect">
            <a:avLst/>
          </a:prstGeom>
          <a:noFill/>
          <a:ln/>
        </p:spPr>
        <p:txBody>
          <a:bodyPr wrap="square" lIns="0" tIns="0" rIns="0" bIns="0" rtlCol="0" anchor="ctr"/>
          <a:lstStyle/>
          <a:p>
            <a:pPr indent="0" marL="0">
              <a:buNone/>
            </a:pPr>
            <a:r>
              <a:rPr lang="en-US" sz="800" dirty="0">
                <a:solidFill>
                  <a:srgbClr val="97BC62"/>
                </a:solidFill>
                <a:latin typeface="Calibri" pitchFamily="34" charset="0"/>
                <a:ea typeface="Calibri" pitchFamily="34" charset="-122"/>
                <a:cs typeface="Calibri" pitchFamily="34" charset="-120"/>
              </a:rPr>
              <a:t>Xem chi tiết →</a:t>
            </a:r>
            <a:endParaRPr lang="en-US" sz="800" dirty="0"/>
          </a:p>
        </p:txBody>
      </p:sp>
      <p:sp>
        <p:nvSpPr>
          <p:cNvPr id="49" name="Shape 47"/>
          <p:cNvSpPr/>
          <p:nvPr/>
        </p:nvSpPr>
        <p:spPr>
          <a:xfrm>
            <a:off x="3200400" y="3172968"/>
            <a:ext cx="2560320" cy="1508760"/>
          </a:xfrm>
          <a:prstGeom prst="rect">
            <a:avLst/>
          </a:prstGeom>
          <a:solidFill>
            <a:srgbClr val="0D2210"/>
          </a:solidFill>
          <a:ln w="12700">
            <a:solidFill>
              <a:srgbClr val="2D4A2F"/>
            </a:solidFill>
            <a:prstDash val="solid"/>
          </a:ln>
          <a:effectLst>
            <a:outerShdw sx="100000" sy="100000" kx="0" ky="0" algn="bl" rotWithShape="0" blurRad="101600" dist="38100" dir="8100000">
              <a:srgbClr val="000000">
                <a:alpha val="12000"/>
              </a:srgbClr>
            </a:outerShdw>
          </a:effectLst>
        </p:spPr>
      </p:sp>
      <p:sp>
        <p:nvSpPr>
          <p:cNvPr id="50" name="Shape 48"/>
          <p:cNvSpPr/>
          <p:nvPr/>
        </p:nvSpPr>
        <p:spPr>
          <a:xfrm>
            <a:off x="3200400" y="3172968"/>
            <a:ext cx="2560320" cy="1005840"/>
          </a:xfrm>
          <a:prstGeom prst="rect">
            <a:avLst/>
          </a:prstGeom>
          <a:solidFill>
            <a:srgbClr val="1A3A1C"/>
          </a:solidFill>
          <a:ln w="12700">
            <a:solidFill>
              <a:srgbClr val="1A3A1C"/>
            </a:solidFill>
            <a:prstDash val="solid"/>
          </a:ln>
        </p:spPr>
      </p:sp>
      <p:sp>
        <p:nvSpPr>
          <p:cNvPr id="51" name="Text 49"/>
          <p:cNvSpPr/>
          <p:nvPr/>
        </p:nvSpPr>
        <p:spPr>
          <a:xfrm>
            <a:off x="3200400" y="3172968"/>
            <a:ext cx="2560320" cy="10058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52" name="Shape 50"/>
          <p:cNvSpPr/>
          <p:nvPr/>
        </p:nvSpPr>
        <p:spPr>
          <a:xfrm>
            <a:off x="3291840" y="3922776"/>
            <a:ext cx="731520" cy="182880"/>
          </a:xfrm>
          <a:prstGeom prst="rect">
            <a:avLst/>
          </a:prstGeom>
          <a:solidFill>
            <a:srgbClr val="328442"/>
          </a:solidFill>
          <a:ln w="12700">
            <a:solidFill>
              <a:srgbClr val="328442"/>
            </a:solidFill>
            <a:prstDash val="solid"/>
          </a:ln>
        </p:spPr>
      </p:sp>
      <p:sp>
        <p:nvSpPr>
          <p:cNvPr id="53" name="Text 51"/>
          <p:cNvSpPr/>
          <p:nvPr/>
        </p:nvSpPr>
        <p:spPr>
          <a:xfrm>
            <a:off x="3291840" y="3922776"/>
            <a:ext cx="73152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Biệt thự</a:t>
            </a:r>
            <a:endParaRPr lang="en-US" sz="650" dirty="0"/>
          </a:p>
        </p:txBody>
      </p:sp>
      <p:sp>
        <p:nvSpPr>
          <p:cNvPr id="54" name="Text 52"/>
          <p:cNvSpPr/>
          <p:nvPr/>
        </p:nvSpPr>
        <p:spPr>
          <a:xfrm>
            <a:off x="3310128" y="4197096"/>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Flower Estate</a:t>
            </a:r>
            <a:endParaRPr lang="en-US" sz="1000" dirty="0"/>
          </a:p>
        </p:txBody>
      </p:sp>
      <p:sp>
        <p:nvSpPr>
          <p:cNvPr id="55" name="Text 53"/>
          <p:cNvSpPr/>
          <p:nvPr/>
        </p:nvSpPr>
        <p:spPr>
          <a:xfrm>
            <a:off x="5303520" y="4197096"/>
            <a:ext cx="411480" cy="256032"/>
          </a:xfrm>
          <a:prstGeom prst="rect">
            <a:avLst/>
          </a:prstGeom>
          <a:noFill/>
          <a:ln/>
        </p:spPr>
        <p:txBody>
          <a:bodyPr wrap="square" lIns="0" tIns="0" rIns="0" bIns="0" rtlCol="0" anchor="ctr"/>
          <a:lstStyle/>
          <a:p>
            <a:pPr algn="r" indent="0" marL="0">
              <a:buNone/>
            </a:pPr>
            <a:r>
              <a:rPr lang="en-US" sz="900" dirty="0">
                <a:solidFill>
                  <a:srgbClr val="BE7B2B"/>
                </a:solidFill>
                <a:latin typeface="Calibri" pitchFamily="34" charset="0"/>
                <a:ea typeface="Calibri" pitchFamily="34" charset="-122"/>
                <a:cs typeface="Calibri" pitchFamily="34" charset="-120"/>
              </a:rPr>
              <a:t>2023</a:t>
            </a:r>
            <a:endParaRPr lang="en-US" sz="900" dirty="0"/>
          </a:p>
        </p:txBody>
      </p:sp>
      <p:sp>
        <p:nvSpPr>
          <p:cNvPr id="56" name="Text 54"/>
          <p:cNvSpPr/>
          <p:nvPr/>
        </p:nvSpPr>
        <p:spPr>
          <a:xfrm>
            <a:off x="3310128" y="4453128"/>
            <a:ext cx="1828800" cy="182880"/>
          </a:xfrm>
          <a:prstGeom prst="rect">
            <a:avLst/>
          </a:prstGeom>
          <a:noFill/>
          <a:ln/>
        </p:spPr>
        <p:txBody>
          <a:bodyPr wrap="square" lIns="0" tIns="0" rIns="0" bIns="0" rtlCol="0" anchor="ctr"/>
          <a:lstStyle/>
          <a:p>
            <a:pPr indent="0" marL="0">
              <a:buNone/>
            </a:pPr>
            <a:r>
              <a:rPr lang="en-US" sz="800" dirty="0">
                <a:solidFill>
                  <a:srgbClr val="97BC62"/>
                </a:solidFill>
                <a:latin typeface="Calibri" pitchFamily="34" charset="0"/>
                <a:ea typeface="Calibri" pitchFamily="34" charset="-122"/>
                <a:cs typeface="Calibri" pitchFamily="34" charset="-120"/>
              </a:rPr>
              <a:t>Xem chi tiết →</a:t>
            </a:r>
            <a:endParaRPr lang="en-US" sz="800" dirty="0"/>
          </a:p>
        </p:txBody>
      </p:sp>
      <p:sp>
        <p:nvSpPr>
          <p:cNvPr id="57" name="Shape 55"/>
          <p:cNvSpPr/>
          <p:nvPr/>
        </p:nvSpPr>
        <p:spPr>
          <a:xfrm>
            <a:off x="5943600" y="3172968"/>
            <a:ext cx="2560320" cy="1508760"/>
          </a:xfrm>
          <a:prstGeom prst="rect">
            <a:avLst/>
          </a:prstGeom>
          <a:solidFill>
            <a:srgbClr val="0D2210"/>
          </a:solidFill>
          <a:ln w="12700">
            <a:solidFill>
              <a:srgbClr val="2D4A2F"/>
            </a:solidFill>
            <a:prstDash val="solid"/>
          </a:ln>
          <a:effectLst>
            <a:outerShdw sx="100000" sy="100000" kx="0" ky="0" algn="bl" rotWithShape="0" blurRad="101600" dist="38100" dir="8100000">
              <a:srgbClr val="000000">
                <a:alpha val="12000"/>
              </a:srgbClr>
            </a:outerShdw>
          </a:effectLst>
        </p:spPr>
      </p:sp>
      <p:sp>
        <p:nvSpPr>
          <p:cNvPr id="58" name="Shape 56"/>
          <p:cNvSpPr/>
          <p:nvPr/>
        </p:nvSpPr>
        <p:spPr>
          <a:xfrm>
            <a:off x="5943600" y="3172968"/>
            <a:ext cx="2560320" cy="1005840"/>
          </a:xfrm>
          <a:prstGeom prst="rect">
            <a:avLst/>
          </a:prstGeom>
          <a:solidFill>
            <a:srgbClr val="1A3A1C"/>
          </a:solidFill>
          <a:ln w="12700">
            <a:solidFill>
              <a:srgbClr val="1A3A1C"/>
            </a:solidFill>
            <a:prstDash val="solid"/>
          </a:ln>
        </p:spPr>
      </p:sp>
      <p:sp>
        <p:nvSpPr>
          <p:cNvPr id="59" name="Text 57"/>
          <p:cNvSpPr/>
          <p:nvPr/>
        </p:nvSpPr>
        <p:spPr>
          <a:xfrm>
            <a:off x="5943600" y="3172968"/>
            <a:ext cx="2560320" cy="10058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60" name="Shape 58"/>
          <p:cNvSpPr/>
          <p:nvPr/>
        </p:nvSpPr>
        <p:spPr>
          <a:xfrm>
            <a:off x="6035040" y="3922776"/>
            <a:ext cx="731520" cy="182880"/>
          </a:xfrm>
          <a:prstGeom prst="rect">
            <a:avLst/>
          </a:prstGeom>
          <a:solidFill>
            <a:srgbClr val="328442"/>
          </a:solidFill>
          <a:ln w="12700">
            <a:solidFill>
              <a:srgbClr val="328442"/>
            </a:solidFill>
            <a:prstDash val="solid"/>
          </a:ln>
        </p:spPr>
      </p:sp>
      <p:sp>
        <p:nvSpPr>
          <p:cNvPr id="61" name="Text 59"/>
          <p:cNvSpPr/>
          <p:nvPr/>
        </p:nvSpPr>
        <p:spPr>
          <a:xfrm>
            <a:off x="6035040" y="3922776"/>
            <a:ext cx="73152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Khu đô thị</a:t>
            </a:r>
            <a:endParaRPr lang="en-US" sz="650" dirty="0"/>
          </a:p>
        </p:txBody>
      </p:sp>
      <p:sp>
        <p:nvSpPr>
          <p:cNvPr id="62" name="Text 60"/>
          <p:cNvSpPr/>
          <p:nvPr/>
        </p:nvSpPr>
        <p:spPr>
          <a:xfrm>
            <a:off x="6053328" y="4197096"/>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Eco District</a:t>
            </a:r>
            <a:endParaRPr lang="en-US" sz="1000" dirty="0"/>
          </a:p>
        </p:txBody>
      </p:sp>
      <p:sp>
        <p:nvSpPr>
          <p:cNvPr id="63" name="Text 61"/>
          <p:cNvSpPr/>
          <p:nvPr/>
        </p:nvSpPr>
        <p:spPr>
          <a:xfrm>
            <a:off x="8046720" y="4197096"/>
            <a:ext cx="411480" cy="256032"/>
          </a:xfrm>
          <a:prstGeom prst="rect">
            <a:avLst/>
          </a:prstGeom>
          <a:noFill/>
          <a:ln/>
        </p:spPr>
        <p:txBody>
          <a:bodyPr wrap="square" lIns="0" tIns="0" rIns="0" bIns="0" rtlCol="0" anchor="ctr"/>
          <a:lstStyle/>
          <a:p>
            <a:pPr algn="r" indent="0" marL="0">
              <a:buNone/>
            </a:pPr>
            <a:r>
              <a:rPr lang="en-US" sz="900" dirty="0">
                <a:solidFill>
                  <a:srgbClr val="BE7B2B"/>
                </a:solidFill>
                <a:latin typeface="Calibri" pitchFamily="34" charset="0"/>
                <a:ea typeface="Calibri" pitchFamily="34" charset="-122"/>
                <a:cs typeface="Calibri" pitchFamily="34" charset="-120"/>
              </a:rPr>
              <a:t>2022</a:t>
            </a:r>
            <a:endParaRPr lang="en-US" sz="900" dirty="0"/>
          </a:p>
        </p:txBody>
      </p:sp>
      <p:sp>
        <p:nvSpPr>
          <p:cNvPr id="64" name="Text 62"/>
          <p:cNvSpPr/>
          <p:nvPr/>
        </p:nvSpPr>
        <p:spPr>
          <a:xfrm>
            <a:off x="6053328" y="4453128"/>
            <a:ext cx="1828800" cy="182880"/>
          </a:xfrm>
          <a:prstGeom prst="rect">
            <a:avLst/>
          </a:prstGeom>
          <a:noFill/>
          <a:ln/>
        </p:spPr>
        <p:txBody>
          <a:bodyPr wrap="square" lIns="0" tIns="0" rIns="0" bIns="0" rtlCol="0" anchor="ctr"/>
          <a:lstStyle/>
          <a:p>
            <a:pPr indent="0" marL="0">
              <a:buNone/>
            </a:pPr>
            <a:r>
              <a:rPr lang="en-US" sz="800" dirty="0">
                <a:solidFill>
                  <a:srgbClr val="97BC62"/>
                </a:solidFill>
                <a:latin typeface="Calibri" pitchFamily="34" charset="0"/>
                <a:ea typeface="Calibri" pitchFamily="34" charset="-122"/>
                <a:cs typeface="Calibri" pitchFamily="34" charset="-120"/>
              </a:rPr>
              <a:t>Xem chi tiết →</a:t>
            </a:r>
            <a:endParaRPr lang="en-US" sz="800" dirty="0"/>
          </a:p>
        </p:txBody>
      </p:sp>
      <p:sp>
        <p:nvSpPr>
          <p:cNvPr id="65" name="Shape 63"/>
          <p:cNvSpPr/>
          <p:nvPr/>
        </p:nvSpPr>
        <p:spPr>
          <a:xfrm>
            <a:off x="8412480" y="1508760"/>
            <a:ext cx="640080" cy="3200400"/>
          </a:xfrm>
          <a:prstGeom prst="rect">
            <a:avLst/>
          </a:prstGeom>
          <a:solidFill>
            <a:srgbClr val="0D2210"/>
          </a:solidFill>
          <a:ln w="12700">
            <a:solidFill>
              <a:srgbClr val="2D4A2F"/>
            </a:solidFill>
            <a:prstDash val="solid"/>
          </a:ln>
        </p:spPr>
      </p:sp>
      <p:sp>
        <p:nvSpPr>
          <p:cNvPr id="66" name="Text 64"/>
          <p:cNvSpPr/>
          <p:nvPr/>
        </p:nvSpPr>
        <p:spPr>
          <a:xfrm>
            <a:off x="8412480" y="1600200"/>
            <a:ext cx="640080" cy="347472"/>
          </a:xfrm>
          <a:prstGeom prst="rect">
            <a:avLst/>
          </a:prstGeom>
          <a:noFill/>
          <a:ln/>
        </p:spPr>
        <p:txBody>
          <a:bodyPr wrap="square" lIns="0" tIns="0" rIns="0" bIns="0" rtlCol="0" anchor="ctr"/>
          <a:lstStyle/>
          <a:p>
            <a:pPr algn="ctr" indent="0" marL="0">
              <a:buNone/>
            </a:pPr>
            <a:r>
              <a:rPr lang="en-US" sz="1300" b="1" dirty="0">
                <a:solidFill>
                  <a:srgbClr val="BE7B2B"/>
                </a:solidFill>
                <a:latin typeface="Georgia" pitchFamily="34" charset="0"/>
                <a:ea typeface="Georgia" pitchFamily="34" charset="-122"/>
                <a:cs typeface="Georgia" pitchFamily="34" charset="-120"/>
              </a:rPr>
              <a:t>24+</a:t>
            </a:r>
            <a:endParaRPr lang="en-US" sz="1300" dirty="0"/>
          </a:p>
        </p:txBody>
      </p:sp>
      <p:sp>
        <p:nvSpPr>
          <p:cNvPr id="67" name="Text 65"/>
          <p:cNvSpPr/>
          <p:nvPr/>
        </p:nvSpPr>
        <p:spPr>
          <a:xfrm>
            <a:off x="8412480" y="1920240"/>
            <a:ext cx="640080" cy="274320"/>
          </a:xfrm>
          <a:prstGeom prst="rect">
            <a:avLst/>
          </a:prstGeom>
          <a:noFill/>
          <a:ln/>
        </p:spPr>
        <p:txBody>
          <a:bodyPr wrap="square" lIns="0" tIns="0" rIns="0" bIns="0" rtlCol="0" anchor="ctr"/>
          <a:lstStyle/>
          <a:p>
            <a:pPr algn="ctr" indent="0" marL="0">
              <a:buNone/>
            </a:pPr>
            <a:r>
              <a:rPr lang="en-US" sz="650" dirty="0">
                <a:solidFill>
                  <a:srgbClr val="7AAA7C"/>
                </a:solidFill>
                <a:latin typeface="Calibri" pitchFamily="34" charset="0"/>
                <a:ea typeface="Calibri" pitchFamily="34" charset="-122"/>
                <a:cs typeface="Calibri" pitchFamily="34" charset="-120"/>
              </a:rPr>
              <a:t>Dự án</a:t>
            </a:r>
            <a:endParaRPr lang="en-US" sz="650" dirty="0"/>
          </a:p>
        </p:txBody>
      </p:sp>
      <p:sp>
        <p:nvSpPr>
          <p:cNvPr id="68" name="Text 66"/>
          <p:cNvSpPr/>
          <p:nvPr/>
        </p:nvSpPr>
        <p:spPr>
          <a:xfrm>
            <a:off x="8412480" y="2606040"/>
            <a:ext cx="640080" cy="347472"/>
          </a:xfrm>
          <a:prstGeom prst="rect">
            <a:avLst/>
          </a:prstGeom>
          <a:noFill/>
          <a:ln/>
        </p:spPr>
        <p:txBody>
          <a:bodyPr wrap="square" lIns="0" tIns="0" rIns="0" bIns="0" rtlCol="0" anchor="ctr"/>
          <a:lstStyle/>
          <a:p>
            <a:pPr algn="ctr" indent="0" marL="0">
              <a:buNone/>
            </a:pPr>
            <a:r>
              <a:rPr lang="en-US" sz="1300" b="1" dirty="0">
                <a:solidFill>
                  <a:srgbClr val="BE7B2B"/>
                </a:solidFill>
                <a:latin typeface="Georgia" pitchFamily="34" charset="0"/>
                <a:ea typeface="Georgia" pitchFamily="34" charset="-122"/>
                <a:cs typeface="Georgia" pitchFamily="34" charset="-120"/>
              </a:rPr>
              <a:t>5</a:t>
            </a:r>
            <a:endParaRPr lang="en-US" sz="1300" dirty="0"/>
          </a:p>
        </p:txBody>
      </p:sp>
      <p:sp>
        <p:nvSpPr>
          <p:cNvPr id="69" name="Text 67"/>
          <p:cNvSpPr/>
          <p:nvPr/>
        </p:nvSpPr>
        <p:spPr>
          <a:xfrm>
            <a:off x="8412480" y="2926080"/>
            <a:ext cx="640080" cy="274320"/>
          </a:xfrm>
          <a:prstGeom prst="rect">
            <a:avLst/>
          </a:prstGeom>
          <a:noFill/>
          <a:ln/>
        </p:spPr>
        <p:txBody>
          <a:bodyPr wrap="square" lIns="0" tIns="0" rIns="0" bIns="0" rtlCol="0" anchor="ctr"/>
          <a:lstStyle/>
          <a:p>
            <a:pPr algn="ctr" indent="0" marL="0">
              <a:buNone/>
            </a:pPr>
            <a:r>
              <a:rPr lang="en-US" sz="650" dirty="0">
                <a:solidFill>
                  <a:srgbClr val="7AAA7C"/>
                </a:solidFill>
                <a:latin typeface="Calibri" pitchFamily="34" charset="0"/>
                <a:ea typeface="Calibri" pitchFamily="34" charset="-122"/>
                <a:cs typeface="Calibri" pitchFamily="34" charset="-120"/>
              </a:rPr>
              <a:t>Danh mục</a:t>
            </a:r>
            <a:endParaRPr lang="en-US" sz="650" dirty="0"/>
          </a:p>
        </p:txBody>
      </p:sp>
      <p:sp>
        <p:nvSpPr>
          <p:cNvPr id="70" name="Text 68"/>
          <p:cNvSpPr/>
          <p:nvPr/>
        </p:nvSpPr>
        <p:spPr>
          <a:xfrm>
            <a:off x="8412480" y="3611880"/>
            <a:ext cx="640080" cy="347472"/>
          </a:xfrm>
          <a:prstGeom prst="rect">
            <a:avLst/>
          </a:prstGeom>
          <a:noFill/>
          <a:ln/>
        </p:spPr>
        <p:txBody>
          <a:bodyPr wrap="square" lIns="0" tIns="0" rIns="0" bIns="0" rtlCol="0" anchor="ctr"/>
          <a:lstStyle/>
          <a:p>
            <a:pPr algn="ctr" indent="0" marL="0">
              <a:buNone/>
            </a:pPr>
            <a:r>
              <a:rPr lang="en-US" sz="1300" b="1" dirty="0">
                <a:solidFill>
                  <a:srgbClr val="BE7B2B"/>
                </a:solidFill>
                <a:latin typeface="Georgia" pitchFamily="34" charset="0"/>
                <a:ea typeface="Georgia" pitchFamily="34" charset="-122"/>
                <a:cs typeface="Georgia" pitchFamily="34" charset="-120"/>
              </a:rPr>
              <a:t>10+</a:t>
            </a:r>
            <a:endParaRPr lang="en-US" sz="1300" dirty="0"/>
          </a:p>
        </p:txBody>
      </p:sp>
      <p:sp>
        <p:nvSpPr>
          <p:cNvPr id="71" name="Text 69"/>
          <p:cNvSpPr/>
          <p:nvPr/>
        </p:nvSpPr>
        <p:spPr>
          <a:xfrm>
            <a:off x="8412480" y="3931920"/>
            <a:ext cx="640080" cy="274320"/>
          </a:xfrm>
          <a:prstGeom prst="rect">
            <a:avLst/>
          </a:prstGeom>
          <a:noFill/>
          <a:ln/>
        </p:spPr>
        <p:txBody>
          <a:bodyPr wrap="square" lIns="0" tIns="0" rIns="0" bIns="0" rtlCol="0" anchor="ctr"/>
          <a:lstStyle/>
          <a:p>
            <a:pPr algn="ctr" indent="0" marL="0">
              <a:buNone/>
            </a:pPr>
            <a:r>
              <a:rPr lang="en-US" sz="650" dirty="0">
                <a:solidFill>
                  <a:srgbClr val="7AAA7C"/>
                </a:solidFill>
                <a:latin typeface="Calibri" pitchFamily="34" charset="0"/>
                <a:ea typeface="Calibri" pitchFamily="34" charset="-122"/>
                <a:cs typeface="Calibri" pitchFamily="34" charset="-120"/>
              </a:rPr>
              <a:t>Năm KN</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7130A"/>
          </a:solidFill>
          <a:ln w="12700">
            <a:solidFill>
              <a:srgbClr val="07130A"/>
            </a:solidFill>
            <a:prstDash val="solid"/>
          </a:ln>
        </p:spPr>
      </p:sp>
      <p:sp>
        <p:nvSpPr>
          <p:cNvPr id="3" name="Shape 1"/>
          <p:cNvSpPr/>
          <p:nvPr/>
        </p:nvSpPr>
        <p:spPr>
          <a:xfrm>
            <a:off x="0" y="914400"/>
            <a:ext cx="9144000" cy="54864"/>
          </a:xfrm>
          <a:prstGeom prst="rect">
            <a:avLst/>
          </a:prstGeom>
          <a:solidFill>
            <a:srgbClr val="BE7B2B"/>
          </a:solidFill>
          <a:ln w="12700">
            <a:solidFill>
              <a:srgbClr val="BE7B2B"/>
            </a:solidFill>
            <a:prstDash val="solid"/>
          </a:ln>
        </p:spPr>
      </p:sp>
      <p:sp>
        <p:nvSpPr>
          <p:cNvPr id="4" name="Text 2"/>
          <p:cNvSpPr/>
          <p:nvPr/>
        </p:nvSpPr>
        <p:spPr>
          <a:xfrm>
            <a:off x="457200" y="0"/>
            <a:ext cx="548640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ADMIN PANEL</a:t>
            </a:r>
            <a:endParaRPr lang="en-US" sz="2800" dirty="0"/>
          </a:p>
        </p:txBody>
      </p:sp>
      <p:sp>
        <p:nvSpPr>
          <p:cNvPr id="5" name="Text 3"/>
          <p:cNvSpPr/>
          <p:nvPr/>
        </p:nvSpPr>
        <p:spPr>
          <a:xfrm>
            <a:off x="5029200" y="0"/>
            <a:ext cx="3657600" cy="914400"/>
          </a:xfrm>
          <a:prstGeom prst="rect">
            <a:avLst/>
          </a:prstGeom>
          <a:noFill/>
          <a:ln/>
        </p:spPr>
        <p:txBody>
          <a:bodyPr wrap="square" lIns="0" tIns="0" rIns="0" bIns="0" rtlCol="0" anchor="ctr"/>
          <a:lstStyle/>
          <a:p>
            <a:pPr algn="r" indent="0" marL="0">
              <a:buNone/>
            </a:pPr>
            <a:r>
              <a:rPr lang="en-US" sz="1200" i="1" dirty="0">
                <a:solidFill>
                  <a:srgbClr val="BE7B2B"/>
                </a:solidFill>
                <a:latin typeface="Calibri" pitchFamily="34" charset="0"/>
                <a:ea typeface="Calibri" pitchFamily="34" charset="-122"/>
                <a:cs typeface="Calibri" pitchFamily="34" charset="-120"/>
              </a:rPr>
              <a:t>Hệ thống quản lý nội dung toàn diện</a:t>
            </a:r>
            <a:endParaRPr lang="en-US" sz="1200" dirty="0"/>
          </a:p>
        </p:txBody>
      </p:sp>
      <p:sp>
        <p:nvSpPr>
          <p:cNvPr id="6" name="Shape 4"/>
          <p:cNvSpPr/>
          <p:nvPr/>
        </p:nvSpPr>
        <p:spPr>
          <a:xfrm>
            <a:off x="365760" y="1097280"/>
            <a:ext cx="4572000" cy="3657600"/>
          </a:xfrm>
          <a:prstGeom prst="rect">
            <a:avLst/>
          </a:prstGeom>
          <a:solidFill>
            <a:srgbClr val="0D1F0F"/>
          </a:solidFill>
          <a:ln w="19050">
            <a:solidFill>
              <a:srgbClr val="328442"/>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097280"/>
            <a:ext cx="1097280" cy="3657600"/>
          </a:xfrm>
          <a:prstGeom prst="rect">
            <a:avLst/>
          </a:prstGeom>
          <a:solidFill>
            <a:srgbClr val="0A1A0C"/>
          </a:solidFill>
          <a:ln w="12700">
            <a:solidFill>
              <a:srgbClr val="0A1A0C"/>
            </a:solidFill>
            <a:prstDash val="solid"/>
          </a:ln>
        </p:spPr>
      </p:sp>
      <p:sp>
        <p:nvSpPr>
          <p:cNvPr id="8" name="Text 6"/>
          <p:cNvSpPr/>
          <p:nvPr/>
        </p:nvSpPr>
        <p:spPr>
          <a:xfrm>
            <a:off x="411480" y="1143000"/>
            <a:ext cx="1005840" cy="347472"/>
          </a:xfrm>
          <a:prstGeom prst="rect">
            <a:avLst/>
          </a:prstGeom>
          <a:noFill/>
          <a:ln/>
        </p:spPr>
        <p:txBody>
          <a:bodyPr wrap="square" lIns="0" tIns="0" rIns="0" bIns="0" rtlCol="0" anchor="ctr"/>
          <a:lstStyle/>
          <a:p>
            <a:pPr algn="ctr" indent="0" marL="0">
              <a:buNone/>
            </a:pPr>
            <a:r>
              <a:rPr lang="en-US" sz="1300" b="1" dirty="0">
                <a:solidFill>
                  <a:srgbClr val="328442"/>
                </a:solidFill>
                <a:latin typeface="Georgia" pitchFamily="34" charset="0"/>
                <a:ea typeface="Georgia" pitchFamily="34" charset="-122"/>
                <a:cs typeface="Georgia" pitchFamily="34" charset="-120"/>
              </a:rPr>
              <a:t>FAM</a:t>
            </a:r>
            <a:endParaRPr lang="en-US" sz="1300" dirty="0"/>
          </a:p>
        </p:txBody>
      </p:sp>
      <p:sp>
        <p:nvSpPr>
          <p:cNvPr id="9" name="Text 7"/>
          <p:cNvSpPr/>
          <p:nvPr/>
        </p:nvSpPr>
        <p:spPr>
          <a:xfrm>
            <a:off x="411480" y="1572768"/>
            <a:ext cx="1005840" cy="329184"/>
          </a:xfrm>
          <a:prstGeom prst="rect">
            <a:avLst/>
          </a:prstGeom>
          <a:noFill/>
          <a:ln/>
        </p:spPr>
        <p:txBody>
          <a:bodyPr wrap="square" lIns="0" tIns="0" rIns="0" bIns="0" rtlCol="0" anchor="ctr"/>
          <a:lstStyle/>
          <a:p>
            <a:pPr algn="l" indent="0" marL="0">
              <a:buNone/>
            </a:pPr>
            <a:r>
              <a:rPr lang="en-US" sz="800" dirty="0">
                <a:solidFill>
                  <a:srgbClr val="5A7A5C"/>
                </a:solidFill>
                <a:latin typeface="Calibri" pitchFamily="34" charset="0"/>
                <a:ea typeface="Calibri" pitchFamily="34" charset="-122"/>
                <a:cs typeface="Calibri" pitchFamily="34" charset="-120"/>
              </a:rPr>
              <a:t>📊 Dashboard</a:t>
            </a:r>
            <a:endParaRPr lang="en-US" sz="800" dirty="0"/>
          </a:p>
        </p:txBody>
      </p:sp>
      <p:sp>
        <p:nvSpPr>
          <p:cNvPr id="10" name="Shape 8"/>
          <p:cNvSpPr/>
          <p:nvPr/>
        </p:nvSpPr>
        <p:spPr>
          <a:xfrm>
            <a:off x="365760" y="1975104"/>
            <a:ext cx="1097280" cy="365760"/>
          </a:xfrm>
          <a:prstGeom prst="rect">
            <a:avLst/>
          </a:prstGeom>
          <a:solidFill>
            <a:srgbClr val="328442"/>
          </a:solidFill>
          <a:ln w="12700">
            <a:solidFill>
              <a:srgbClr val="328442"/>
            </a:solidFill>
            <a:prstDash val="solid"/>
          </a:ln>
        </p:spPr>
      </p:sp>
      <p:sp>
        <p:nvSpPr>
          <p:cNvPr id="11" name="Text 9"/>
          <p:cNvSpPr/>
          <p:nvPr/>
        </p:nvSpPr>
        <p:spPr>
          <a:xfrm>
            <a:off x="411480" y="1993392"/>
            <a:ext cx="1005840" cy="329184"/>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 Dự án</a:t>
            </a:r>
            <a:endParaRPr lang="en-US" sz="800" dirty="0"/>
          </a:p>
        </p:txBody>
      </p:sp>
      <p:sp>
        <p:nvSpPr>
          <p:cNvPr id="12" name="Text 10"/>
          <p:cNvSpPr/>
          <p:nvPr/>
        </p:nvSpPr>
        <p:spPr>
          <a:xfrm>
            <a:off x="411480" y="2414016"/>
            <a:ext cx="1005840" cy="329184"/>
          </a:xfrm>
          <a:prstGeom prst="rect">
            <a:avLst/>
          </a:prstGeom>
          <a:noFill/>
          <a:ln/>
        </p:spPr>
        <p:txBody>
          <a:bodyPr wrap="square" lIns="0" tIns="0" rIns="0" bIns="0" rtlCol="0" anchor="ctr"/>
          <a:lstStyle/>
          <a:p>
            <a:pPr algn="l" indent="0" marL="0">
              <a:buNone/>
            </a:pPr>
            <a:r>
              <a:rPr lang="en-US" sz="800" dirty="0">
                <a:solidFill>
                  <a:srgbClr val="5A7A5C"/>
                </a:solidFill>
                <a:latin typeface="Calibri" pitchFamily="34" charset="0"/>
                <a:ea typeface="Calibri" pitchFamily="34" charset="-122"/>
                <a:cs typeface="Calibri" pitchFamily="34" charset="-120"/>
              </a:rPr>
              <a:t>📰 Tin tức</a:t>
            </a:r>
            <a:endParaRPr lang="en-US" sz="800" dirty="0"/>
          </a:p>
        </p:txBody>
      </p:sp>
      <p:sp>
        <p:nvSpPr>
          <p:cNvPr id="13" name="Text 11"/>
          <p:cNvSpPr/>
          <p:nvPr/>
        </p:nvSpPr>
        <p:spPr>
          <a:xfrm>
            <a:off x="411480" y="2834640"/>
            <a:ext cx="1005840" cy="329184"/>
          </a:xfrm>
          <a:prstGeom prst="rect">
            <a:avLst/>
          </a:prstGeom>
          <a:noFill/>
          <a:ln/>
        </p:spPr>
        <p:txBody>
          <a:bodyPr wrap="square" lIns="0" tIns="0" rIns="0" bIns="0" rtlCol="0" anchor="ctr"/>
          <a:lstStyle/>
          <a:p>
            <a:pPr algn="l" indent="0" marL="0">
              <a:buNone/>
            </a:pPr>
            <a:r>
              <a:rPr lang="en-US" sz="800" dirty="0">
                <a:solidFill>
                  <a:srgbClr val="5A7A5C"/>
                </a:solidFill>
                <a:latin typeface="Calibri" pitchFamily="34" charset="0"/>
                <a:ea typeface="Calibri" pitchFamily="34" charset="-122"/>
                <a:cs typeface="Calibri" pitchFamily="34" charset="-120"/>
              </a:rPr>
              <a:t>🤝 Đối tác</a:t>
            </a:r>
            <a:endParaRPr lang="en-US" sz="800" dirty="0"/>
          </a:p>
        </p:txBody>
      </p:sp>
      <p:sp>
        <p:nvSpPr>
          <p:cNvPr id="14" name="Text 12"/>
          <p:cNvSpPr/>
          <p:nvPr/>
        </p:nvSpPr>
        <p:spPr>
          <a:xfrm>
            <a:off x="411480" y="3255264"/>
            <a:ext cx="1005840" cy="329184"/>
          </a:xfrm>
          <a:prstGeom prst="rect">
            <a:avLst/>
          </a:prstGeom>
          <a:noFill/>
          <a:ln/>
        </p:spPr>
        <p:txBody>
          <a:bodyPr wrap="square" lIns="0" tIns="0" rIns="0" bIns="0" rtlCol="0" anchor="ctr"/>
          <a:lstStyle/>
          <a:p>
            <a:pPr algn="l" indent="0" marL="0">
              <a:buNone/>
            </a:pPr>
            <a:r>
              <a:rPr lang="en-US" sz="800" dirty="0">
                <a:solidFill>
                  <a:srgbClr val="5A7A5C"/>
                </a:solidFill>
                <a:latin typeface="Calibri" pitchFamily="34" charset="0"/>
                <a:ea typeface="Calibri" pitchFamily="34" charset="-122"/>
                <a:cs typeface="Calibri" pitchFamily="34" charset="-120"/>
              </a:rPr>
              <a:t>⏱️ Timeline</a:t>
            </a:r>
            <a:endParaRPr lang="en-US" sz="800" dirty="0"/>
          </a:p>
        </p:txBody>
      </p:sp>
      <p:sp>
        <p:nvSpPr>
          <p:cNvPr id="15" name="Text 13"/>
          <p:cNvSpPr/>
          <p:nvPr/>
        </p:nvSpPr>
        <p:spPr>
          <a:xfrm>
            <a:off x="411480" y="3675888"/>
            <a:ext cx="1005840" cy="329184"/>
          </a:xfrm>
          <a:prstGeom prst="rect">
            <a:avLst/>
          </a:prstGeom>
          <a:noFill/>
          <a:ln/>
        </p:spPr>
        <p:txBody>
          <a:bodyPr wrap="square" lIns="0" tIns="0" rIns="0" bIns="0" rtlCol="0" anchor="ctr"/>
          <a:lstStyle/>
          <a:p>
            <a:pPr algn="l" indent="0" marL="0">
              <a:buNone/>
            </a:pPr>
            <a:r>
              <a:rPr lang="en-US" sz="800" dirty="0">
                <a:solidFill>
                  <a:srgbClr val="5A7A5C"/>
                </a:solidFill>
                <a:latin typeface="Calibri" pitchFamily="34" charset="0"/>
                <a:ea typeface="Calibri" pitchFamily="34" charset="-122"/>
                <a:cs typeface="Calibri" pitchFamily="34" charset="-120"/>
              </a:rPr>
              <a:t>⚙️ Cài đặt</a:t>
            </a:r>
            <a:endParaRPr lang="en-US" sz="800" dirty="0"/>
          </a:p>
        </p:txBody>
      </p:sp>
      <p:sp>
        <p:nvSpPr>
          <p:cNvPr id="16" name="Shape 14"/>
          <p:cNvSpPr/>
          <p:nvPr/>
        </p:nvSpPr>
        <p:spPr>
          <a:xfrm>
            <a:off x="1463040" y="1097280"/>
            <a:ext cx="3474720" cy="347472"/>
          </a:xfrm>
          <a:prstGeom prst="rect">
            <a:avLst/>
          </a:prstGeom>
          <a:solidFill>
            <a:srgbClr val="1A3A1C"/>
          </a:solidFill>
          <a:ln w="12700">
            <a:solidFill>
              <a:srgbClr val="1A3A1C"/>
            </a:solidFill>
            <a:prstDash val="solid"/>
          </a:ln>
        </p:spPr>
      </p:sp>
      <p:sp>
        <p:nvSpPr>
          <p:cNvPr id="17" name="Text 15"/>
          <p:cNvSpPr/>
          <p:nvPr/>
        </p:nvSpPr>
        <p:spPr>
          <a:xfrm>
            <a:off x="1508760" y="1124712"/>
            <a:ext cx="3383280" cy="292608"/>
          </a:xfrm>
          <a:prstGeom prst="rect">
            <a:avLst/>
          </a:prstGeom>
          <a:noFill/>
          <a:ln/>
        </p:spPr>
        <p:txBody>
          <a:bodyPr wrap="square" lIns="0" tIns="0" rIns="0" bIns="0" rtlCol="0" anchor="ctr"/>
          <a:lstStyle/>
          <a:p>
            <a:pPr indent="0" marL="0">
              <a:buNone/>
            </a:pPr>
            <a:r>
              <a:rPr lang="en-US" sz="900" dirty="0">
                <a:solidFill>
                  <a:srgbClr val="7AAA7C"/>
                </a:solidFill>
                <a:latin typeface="Calibri" pitchFamily="34" charset="0"/>
                <a:ea typeface="Calibri" pitchFamily="34" charset="-122"/>
                <a:cs typeface="Calibri" pitchFamily="34" charset="-120"/>
              </a:rPr>
              <a:t>Quản lý Dự Án  /  + Thêm mới</a:t>
            </a:r>
            <a:endParaRPr lang="en-US" sz="900" dirty="0"/>
          </a:p>
        </p:txBody>
      </p:sp>
      <p:sp>
        <p:nvSpPr>
          <p:cNvPr id="18" name="Shape 16"/>
          <p:cNvSpPr/>
          <p:nvPr/>
        </p:nvSpPr>
        <p:spPr>
          <a:xfrm>
            <a:off x="1508760" y="1508760"/>
            <a:ext cx="713232" cy="228600"/>
          </a:xfrm>
          <a:prstGeom prst="rect">
            <a:avLst/>
          </a:prstGeom>
          <a:solidFill>
            <a:srgbClr val="328442"/>
          </a:solidFill>
          <a:ln w="12700">
            <a:solidFill>
              <a:srgbClr val="328442"/>
            </a:solidFill>
            <a:prstDash val="solid"/>
          </a:ln>
        </p:spPr>
      </p:sp>
      <p:sp>
        <p:nvSpPr>
          <p:cNvPr id="19" name="Text 17"/>
          <p:cNvSpPr/>
          <p:nvPr/>
        </p:nvSpPr>
        <p:spPr>
          <a:xfrm>
            <a:off x="1508760" y="1508760"/>
            <a:ext cx="713232" cy="228600"/>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Tất cả</a:t>
            </a:r>
            <a:endParaRPr lang="en-US" sz="700" dirty="0"/>
          </a:p>
        </p:txBody>
      </p:sp>
      <p:sp>
        <p:nvSpPr>
          <p:cNvPr id="20" name="Shape 18"/>
          <p:cNvSpPr/>
          <p:nvPr/>
        </p:nvSpPr>
        <p:spPr>
          <a:xfrm>
            <a:off x="2286000" y="1508760"/>
            <a:ext cx="713232" cy="228600"/>
          </a:xfrm>
          <a:prstGeom prst="rect">
            <a:avLst/>
          </a:prstGeom>
          <a:solidFill>
            <a:srgbClr val="1A3A1C"/>
          </a:solidFill>
          <a:ln w="12700">
            <a:solidFill>
              <a:srgbClr val="2D4A2F"/>
            </a:solidFill>
            <a:prstDash val="solid"/>
          </a:ln>
        </p:spPr>
      </p:sp>
      <p:sp>
        <p:nvSpPr>
          <p:cNvPr id="21" name="Text 19"/>
          <p:cNvSpPr/>
          <p:nvPr/>
        </p:nvSpPr>
        <p:spPr>
          <a:xfrm>
            <a:off x="2286000" y="1508760"/>
            <a:ext cx="713232" cy="228600"/>
          </a:xfrm>
          <a:prstGeom prst="rect">
            <a:avLst/>
          </a:prstGeom>
          <a:noFill/>
          <a:ln/>
        </p:spPr>
        <p:txBody>
          <a:bodyPr wrap="square" lIns="0" tIns="0" rIns="0" bIns="0" rtlCol="0" anchor="ctr"/>
          <a:lstStyle/>
          <a:p>
            <a:pPr algn="ctr" indent="0" marL="0">
              <a:buNone/>
            </a:pPr>
            <a:r>
              <a:rPr lang="en-US" sz="700" dirty="0">
                <a:solidFill>
                  <a:srgbClr val="7AAA7C"/>
                </a:solidFill>
                <a:latin typeface="Calibri" pitchFamily="34" charset="0"/>
                <a:ea typeface="Calibri" pitchFamily="34" charset="-122"/>
                <a:cs typeface="Calibri" pitchFamily="34" charset="-120"/>
              </a:rPr>
              <a:t>Nổi bật</a:t>
            </a:r>
            <a:endParaRPr lang="en-US" sz="700" dirty="0"/>
          </a:p>
        </p:txBody>
      </p:sp>
      <p:sp>
        <p:nvSpPr>
          <p:cNvPr id="22" name="Shape 20"/>
          <p:cNvSpPr/>
          <p:nvPr/>
        </p:nvSpPr>
        <p:spPr>
          <a:xfrm>
            <a:off x="3063240" y="1508760"/>
            <a:ext cx="713232" cy="228600"/>
          </a:xfrm>
          <a:prstGeom prst="rect">
            <a:avLst/>
          </a:prstGeom>
          <a:solidFill>
            <a:srgbClr val="1A3A1C"/>
          </a:solidFill>
          <a:ln w="12700">
            <a:solidFill>
              <a:srgbClr val="2D4A2F"/>
            </a:solidFill>
            <a:prstDash val="solid"/>
          </a:ln>
        </p:spPr>
      </p:sp>
      <p:sp>
        <p:nvSpPr>
          <p:cNvPr id="23" name="Text 21"/>
          <p:cNvSpPr/>
          <p:nvPr/>
        </p:nvSpPr>
        <p:spPr>
          <a:xfrm>
            <a:off x="3063240" y="1508760"/>
            <a:ext cx="713232" cy="228600"/>
          </a:xfrm>
          <a:prstGeom prst="rect">
            <a:avLst/>
          </a:prstGeom>
          <a:noFill/>
          <a:ln/>
        </p:spPr>
        <p:txBody>
          <a:bodyPr wrap="square" lIns="0" tIns="0" rIns="0" bIns="0" rtlCol="0" anchor="ctr"/>
          <a:lstStyle/>
          <a:p>
            <a:pPr algn="ctr" indent="0" marL="0">
              <a:buNone/>
            </a:pPr>
            <a:r>
              <a:rPr lang="en-US" sz="700" dirty="0">
                <a:solidFill>
                  <a:srgbClr val="7AAA7C"/>
                </a:solidFill>
                <a:latin typeface="Calibri" pitchFamily="34" charset="0"/>
                <a:ea typeface="Calibri" pitchFamily="34" charset="-122"/>
                <a:cs typeface="Calibri" pitchFamily="34" charset="-120"/>
              </a:rPr>
              <a:t>Ẩn</a:t>
            </a:r>
            <a:endParaRPr lang="en-US" sz="700" dirty="0"/>
          </a:p>
        </p:txBody>
      </p:sp>
      <p:sp>
        <p:nvSpPr>
          <p:cNvPr id="24" name="Shape 22"/>
          <p:cNvSpPr/>
          <p:nvPr/>
        </p:nvSpPr>
        <p:spPr>
          <a:xfrm>
            <a:off x="1508760" y="1828800"/>
            <a:ext cx="1280160" cy="228600"/>
          </a:xfrm>
          <a:prstGeom prst="rect">
            <a:avLst/>
          </a:prstGeom>
          <a:solidFill>
            <a:srgbClr val="1A3A1C"/>
          </a:solidFill>
          <a:ln w="12700">
            <a:solidFill>
              <a:srgbClr val="1A3A1C"/>
            </a:solidFill>
            <a:prstDash val="solid"/>
          </a:ln>
        </p:spPr>
      </p:sp>
      <p:sp>
        <p:nvSpPr>
          <p:cNvPr id="25" name="Text 23"/>
          <p:cNvSpPr/>
          <p:nvPr/>
        </p:nvSpPr>
        <p:spPr>
          <a:xfrm>
            <a:off x="1554480" y="1847088"/>
            <a:ext cx="1234440" cy="192024"/>
          </a:xfrm>
          <a:prstGeom prst="rect">
            <a:avLst/>
          </a:prstGeom>
          <a:noFill/>
          <a:ln/>
        </p:spPr>
        <p:txBody>
          <a:bodyPr wrap="square" lIns="0" tIns="0" rIns="0" bIns="0" rtlCol="0" anchor="ctr"/>
          <a:lstStyle/>
          <a:p>
            <a:pPr indent="0" marL="0">
              <a:buNone/>
            </a:pPr>
            <a:r>
              <a:rPr lang="en-US" sz="750" b="1" dirty="0">
                <a:solidFill>
                  <a:srgbClr val="7AAA7C"/>
                </a:solidFill>
                <a:latin typeface="Calibri" pitchFamily="34" charset="0"/>
                <a:ea typeface="Calibri" pitchFamily="34" charset="-122"/>
                <a:cs typeface="Calibri" pitchFamily="34" charset="-120"/>
              </a:rPr>
              <a:t>Tên dự án</a:t>
            </a:r>
            <a:endParaRPr lang="en-US" sz="750" dirty="0"/>
          </a:p>
        </p:txBody>
      </p:sp>
      <p:sp>
        <p:nvSpPr>
          <p:cNvPr id="26" name="Shape 24"/>
          <p:cNvSpPr/>
          <p:nvPr/>
        </p:nvSpPr>
        <p:spPr>
          <a:xfrm>
            <a:off x="2816352" y="1828800"/>
            <a:ext cx="731520" cy="228600"/>
          </a:xfrm>
          <a:prstGeom prst="rect">
            <a:avLst/>
          </a:prstGeom>
          <a:solidFill>
            <a:srgbClr val="1A3A1C"/>
          </a:solidFill>
          <a:ln w="12700">
            <a:solidFill>
              <a:srgbClr val="1A3A1C"/>
            </a:solidFill>
            <a:prstDash val="solid"/>
          </a:ln>
        </p:spPr>
      </p:sp>
      <p:sp>
        <p:nvSpPr>
          <p:cNvPr id="27" name="Text 25"/>
          <p:cNvSpPr/>
          <p:nvPr/>
        </p:nvSpPr>
        <p:spPr>
          <a:xfrm>
            <a:off x="2862072" y="1847088"/>
            <a:ext cx="685800" cy="192024"/>
          </a:xfrm>
          <a:prstGeom prst="rect">
            <a:avLst/>
          </a:prstGeom>
          <a:noFill/>
          <a:ln/>
        </p:spPr>
        <p:txBody>
          <a:bodyPr wrap="square" lIns="0" tIns="0" rIns="0" bIns="0" rtlCol="0" anchor="ctr"/>
          <a:lstStyle/>
          <a:p>
            <a:pPr indent="0" marL="0">
              <a:buNone/>
            </a:pPr>
            <a:r>
              <a:rPr lang="en-US" sz="750" b="1" dirty="0">
                <a:solidFill>
                  <a:srgbClr val="7AAA7C"/>
                </a:solidFill>
                <a:latin typeface="Calibri" pitchFamily="34" charset="0"/>
                <a:ea typeface="Calibri" pitchFamily="34" charset="-122"/>
                <a:cs typeface="Calibri" pitchFamily="34" charset="-120"/>
              </a:rPr>
              <a:t>Danh mục</a:t>
            </a:r>
            <a:endParaRPr lang="en-US" sz="750" dirty="0"/>
          </a:p>
        </p:txBody>
      </p:sp>
      <p:sp>
        <p:nvSpPr>
          <p:cNvPr id="28" name="Shape 26"/>
          <p:cNvSpPr/>
          <p:nvPr/>
        </p:nvSpPr>
        <p:spPr>
          <a:xfrm>
            <a:off x="3547872" y="1828800"/>
            <a:ext cx="658368" cy="228600"/>
          </a:xfrm>
          <a:prstGeom prst="rect">
            <a:avLst/>
          </a:prstGeom>
          <a:solidFill>
            <a:srgbClr val="1A3A1C"/>
          </a:solidFill>
          <a:ln w="12700">
            <a:solidFill>
              <a:srgbClr val="1A3A1C"/>
            </a:solidFill>
            <a:prstDash val="solid"/>
          </a:ln>
        </p:spPr>
      </p:sp>
      <p:sp>
        <p:nvSpPr>
          <p:cNvPr id="29" name="Text 27"/>
          <p:cNvSpPr/>
          <p:nvPr/>
        </p:nvSpPr>
        <p:spPr>
          <a:xfrm>
            <a:off x="3593592" y="1847088"/>
            <a:ext cx="612648" cy="192024"/>
          </a:xfrm>
          <a:prstGeom prst="rect">
            <a:avLst/>
          </a:prstGeom>
          <a:noFill/>
          <a:ln/>
        </p:spPr>
        <p:txBody>
          <a:bodyPr wrap="square" lIns="0" tIns="0" rIns="0" bIns="0" rtlCol="0" anchor="ctr"/>
          <a:lstStyle/>
          <a:p>
            <a:pPr indent="0" marL="0">
              <a:buNone/>
            </a:pPr>
            <a:r>
              <a:rPr lang="en-US" sz="750" b="1" dirty="0">
                <a:solidFill>
                  <a:srgbClr val="7AAA7C"/>
                </a:solidFill>
                <a:latin typeface="Calibri" pitchFamily="34" charset="0"/>
                <a:ea typeface="Calibri" pitchFamily="34" charset="-122"/>
                <a:cs typeface="Calibri" pitchFamily="34" charset="-120"/>
              </a:rPr>
              <a:t>Trạng thái</a:t>
            </a:r>
            <a:endParaRPr lang="en-US" sz="750" dirty="0"/>
          </a:p>
        </p:txBody>
      </p:sp>
      <p:sp>
        <p:nvSpPr>
          <p:cNvPr id="30" name="Shape 28"/>
          <p:cNvSpPr/>
          <p:nvPr/>
        </p:nvSpPr>
        <p:spPr>
          <a:xfrm>
            <a:off x="4206240" y="1828800"/>
            <a:ext cx="594360" cy="228600"/>
          </a:xfrm>
          <a:prstGeom prst="rect">
            <a:avLst/>
          </a:prstGeom>
          <a:solidFill>
            <a:srgbClr val="1A3A1C"/>
          </a:solidFill>
          <a:ln w="12700">
            <a:solidFill>
              <a:srgbClr val="1A3A1C"/>
            </a:solidFill>
            <a:prstDash val="solid"/>
          </a:ln>
        </p:spPr>
      </p:sp>
      <p:sp>
        <p:nvSpPr>
          <p:cNvPr id="31" name="Text 29"/>
          <p:cNvSpPr/>
          <p:nvPr/>
        </p:nvSpPr>
        <p:spPr>
          <a:xfrm>
            <a:off x="4251960" y="1847088"/>
            <a:ext cx="548640" cy="192024"/>
          </a:xfrm>
          <a:prstGeom prst="rect">
            <a:avLst/>
          </a:prstGeom>
          <a:noFill/>
          <a:ln/>
        </p:spPr>
        <p:txBody>
          <a:bodyPr wrap="square" lIns="0" tIns="0" rIns="0" bIns="0" rtlCol="0" anchor="ctr"/>
          <a:lstStyle/>
          <a:p>
            <a:pPr indent="0" marL="0">
              <a:buNone/>
            </a:pPr>
            <a:r>
              <a:rPr lang="en-US" sz="750" b="1" dirty="0">
                <a:solidFill>
                  <a:srgbClr val="7AAA7C"/>
                </a:solidFill>
                <a:latin typeface="Calibri" pitchFamily="34" charset="0"/>
                <a:ea typeface="Calibri" pitchFamily="34" charset="-122"/>
                <a:cs typeface="Calibri" pitchFamily="34" charset="-120"/>
              </a:rPr>
              <a:t>Hành động</a:t>
            </a:r>
            <a:endParaRPr lang="en-US" sz="750" dirty="0"/>
          </a:p>
        </p:txBody>
      </p:sp>
      <p:sp>
        <p:nvSpPr>
          <p:cNvPr id="32" name="Shape 30"/>
          <p:cNvSpPr/>
          <p:nvPr/>
        </p:nvSpPr>
        <p:spPr>
          <a:xfrm>
            <a:off x="1508760" y="2103120"/>
            <a:ext cx="3383280" cy="347472"/>
          </a:xfrm>
          <a:prstGeom prst="rect">
            <a:avLst/>
          </a:prstGeom>
          <a:solidFill>
            <a:srgbClr val="0D2210"/>
          </a:solidFill>
          <a:ln w="6350">
            <a:solidFill>
              <a:srgbClr val="1A3A1C"/>
            </a:solidFill>
            <a:prstDash val="solid"/>
          </a:ln>
        </p:spPr>
      </p:sp>
      <p:sp>
        <p:nvSpPr>
          <p:cNvPr id="33" name="Text 31"/>
          <p:cNvSpPr/>
          <p:nvPr/>
        </p:nvSpPr>
        <p:spPr>
          <a:xfrm>
            <a:off x="1554480" y="2148840"/>
            <a:ext cx="1234440"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Villa Xanh Đà Lạt</a:t>
            </a:r>
            <a:endParaRPr lang="en-US" sz="800" dirty="0"/>
          </a:p>
        </p:txBody>
      </p:sp>
      <p:sp>
        <p:nvSpPr>
          <p:cNvPr id="34" name="Text 32"/>
          <p:cNvSpPr/>
          <p:nvPr/>
        </p:nvSpPr>
        <p:spPr>
          <a:xfrm>
            <a:off x="2834640" y="2148840"/>
            <a:ext cx="713232" cy="256032"/>
          </a:xfrm>
          <a:prstGeom prst="rect">
            <a:avLst/>
          </a:prstGeom>
          <a:noFill/>
          <a:ln/>
        </p:spPr>
        <p:txBody>
          <a:bodyPr wrap="square" lIns="0" tIns="0" rIns="0" bIns="0" rtlCol="0" anchor="ctr"/>
          <a:lstStyle/>
          <a:p>
            <a:pPr indent="0" marL="0">
              <a:buNone/>
            </a:pPr>
            <a:r>
              <a:rPr lang="en-US" sz="750" dirty="0">
                <a:solidFill>
                  <a:srgbClr val="7AAA7C"/>
                </a:solidFill>
                <a:latin typeface="Calibri" pitchFamily="34" charset="0"/>
                <a:ea typeface="Calibri" pitchFamily="34" charset="-122"/>
                <a:cs typeface="Calibri" pitchFamily="34" charset="-120"/>
              </a:rPr>
              <a:t>Biệt thự</a:t>
            </a:r>
            <a:endParaRPr lang="en-US" sz="750" dirty="0"/>
          </a:p>
        </p:txBody>
      </p:sp>
      <p:sp>
        <p:nvSpPr>
          <p:cNvPr id="35" name="Shape 33"/>
          <p:cNvSpPr/>
          <p:nvPr/>
        </p:nvSpPr>
        <p:spPr>
          <a:xfrm>
            <a:off x="3566160" y="2212848"/>
            <a:ext cx="109728" cy="109728"/>
          </a:xfrm>
          <a:prstGeom prst="ellipse">
            <a:avLst/>
          </a:prstGeom>
          <a:solidFill>
            <a:srgbClr val="27C93F"/>
          </a:solidFill>
          <a:ln w="12700">
            <a:solidFill>
              <a:srgbClr val="27C93F"/>
            </a:solidFill>
            <a:prstDash val="solid"/>
          </a:ln>
        </p:spPr>
      </p:sp>
      <p:sp>
        <p:nvSpPr>
          <p:cNvPr id="36" name="Text 34"/>
          <p:cNvSpPr/>
          <p:nvPr/>
        </p:nvSpPr>
        <p:spPr>
          <a:xfrm>
            <a:off x="3712464" y="2148840"/>
            <a:ext cx="502920" cy="256032"/>
          </a:xfrm>
          <a:prstGeom prst="rect">
            <a:avLst/>
          </a:prstGeom>
          <a:noFill/>
          <a:ln/>
        </p:spPr>
        <p:txBody>
          <a:bodyPr wrap="square" lIns="0" tIns="0" rIns="0" bIns="0" rtlCol="0" anchor="ctr"/>
          <a:lstStyle/>
          <a:p>
            <a:pPr indent="0" marL="0">
              <a:buNone/>
            </a:pPr>
            <a:r>
              <a:rPr lang="en-US" sz="750" dirty="0">
                <a:solidFill>
                  <a:srgbClr val="27C93F"/>
                </a:solidFill>
                <a:latin typeface="Calibri" pitchFamily="34" charset="0"/>
                <a:ea typeface="Calibri" pitchFamily="34" charset="-122"/>
                <a:cs typeface="Calibri" pitchFamily="34" charset="-120"/>
              </a:rPr>
              <a:t>Nổi bật</a:t>
            </a:r>
            <a:endParaRPr lang="en-US" sz="750" dirty="0"/>
          </a:p>
        </p:txBody>
      </p:sp>
      <p:sp>
        <p:nvSpPr>
          <p:cNvPr id="37" name="Text 35"/>
          <p:cNvSpPr/>
          <p:nvPr/>
        </p:nvSpPr>
        <p:spPr>
          <a:xfrm>
            <a:off x="4206240" y="2148840"/>
            <a:ext cx="548640" cy="256032"/>
          </a:xfrm>
          <a:prstGeom prst="rect">
            <a:avLst/>
          </a:prstGeom>
          <a:noFill/>
          <a:ln/>
        </p:spPr>
        <p:txBody>
          <a:bodyPr wrap="square" lIns="0" tIns="0" rIns="0" bIns="0" rtlCol="0" anchor="ctr"/>
          <a:lstStyle/>
          <a:p>
            <a:pPr algn="ctr" indent="0" marL="0">
              <a:buNone/>
            </a:pPr>
            <a:r>
              <a:rPr lang="en-US" sz="1000" dirty="0">
                <a:solidFill>
                  <a:srgbClr val="000000"/>
                </a:solidFill>
              </a:rPr>
              <a:t>✏️ 🗑️</a:t>
            </a:r>
            <a:endParaRPr lang="en-US" sz="1000" dirty="0"/>
          </a:p>
        </p:txBody>
      </p:sp>
      <p:sp>
        <p:nvSpPr>
          <p:cNvPr id="38" name="Shape 36"/>
          <p:cNvSpPr/>
          <p:nvPr/>
        </p:nvSpPr>
        <p:spPr>
          <a:xfrm>
            <a:off x="1508760" y="2487168"/>
            <a:ext cx="3383280" cy="347472"/>
          </a:xfrm>
          <a:prstGeom prst="rect">
            <a:avLst/>
          </a:prstGeom>
          <a:solidFill>
            <a:srgbClr val="0A1A0C"/>
          </a:solidFill>
          <a:ln w="6350">
            <a:solidFill>
              <a:srgbClr val="1A3A1C"/>
            </a:solidFill>
            <a:prstDash val="solid"/>
          </a:ln>
        </p:spPr>
      </p:sp>
      <p:sp>
        <p:nvSpPr>
          <p:cNvPr id="39" name="Text 37"/>
          <p:cNvSpPr/>
          <p:nvPr/>
        </p:nvSpPr>
        <p:spPr>
          <a:xfrm>
            <a:off x="1554480" y="2532888"/>
            <a:ext cx="1234440"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Aqua Garden Resort</a:t>
            </a:r>
            <a:endParaRPr lang="en-US" sz="800" dirty="0"/>
          </a:p>
        </p:txBody>
      </p:sp>
      <p:sp>
        <p:nvSpPr>
          <p:cNvPr id="40" name="Text 38"/>
          <p:cNvSpPr/>
          <p:nvPr/>
        </p:nvSpPr>
        <p:spPr>
          <a:xfrm>
            <a:off x="2834640" y="2532888"/>
            <a:ext cx="713232" cy="256032"/>
          </a:xfrm>
          <a:prstGeom prst="rect">
            <a:avLst/>
          </a:prstGeom>
          <a:noFill/>
          <a:ln/>
        </p:spPr>
        <p:txBody>
          <a:bodyPr wrap="square" lIns="0" tIns="0" rIns="0" bIns="0" rtlCol="0" anchor="ctr"/>
          <a:lstStyle/>
          <a:p>
            <a:pPr indent="0" marL="0">
              <a:buNone/>
            </a:pPr>
            <a:r>
              <a:rPr lang="en-US" sz="750" dirty="0">
                <a:solidFill>
                  <a:srgbClr val="7AAA7C"/>
                </a:solidFill>
                <a:latin typeface="Calibri" pitchFamily="34" charset="0"/>
                <a:ea typeface="Calibri" pitchFamily="34" charset="-122"/>
                <a:cs typeface="Calibri" pitchFamily="34" charset="-120"/>
              </a:rPr>
              <a:t>Resort</a:t>
            </a:r>
            <a:endParaRPr lang="en-US" sz="750" dirty="0"/>
          </a:p>
        </p:txBody>
      </p:sp>
      <p:sp>
        <p:nvSpPr>
          <p:cNvPr id="41" name="Shape 39"/>
          <p:cNvSpPr/>
          <p:nvPr/>
        </p:nvSpPr>
        <p:spPr>
          <a:xfrm>
            <a:off x="3566160" y="2596896"/>
            <a:ext cx="109728" cy="109728"/>
          </a:xfrm>
          <a:prstGeom prst="ellipse">
            <a:avLst/>
          </a:prstGeom>
          <a:solidFill>
            <a:srgbClr val="27C93F"/>
          </a:solidFill>
          <a:ln w="12700">
            <a:solidFill>
              <a:srgbClr val="27C93F"/>
            </a:solidFill>
            <a:prstDash val="solid"/>
          </a:ln>
        </p:spPr>
      </p:sp>
      <p:sp>
        <p:nvSpPr>
          <p:cNvPr id="42" name="Text 40"/>
          <p:cNvSpPr/>
          <p:nvPr/>
        </p:nvSpPr>
        <p:spPr>
          <a:xfrm>
            <a:off x="3712464" y="2532888"/>
            <a:ext cx="502920" cy="256032"/>
          </a:xfrm>
          <a:prstGeom prst="rect">
            <a:avLst/>
          </a:prstGeom>
          <a:noFill/>
          <a:ln/>
        </p:spPr>
        <p:txBody>
          <a:bodyPr wrap="square" lIns="0" tIns="0" rIns="0" bIns="0" rtlCol="0" anchor="ctr"/>
          <a:lstStyle/>
          <a:p>
            <a:pPr indent="0" marL="0">
              <a:buNone/>
            </a:pPr>
            <a:r>
              <a:rPr lang="en-US" sz="750" dirty="0">
                <a:solidFill>
                  <a:srgbClr val="27C93F"/>
                </a:solidFill>
                <a:latin typeface="Calibri" pitchFamily="34" charset="0"/>
                <a:ea typeface="Calibri" pitchFamily="34" charset="-122"/>
                <a:cs typeface="Calibri" pitchFamily="34" charset="-120"/>
              </a:rPr>
              <a:t>Hiển thị</a:t>
            </a:r>
            <a:endParaRPr lang="en-US" sz="750" dirty="0"/>
          </a:p>
        </p:txBody>
      </p:sp>
      <p:sp>
        <p:nvSpPr>
          <p:cNvPr id="43" name="Text 41"/>
          <p:cNvSpPr/>
          <p:nvPr/>
        </p:nvSpPr>
        <p:spPr>
          <a:xfrm>
            <a:off x="4206240" y="2532888"/>
            <a:ext cx="548640" cy="256032"/>
          </a:xfrm>
          <a:prstGeom prst="rect">
            <a:avLst/>
          </a:prstGeom>
          <a:noFill/>
          <a:ln/>
        </p:spPr>
        <p:txBody>
          <a:bodyPr wrap="square" lIns="0" tIns="0" rIns="0" bIns="0" rtlCol="0" anchor="ctr"/>
          <a:lstStyle/>
          <a:p>
            <a:pPr algn="ctr" indent="0" marL="0">
              <a:buNone/>
            </a:pPr>
            <a:r>
              <a:rPr lang="en-US" sz="1000" dirty="0">
                <a:solidFill>
                  <a:srgbClr val="000000"/>
                </a:solidFill>
              </a:rPr>
              <a:t>✏️ 🗑️</a:t>
            </a:r>
            <a:endParaRPr lang="en-US" sz="1000" dirty="0"/>
          </a:p>
        </p:txBody>
      </p:sp>
      <p:sp>
        <p:nvSpPr>
          <p:cNvPr id="44" name="Shape 42"/>
          <p:cNvSpPr/>
          <p:nvPr/>
        </p:nvSpPr>
        <p:spPr>
          <a:xfrm>
            <a:off x="1508760" y="2871216"/>
            <a:ext cx="3383280" cy="347472"/>
          </a:xfrm>
          <a:prstGeom prst="rect">
            <a:avLst/>
          </a:prstGeom>
          <a:solidFill>
            <a:srgbClr val="0D2210"/>
          </a:solidFill>
          <a:ln w="6350">
            <a:solidFill>
              <a:srgbClr val="1A3A1C"/>
            </a:solidFill>
            <a:prstDash val="solid"/>
          </a:ln>
        </p:spPr>
      </p:sp>
      <p:sp>
        <p:nvSpPr>
          <p:cNvPr id="45" name="Text 43"/>
          <p:cNvSpPr/>
          <p:nvPr/>
        </p:nvSpPr>
        <p:spPr>
          <a:xfrm>
            <a:off x="1554480" y="2916936"/>
            <a:ext cx="1234440"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Central Park HCM</a:t>
            </a:r>
            <a:endParaRPr lang="en-US" sz="800" dirty="0"/>
          </a:p>
        </p:txBody>
      </p:sp>
      <p:sp>
        <p:nvSpPr>
          <p:cNvPr id="46" name="Text 44"/>
          <p:cNvSpPr/>
          <p:nvPr/>
        </p:nvSpPr>
        <p:spPr>
          <a:xfrm>
            <a:off x="2834640" y="2916936"/>
            <a:ext cx="713232" cy="256032"/>
          </a:xfrm>
          <a:prstGeom prst="rect">
            <a:avLst/>
          </a:prstGeom>
          <a:noFill/>
          <a:ln/>
        </p:spPr>
        <p:txBody>
          <a:bodyPr wrap="square" lIns="0" tIns="0" rIns="0" bIns="0" rtlCol="0" anchor="ctr"/>
          <a:lstStyle/>
          <a:p>
            <a:pPr indent="0" marL="0">
              <a:buNone/>
            </a:pPr>
            <a:r>
              <a:rPr lang="en-US" sz="750" dirty="0">
                <a:solidFill>
                  <a:srgbClr val="7AAA7C"/>
                </a:solidFill>
                <a:latin typeface="Calibri" pitchFamily="34" charset="0"/>
                <a:ea typeface="Calibri" pitchFamily="34" charset="-122"/>
                <a:cs typeface="Calibri" pitchFamily="34" charset="-120"/>
              </a:rPr>
              <a:t>Công viên</a:t>
            </a:r>
            <a:endParaRPr lang="en-US" sz="750" dirty="0"/>
          </a:p>
        </p:txBody>
      </p:sp>
      <p:sp>
        <p:nvSpPr>
          <p:cNvPr id="47" name="Shape 45"/>
          <p:cNvSpPr/>
          <p:nvPr/>
        </p:nvSpPr>
        <p:spPr>
          <a:xfrm>
            <a:off x="3566160" y="2980944"/>
            <a:ext cx="109728" cy="109728"/>
          </a:xfrm>
          <a:prstGeom prst="ellipse">
            <a:avLst/>
          </a:prstGeom>
          <a:solidFill>
            <a:srgbClr val="27C93F"/>
          </a:solidFill>
          <a:ln w="12700">
            <a:solidFill>
              <a:srgbClr val="27C93F"/>
            </a:solidFill>
            <a:prstDash val="solid"/>
          </a:ln>
        </p:spPr>
      </p:sp>
      <p:sp>
        <p:nvSpPr>
          <p:cNvPr id="48" name="Text 46"/>
          <p:cNvSpPr/>
          <p:nvPr/>
        </p:nvSpPr>
        <p:spPr>
          <a:xfrm>
            <a:off x="3712464" y="2916936"/>
            <a:ext cx="502920" cy="256032"/>
          </a:xfrm>
          <a:prstGeom prst="rect">
            <a:avLst/>
          </a:prstGeom>
          <a:noFill/>
          <a:ln/>
        </p:spPr>
        <p:txBody>
          <a:bodyPr wrap="square" lIns="0" tIns="0" rIns="0" bIns="0" rtlCol="0" anchor="ctr"/>
          <a:lstStyle/>
          <a:p>
            <a:pPr indent="0" marL="0">
              <a:buNone/>
            </a:pPr>
            <a:r>
              <a:rPr lang="en-US" sz="750" dirty="0">
                <a:solidFill>
                  <a:srgbClr val="27C93F"/>
                </a:solidFill>
                <a:latin typeface="Calibri" pitchFamily="34" charset="0"/>
                <a:ea typeface="Calibri" pitchFamily="34" charset="-122"/>
                <a:cs typeface="Calibri" pitchFamily="34" charset="-120"/>
              </a:rPr>
              <a:t>Hiển thị</a:t>
            </a:r>
            <a:endParaRPr lang="en-US" sz="750" dirty="0"/>
          </a:p>
        </p:txBody>
      </p:sp>
      <p:sp>
        <p:nvSpPr>
          <p:cNvPr id="49" name="Text 47"/>
          <p:cNvSpPr/>
          <p:nvPr/>
        </p:nvSpPr>
        <p:spPr>
          <a:xfrm>
            <a:off x="4206240" y="2916936"/>
            <a:ext cx="548640" cy="256032"/>
          </a:xfrm>
          <a:prstGeom prst="rect">
            <a:avLst/>
          </a:prstGeom>
          <a:noFill/>
          <a:ln/>
        </p:spPr>
        <p:txBody>
          <a:bodyPr wrap="square" lIns="0" tIns="0" rIns="0" bIns="0" rtlCol="0" anchor="ctr"/>
          <a:lstStyle/>
          <a:p>
            <a:pPr algn="ctr" indent="0" marL="0">
              <a:buNone/>
            </a:pPr>
            <a:r>
              <a:rPr lang="en-US" sz="1000" dirty="0">
                <a:solidFill>
                  <a:srgbClr val="000000"/>
                </a:solidFill>
              </a:rPr>
              <a:t>✏️ 🗑️</a:t>
            </a:r>
            <a:endParaRPr lang="en-US" sz="1000" dirty="0"/>
          </a:p>
        </p:txBody>
      </p:sp>
      <p:sp>
        <p:nvSpPr>
          <p:cNvPr id="50" name="Shape 48"/>
          <p:cNvSpPr/>
          <p:nvPr/>
        </p:nvSpPr>
        <p:spPr>
          <a:xfrm>
            <a:off x="1508760" y="3255264"/>
            <a:ext cx="3383280" cy="347472"/>
          </a:xfrm>
          <a:prstGeom prst="rect">
            <a:avLst/>
          </a:prstGeom>
          <a:solidFill>
            <a:srgbClr val="0A1A0C"/>
          </a:solidFill>
          <a:ln w="6350">
            <a:solidFill>
              <a:srgbClr val="1A3A1C"/>
            </a:solidFill>
            <a:prstDash val="solid"/>
          </a:ln>
        </p:spPr>
      </p:sp>
      <p:sp>
        <p:nvSpPr>
          <p:cNvPr id="51" name="Text 49"/>
          <p:cNvSpPr/>
          <p:nvPr/>
        </p:nvSpPr>
        <p:spPr>
          <a:xfrm>
            <a:off x="1554480" y="3300984"/>
            <a:ext cx="1234440"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Eco District Hanoi</a:t>
            </a:r>
            <a:endParaRPr lang="en-US" sz="800" dirty="0"/>
          </a:p>
        </p:txBody>
      </p:sp>
      <p:sp>
        <p:nvSpPr>
          <p:cNvPr id="52" name="Text 50"/>
          <p:cNvSpPr/>
          <p:nvPr/>
        </p:nvSpPr>
        <p:spPr>
          <a:xfrm>
            <a:off x="2834640" y="3300984"/>
            <a:ext cx="713232" cy="256032"/>
          </a:xfrm>
          <a:prstGeom prst="rect">
            <a:avLst/>
          </a:prstGeom>
          <a:noFill/>
          <a:ln/>
        </p:spPr>
        <p:txBody>
          <a:bodyPr wrap="square" lIns="0" tIns="0" rIns="0" bIns="0" rtlCol="0" anchor="ctr"/>
          <a:lstStyle/>
          <a:p>
            <a:pPr indent="0" marL="0">
              <a:buNone/>
            </a:pPr>
            <a:r>
              <a:rPr lang="en-US" sz="750" dirty="0">
                <a:solidFill>
                  <a:srgbClr val="7AAA7C"/>
                </a:solidFill>
                <a:latin typeface="Calibri" pitchFamily="34" charset="0"/>
                <a:ea typeface="Calibri" pitchFamily="34" charset="-122"/>
                <a:cs typeface="Calibri" pitchFamily="34" charset="-120"/>
              </a:rPr>
              <a:t>Khu đô thị</a:t>
            </a:r>
            <a:endParaRPr lang="en-US" sz="750" dirty="0"/>
          </a:p>
        </p:txBody>
      </p:sp>
      <p:sp>
        <p:nvSpPr>
          <p:cNvPr id="53" name="Shape 51"/>
          <p:cNvSpPr/>
          <p:nvPr/>
        </p:nvSpPr>
        <p:spPr>
          <a:xfrm>
            <a:off x="3566160" y="3364992"/>
            <a:ext cx="109728" cy="109728"/>
          </a:xfrm>
          <a:prstGeom prst="ellipse">
            <a:avLst/>
          </a:prstGeom>
          <a:solidFill>
            <a:srgbClr val="999999"/>
          </a:solidFill>
          <a:ln w="12700">
            <a:solidFill>
              <a:srgbClr val="999999"/>
            </a:solidFill>
            <a:prstDash val="solid"/>
          </a:ln>
        </p:spPr>
      </p:sp>
      <p:sp>
        <p:nvSpPr>
          <p:cNvPr id="54" name="Text 52"/>
          <p:cNvSpPr/>
          <p:nvPr/>
        </p:nvSpPr>
        <p:spPr>
          <a:xfrm>
            <a:off x="3712464" y="3300984"/>
            <a:ext cx="502920" cy="256032"/>
          </a:xfrm>
          <a:prstGeom prst="rect">
            <a:avLst/>
          </a:prstGeom>
          <a:noFill/>
          <a:ln/>
        </p:spPr>
        <p:txBody>
          <a:bodyPr wrap="square" lIns="0" tIns="0" rIns="0" bIns="0" rtlCol="0" anchor="ctr"/>
          <a:lstStyle/>
          <a:p>
            <a:pPr indent="0" marL="0">
              <a:buNone/>
            </a:pPr>
            <a:r>
              <a:rPr lang="en-US" sz="750" dirty="0">
                <a:solidFill>
                  <a:srgbClr val="999999"/>
                </a:solidFill>
                <a:latin typeface="Calibri" pitchFamily="34" charset="0"/>
                <a:ea typeface="Calibri" pitchFamily="34" charset="-122"/>
                <a:cs typeface="Calibri" pitchFamily="34" charset="-120"/>
              </a:rPr>
              <a:t>Ẩn</a:t>
            </a:r>
            <a:endParaRPr lang="en-US" sz="750" dirty="0"/>
          </a:p>
        </p:txBody>
      </p:sp>
      <p:sp>
        <p:nvSpPr>
          <p:cNvPr id="55" name="Text 53"/>
          <p:cNvSpPr/>
          <p:nvPr/>
        </p:nvSpPr>
        <p:spPr>
          <a:xfrm>
            <a:off x="4206240" y="3300984"/>
            <a:ext cx="548640" cy="256032"/>
          </a:xfrm>
          <a:prstGeom prst="rect">
            <a:avLst/>
          </a:prstGeom>
          <a:noFill/>
          <a:ln/>
        </p:spPr>
        <p:txBody>
          <a:bodyPr wrap="square" lIns="0" tIns="0" rIns="0" bIns="0" rtlCol="0" anchor="ctr"/>
          <a:lstStyle/>
          <a:p>
            <a:pPr algn="ctr" indent="0" marL="0">
              <a:buNone/>
            </a:pPr>
            <a:r>
              <a:rPr lang="en-US" sz="1000" dirty="0">
                <a:solidFill>
                  <a:srgbClr val="000000"/>
                </a:solidFill>
              </a:rPr>
              <a:t>✏️ 🗑️</a:t>
            </a:r>
            <a:endParaRPr lang="en-US" sz="1000" dirty="0"/>
          </a:p>
        </p:txBody>
      </p:sp>
      <p:sp>
        <p:nvSpPr>
          <p:cNvPr id="56" name="Shape 54"/>
          <p:cNvSpPr/>
          <p:nvPr/>
        </p:nvSpPr>
        <p:spPr>
          <a:xfrm>
            <a:off x="5303520" y="1143000"/>
            <a:ext cx="347472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7" name="Shape 55"/>
          <p:cNvSpPr/>
          <p:nvPr/>
        </p:nvSpPr>
        <p:spPr>
          <a:xfrm>
            <a:off x="5303520" y="1143000"/>
            <a:ext cx="64008" cy="804672"/>
          </a:xfrm>
          <a:prstGeom prst="rect">
            <a:avLst/>
          </a:prstGeom>
          <a:solidFill>
            <a:srgbClr val="BE7B2B"/>
          </a:solidFill>
          <a:ln w="12700">
            <a:solidFill>
              <a:srgbClr val="BE7B2B"/>
            </a:solidFill>
            <a:prstDash val="solid"/>
          </a:ln>
        </p:spPr>
      </p:sp>
      <p:sp>
        <p:nvSpPr>
          <p:cNvPr id="58" name="Text 56"/>
          <p:cNvSpPr/>
          <p:nvPr/>
        </p:nvSpPr>
        <p:spPr>
          <a:xfrm>
            <a:off x="5413248" y="1197864"/>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59" name="Text 57"/>
          <p:cNvSpPr/>
          <p:nvPr/>
        </p:nvSpPr>
        <p:spPr>
          <a:xfrm>
            <a:off x="5870448" y="1207008"/>
            <a:ext cx="278892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Quản lý Dự án</a:t>
            </a:r>
            <a:endParaRPr lang="en-US" sz="1200" dirty="0"/>
          </a:p>
        </p:txBody>
      </p:sp>
      <p:sp>
        <p:nvSpPr>
          <p:cNvPr id="60" name="Text 58"/>
          <p:cNvSpPr/>
          <p:nvPr/>
        </p:nvSpPr>
        <p:spPr>
          <a:xfrm>
            <a:off x="5870448" y="1508760"/>
            <a:ext cx="278892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Thêm/sửa/xóa công trình với ảnh, mô tả Vi/En, danh mục, nổi bật</a:t>
            </a:r>
            <a:endParaRPr lang="en-US" sz="950" dirty="0"/>
          </a:p>
        </p:txBody>
      </p:sp>
      <p:sp>
        <p:nvSpPr>
          <p:cNvPr id="61" name="Shape 59"/>
          <p:cNvSpPr/>
          <p:nvPr/>
        </p:nvSpPr>
        <p:spPr>
          <a:xfrm>
            <a:off x="5303520" y="2103120"/>
            <a:ext cx="347472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2" name="Shape 60"/>
          <p:cNvSpPr/>
          <p:nvPr/>
        </p:nvSpPr>
        <p:spPr>
          <a:xfrm>
            <a:off x="5303520" y="2103120"/>
            <a:ext cx="64008" cy="804672"/>
          </a:xfrm>
          <a:prstGeom prst="rect">
            <a:avLst/>
          </a:prstGeom>
          <a:solidFill>
            <a:srgbClr val="BE7B2B"/>
          </a:solidFill>
          <a:ln w="12700">
            <a:solidFill>
              <a:srgbClr val="BE7B2B"/>
            </a:solidFill>
            <a:prstDash val="solid"/>
          </a:ln>
        </p:spPr>
      </p:sp>
      <p:sp>
        <p:nvSpPr>
          <p:cNvPr id="63" name="Text 61"/>
          <p:cNvSpPr/>
          <p:nvPr/>
        </p:nvSpPr>
        <p:spPr>
          <a:xfrm>
            <a:off x="5413248" y="2157984"/>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64" name="Text 62"/>
          <p:cNvSpPr/>
          <p:nvPr/>
        </p:nvSpPr>
        <p:spPr>
          <a:xfrm>
            <a:off x="5870448" y="2167128"/>
            <a:ext cx="278892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Tin tức &amp; Blog</a:t>
            </a:r>
            <a:endParaRPr lang="en-US" sz="1200" dirty="0"/>
          </a:p>
        </p:txBody>
      </p:sp>
      <p:sp>
        <p:nvSpPr>
          <p:cNvPr id="65" name="Text 63"/>
          <p:cNvSpPr/>
          <p:nvPr/>
        </p:nvSpPr>
        <p:spPr>
          <a:xfrm>
            <a:off x="5870448" y="2468880"/>
            <a:ext cx="278892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Đăng bài viết, cập nhật tin tức ngành, SEO-friendly</a:t>
            </a:r>
            <a:endParaRPr lang="en-US" sz="950" dirty="0"/>
          </a:p>
        </p:txBody>
      </p:sp>
      <p:sp>
        <p:nvSpPr>
          <p:cNvPr id="66" name="Shape 64"/>
          <p:cNvSpPr/>
          <p:nvPr/>
        </p:nvSpPr>
        <p:spPr>
          <a:xfrm>
            <a:off x="5303520" y="3063240"/>
            <a:ext cx="347472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7" name="Shape 65"/>
          <p:cNvSpPr/>
          <p:nvPr/>
        </p:nvSpPr>
        <p:spPr>
          <a:xfrm>
            <a:off x="5303520" y="3063240"/>
            <a:ext cx="64008" cy="804672"/>
          </a:xfrm>
          <a:prstGeom prst="rect">
            <a:avLst/>
          </a:prstGeom>
          <a:solidFill>
            <a:srgbClr val="BE7B2B"/>
          </a:solidFill>
          <a:ln w="12700">
            <a:solidFill>
              <a:srgbClr val="BE7B2B"/>
            </a:solidFill>
            <a:prstDash val="solid"/>
          </a:ln>
        </p:spPr>
      </p:sp>
      <p:sp>
        <p:nvSpPr>
          <p:cNvPr id="68" name="Text 66"/>
          <p:cNvSpPr/>
          <p:nvPr/>
        </p:nvSpPr>
        <p:spPr>
          <a:xfrm>
            <a:off x="5413248" y="3118104"/>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69" name="Text 67"/>
          <p:cNvSpPr/>
          <p:nvPr/>
        </p:nvSpPr>
        <p:spPr>
          <a:xfrm>
            <a:off x="5870448" y="3127248"/>
            <a:ext cx="278892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Đối tác</a:t>
            </a:r>
            <a:endParaRPr lang="en-US" sz="1200" dirty="0"/>
          </a:p>
        </p:txBody>
      </p:sp>
      <p:sp>
        <p:nvSpPr>
          <p:cNvPr id="70" name="Text 68"/>
          <p:cNvSpPr/>
          <p:nvPr/>
        </p:nvSpPr>
        <p:spPr>
          <a:xfrm>
            <a:off x="5870448" y="3429000"/>
            <a:ext cx="278892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Danh sách đối tác, logo, mô tả — Hiển thị trên trang chủ</a:t>
            </a:r>
            <a:endParaRPr lang="en-US" sz="950" dirty="0"/>
          </a:p>
        </p:txBody>
      </p:sp>
      <p:sp>
        <p:nvSpPr>
          <p:cNvPr id="71" name="Shape 69"/>
          <p:cNvSpPr/>
          <p:nvPr/>
        </p:nvSpPr>
        <p:spPr>
          <a:xfrm>
            <a:off x="5303520" y="4023360"/>
            <a:ext cx="3474720"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2" name="Shape 70"/>
          <p:cNvSpPr/>
          <p:nvPr/>
        </p:nvSpPr>
        <p:spPr>
          <a:xfrm>
            <a:off x="5303520" y="4023360"/>
            <a:ext cx="64008" cy="804672"/>
          </a:xfrm>
          <a:prstGeom prst="rect">
            <a:avLst/>
          </a:prstGeom>
          <a:solidFill>
            <a:srgbClr val="BE7B2B"/>
          </a:solidFill>
          <a:ln w="12700">
            <a:solidFill>
              <a:srgbClr val="BE7B2B"/>
            </a:solidFill>
            <a:prstDash val="solid"/>
          </a:ln>
        </p:spPr>
      </p:sp>
      <p:sp>
        <p:nvSpPr>
          <p:cNvPr id="73" name="Text 71"/>
          <p:cNvSpPr/>
          <p:nvPr/>
        </p:nvSpPr>
        <p:spPr>
          <a:xfrm>
            <a:off x="5413248" y="4078224"/>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74" name="Text 72"/>
          <p:cNvSpPr/>
          <p:nvPr/>
        </p:nvSpPr>
        <p:spPr>
          <a:xfrm>
            <a:off x="5870448" y="4087368"/>
            <a:ext cx="2788920" cy="274320"/>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Timeline Lịch sử</a:t>
            </a:r>
            <a:endParaRPr lang="en-US" sz="1200" dirty="0"/>
          </a:p>
        </p:txBody>
      </p:sp>
      <p:sp>
        <p:nvSpPr>
          <p:cNvPr id="75" name="Text 73"/>
          <p:cNvSpPr/>
          <p:nvPr/>
        </p:nvSpPr>
        <p:spPr>
          <a:xfrm>
            <a:off x="5870448" y="4389120"/>
            <a:ext cx="278892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Cột mốc phát triển công ty, milestone quan trọng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30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E7B2B"/>
          </a:solidFill>
          <a:ln w="12700">
            <a:solidFill>
              <a:srgbClr val="BE7B2B"/>
            </a:solidFill>
            <a:prstDash val="solid"/>
          </a:ln>
        </p:spPr>
      </p:sp>
      <p:sp>
        <p:nvSpPr>
          <p:cNvPr id="3" name="Text 1"/>
          <p:cNvSpPr/>
          <p:nvPr/>
        </p:nvSpPr>
        <p:spPr>
          <a:xfrm>
            <a:off x="457200" y="137160"/>
            <a:ext cx="4572000" cy="640080"/>
          </a:xfrm>
          <a:prstGeom prst="rect">
            <a:avLst/>
          </a:prstGeom>
          <a:noFill/>
          <a:ln/>
        </p:spPr>
        <p:txBody>
          <a:bodyPr wrap="square" lIns="0" tIns="0" rIns="0" bIns="0" rtlCol="0" anchor="ctr"/>
          <a:lstStyle/>
          <a:p>
            <a:pPr indent="0" marL="0">
              <a:buNone/>
            </a:pPr>
            <a:r>
              <a:rPr lang="en-US" sz="4000" b="1" dirty="0">
                <a:solidFill>
                  <a:srgbClr val="BE7B2B"/>
                </a:solidFill>
                <a:latin typeface="Georgia" pitchFamily="34" charset="0"/>
                <a:ea typeface="Georgia" pitchFamily="34" charset="-122"/>
                <a:cs typeface="Georgia" pitchFamily="34" charset="-120"/>
              </a:rPr>
              <a:t>FLIPBOOK</a:t>
            </a:r>
            <a:endParaRPr lang="en-US" sz="4000" dirty="0"/>
          </a:p>
        </p:txBody>
      </p:sp>
      <p:sp>
        <p:nvSpPr>
          <p:cNvPr id="4" name="Text 2"/>
          <p:cNvSpPr/>
          <p:nvPr/>
        </p:nvSpPr>
        <p:spPr>
          <a:xfrm>
            <a:off x="457200" y="749808"/>
            <a:ext cx="4572000" cy="45720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CATALOG SỐ</a:t>
            </a:r>
            <a:endParaRPr lang="en-US" sz="2400" dirty="0"/>
          </a:p>
        </p:txBody>
      </p:sp>
      <p:sp>
        <p:nvSpPr>
          <p:cNvPr id="5" name="Text 3"/>
          <p:cNvSpPr/>
          <p:nvPr/>
        </p:nvSpPr>
        <p:spPr>
          <a:xfrm>
            <a:off x="457200" y="1234440"/>
            <a:ext cx="5943600" cy="274320"/>
          </a:xfrm>
          <a:prstGeom prst="rect">
            <a:avLst/>
          </a:prstGeom>
          <a:noFill/>
          <a:ln/>
        </p:spPr>
        <p:txBody>
          <a:bodyPr wrap="square" lIns="0" tIns="0" rIns="0" bIns="0" rtlCol="0" anchor="ctr"/>
          <a:lstStyle/>
          <a:p>
            <a:pPr indent="0" marL="0">
              <a:buNone/>
            </a:pPr>
            <a:r>
              <a:rPr lang="en-US" sz="1100" i="1" dirty="0">
                <a:solidFill>
                  <a:srgbClr val="AACCB0"/>
                </a:solidFill>
                <a:latin typeface="Calibri" pitchFamily="34" charset="0"/>
                <a:ea typeface="Calibri" pitchFamily="34" charset="-122"/>
                <a:cs typeface="Calibri" pitchFamily="34" charset="-120"/>
              </a:rPr>
              <a:t>Hồ sơ năng lực trực tuyến — Gửi link — Đối tác xem ngay trên mọi thiết bị</a:t>
            </a:r>
            <a:endParaRPr lang="en-US" sz="1100" dirty="0"/>
          </a:p>
        </p:txBody>
      </p:sp>
      <p:sp>
        <p:nvSpPr>
          <p:cNvPr id="6" name="Shape 4"/>
          <p:cNvSpPr/>
          <p:nvPr/>
        </p:nvSpPr>
        <p:spPr>
          <a:xfrm>
            <a:off x="914400" y="1691640"/>
            <a:ext cx="2743200" cy="3200400"/>
          </a:xfrm>
          <a:prstGeom prst="rect">
            <a:avLst/>
          </a:prstGeom>
          <a:solidFill>
            <a:srgbClr val="1A3A1C"/>
          </a:solidFill>
          <a:ln w="12700">
            <a:solidFill>
              <a:srgbClr val="2D4A2F"/>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1005840" y="1600200"/>
            <a:ext cx="2560320" cy="3108960"/>
          </a:xfrm>
          <a:prstGeom prst="rect">
            <a:avLst/>
          </a:prstGeom>
          <a:solidFill>
            <a:srgbClr val="0D2210"/>
          </a:solidFill>
          <a:ln w="12700">
            <a:solidFill>
              <a:srgbClr val="2D4A2F"/>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11880" y="1600200"/>
            <a:ext cx="2560320" cy="3108960"/>
          </a:xfrm>
          <a:prstGeom prst="rect">
            <a:avLst/>
          </a:prstGeom>
          <a:solidFill>
            <a:srgbClr val="0D2210"/>
          </a:solidFill>
          <a:ln w="19050">
            <a:solidFill>
              <a:srgbClr val="328442"/>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1005840" y="1600200"/>
            <a:ext cx="2560320" cy="822960"/>
          </a:xfrm>
          <a:prstGeom prst="rect">
            <a:avLst/>
          </a:prstGeom>
          <a:solidFill>
            <a:srgbClr val="1A3A1C"/>
          </a:solidFill>
          <a:ln w="12700">
            <a:solidFill>
              <a:srgbClr val="1A3A1C"/>
            </a:solidFill>
            <a:prstDash val="solid"/>
          </a:ln>
        </p:spPr>
      </p:sp>
      <p:sp>
        <p:nvSpPr>
          <p:cNvPr id="10" name="Text 8"/>
          <p:cNvSpPr/>
          <p:nvPr/>
        </p:nvSpPr>
        <p:spPr>
          <a:xfrm>
            <a:off x="1051560" y="1691640"/>
            <a:ext cx="24688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 FAM LANDSCAPE</a:t>
            </a:r>
            <a:endParaRPr lang="en-US" sz="1300" dirty="0"/>
          </a:p>
        </p:txBody>
      </p:sp>
      <p:sp>
        <p:nvSpPr>
          <p:cNvPr id="11" name="Text 9"/>
          <p:cNvSpPr/>
          <p:nvPr/>
        </p:nvSpPr>
        <p:spPr>
          <a:xfrm>
            <a:off x="1051560" y="2103120"/>
            <a:ext cx="2468880" cy="256032"/>
          </a:xfrm>
          <a:prstGeom prst="rect">
            <a:avLst/>
          </a:prstGeom>
          <a:noFill/>
          <a:ln/>
        </p:spPr>
        <p:txBody>
          <a:bodyPr wrap="square" lIns="0" tIns="0" rIns="0" bIns="0" rtlCol="0" anchor="ctr"/>
          <a:lstStyle/>
          <a:p>
            <a:pPr algn="ctr" indent="0" marL="0">
              <a:buNone/>
            </a:pPr>
            <a:r>
              <a:rPr lang="en-US" sz="900" dirty="0">
                <a:solidFill>
                  <a:srgbClr val="BE7B2B"/>
                </a:solidFill>
                <a:latin typeface="Calibri" pitchFamily="34" charset="0"/>
                <a:ea typeface="Calibri" pitchFamily="34" charset="-122"/>
                <a:cs typeface="Calibri" pitchFamily="34" charset="-120"/>
              </a:rPr>
              <a:t>HỒ SƠ NĂNG LỰC</a:t>
            </a:r>
            <a:endParaRPr lang="en-US" sz="900" dirty="0"/>
          </a:p>
        </p:txBody>
      </p:sp>
      <p:sp>
        <p:nvSpPr>
          <p:cNvPr id="12" name="Text 10"/>
          <p:cNvSpPr/>
          <p:nvPr/>
        </p:nvSpPr>
        <p:spPr>
          <a:xfrm>
            <a:off x="1051560" y="2395728"/>
            <a:ext cx="2468880" cy="228600"/>
          </a:xfrm>
          <a:prstGeom prst="rect">
            <a:avLst/>
          </a:prstGeom>
          <a:noFill/>
          <a:ln/>
        </p:spPr>
        <p:txBody>
          <a:bodyPr wrap="square" lIns="0" tIns="0" rIns="0" bIns="0" rtlCol="0" anchor="ctr"/>
          <a:lstStyle/>
          <a:p>
            <a:pPr algn="ctr" indent="0" marL="0">
              <a:buNone/>
            </a:pPr>
            <a:r>
              <a:rPr lang="en-US" sz="850" dirty="0">
                <a:solidFill>
                  <a:srgbClr val="7AAA7C"/>
                </a:solidFill>
                <a:latin typeface="Calibri" pitchFamily="34" charset="0"/>
                <a:ea typeface="Calibri" pitchFamily="34" charset="-122"/>
                <a:cs typeface="Calibri" pitchFamily="34" charset="-120"/>
              </a:rPr>
              <a:t>2024 – 2025</a:t>
            </a:r>
            <a:endParaRPr lang="en-US" sz="850" dirty="0"/>
          </a:p>
        </p:txBody>
      </p:sp>
      <p:sp>
        <p:nvSpPr>
          <p:cNvPr id="13" name="Shape 11"/>
          <p:cNvSpPr/>
          <p:nvPr/>
        </p:nvSpPr>
        <p:spPr>
          <a:xfrm>
            <a:off x="1280160" y="2697480"/>
            <a:ext cx="2103120" cy="0"/>
          </a:xfrm>
          <a:prstGeom prst="line">
            <a:avLst/>
          </a:prstGeom>
          <a:noFill/>
          <a:ln w="10160">
            <a:solidFill>
              <a:srgbClr val="328442"/>
            </a:solidFill>
            <a:prstDash val="solid"/>
          </a:ln>
        </p:spPr>
      </p:sp>
      <p:sp>
        <p:nvSpPr>
          <p:cNvPr id="14" name="Text 12"/>
          <p:cNvSpPr/>
          <p:nvPr/>
        </p:nvSpPr>
        <p:spPr>
          <a:xfrm>
            <a:off x="1143000" y="2788920"/>
            <a:ext cx="2286000" cy="1691640"/>
          </a:xfrm>
          <a:prstGeom prst="rect">
            <a:avLst/>
          </a:prstGeom>
          <a:noFill/>
          <a:ln/>
        </p:spPr>
        <p:txBody>
          <a:bodyPr wrap="square" rtlCol="0" anchor="ctr"/>
          <a:lstStyle/>
          <a:p>
            <a:pPr indent="0" marL="0">
              <a:buNone/>
            </a:pPr>
            <a:r>
              <a:rPr lang="en-US" sz="900" dirty="0">
                <a:solidFill>
                  <a:srgbClr val="AACCB0"/>
                </a:solidFill>
                <a:latin typeface="Calibri" pitchFamily="34" charset="0"/>
                <a:ea typeface="Calibri" pitchFamily="34" charset="-122"/>
                <a:cs typeface="Calibri" pitchFamily="34" charset="-120"/>
              </a:rPr>
              <a:t>✓  Giới thiệu công ty</a:t>
            </a:r>
            <a:endParaRPr lang="en-US" sz="900" dirty="0"/>
          </a:p>
          <a:p>
            <a:pPr indent="0" marL="0">
              <a:buNone/>
            </a:pPr>
            <a:r>
              <a:rPr lang="en-US" sz="900" dirty="0">
                <a:solidFill>
                  <a:srgbClr val="AACCB0"/>
                </a:solidFill>
                <a:latin typeface="Calibri" pitchFamily="34" charset="0"/>
                <a:ea typeface="Calibri" pitchFamily="34" charset="-122"/>
                <a:cs typeface="Calibri" pitchFamily="34" charset="-120"/>
              </a:rPr>
              <a:t>✓  Lĩnh vực hoạt động</a:t>
            </a:r>
            <a:endParaRPr lang="en-US" sz="900" dirty="0"/>
          </a:p>
          <a:p>
            <a:pPr indent="0" marL="0">
              <a:buNone/>
            </a:pPr>
            <a:r>
              <a:rPr lang="en-US" sz="900" dirty="0">
                <a:solidFill>
                  <a:srgbClr val="AACCB0"/>
                </a:solidFill>
                <a:latin typeface="Calibri" pitchFamily="34" charset="0"/>
                <a:ea typeface="Calibri" pitchFamily="34" charset="-122"/>
                <a:cs typeface="Calibri" pitchFamily="34" charset="-120"/>
              </a:rPr>
              <a:t>✓  Đội ngũ chuyên gia</a:t>
            </a:r>
            <a:endParaRPr lang="en-US" sz="900" dirty="0"/>
          </a:p>
          <a:p>
            <a:pPr indent="0" marL="0">
              <a:buNone/>
            </a:pPr>
            <a:r>
              <a:rPr lang="en-US" sz="900" dirty="0">
                <a:solidFill>
                  <a:srgbClr val="AACCB0"/>
                </a:solidFill>
                <a:latin typeface="Calibri" pitchFamily="34" charset="0"/>
                <a:ea typeface="Calibri" pitchFamily="34" charset="-122"/>
                <a:cs typeface="Calibri" pitchFamily="34" charset="-120"/>
              </a:rPr>
              <a:t>✓  Quy trình làm việc</a:t>
            </a:r>
            <a:endParaRPr lang="en-US" sz="900" dirty="0"/>
          </a:p>
          <a:p>
            <a:pPr indent="0" marL="0">
              <a:buNone/>
            </a:pPr>
            <a:r>
              <a:rPr lang="en-US" sz="900" dirty="0">
                <a:solidFill>
                  <a:srgbClr val="AACCB0"/>
                </a:solidFill>
                <a:latin typeface="Calibri" pitchFamily="34" charset="0"/>
                <a:ea typeface="Calibri" pitchFamily="34" charset="-122"/>
                <a:cs typeface="Calibri" pitchFamily="34" charset="-120"/>
              </a:rPr>
              <a:t>✓  Công trình tiêu biểu</a:t>
            </a:r>
            <a:endParaRPr lang="en-US" sz="900" dirty="0"/>
          </a:p>
        </p:txBody>
      </p:sp>
      <p:sp>
        <p:nvSpPr>
          <p:cNvPr id="15" name="Shape 13"/>
          <p:cNvSpPr/>
          <p:nvPr/>
        </p:nvSpPr>
        <p:spPr>
          <a:xfrm>
            <a:off x="3611880" y="1600200"/>
            <a:ext cx="2560320" cy="1371600"/>
          </a:xfrm>
          <a:prstGeom prst="rect">
            <a:avLst/>
          </a:prstGeom>
          <a:solidFill>
            <a:srgbClr val="1A3A1C"/>
          </a:solidFill>
          <a:ln w="12700">
            <a:solidFill>
              <a:srgbClr val="1A3A1C"/>
            </a:solidFill>
            <a:prstDash val="solid"/>
          </a:ln>
        </p:spPr>
      </p:sp>
      <p:sp>
        <p:nvSpPr>
          <p:cNvPr id="16" name="Text 14"/>
          <p:cNvSpPr/>
          <p:nvPr/>
        </p:nvSpPr>
        <p:spPr>
          <a:xfrm>
            <a:off x="3611880" y="1600200"/>
            <a:ext cx="2560320" cy="1371600"/>
          </a:xfrm>
          <a:prstGeom prst="rect">
            <a:avLst/>
          </a:prstGeom>
          <a:noFill/>
          <a:ln/>
        </p:spPr>
        <p:txBody>
          <a:bodyPr wrap="square" lIns="0" tIns="0" rIns="0" bIns="0" rtlCol="0" anchor="ctr"/>
          <a:lstStyle/>
          <a:p>
            <a:pPr algn="ctr" indent="0" marL="0">
              <a:buNone/>
            </a:pPr>
            <a:r>
              <a:rPr lang="en-US" sz="5000" dirty="0">
                <a:solidFill>
                  <a:srgbClr val="000000"/>
                </a:solidFill>
              </a:rPr>
              <a:t>🏡</a:t>
            </a:r>
            <a:endParaRPr lang="en-US" sz="5000" dirty="0"/>
          </a:p>
        </p:txBody>
      </p:sp>
      <p:sp>
        <p:nvSpPr>
          <p:cNvPr id="17" name="Text 15"/>
          <p:cNvSpPr/>
          <p:nvPr/>
        </p:nvSpPr>
        <p:spPr>
          <a:xfrm>
            <a:off x="3657600" y="3017520"/>
            <a:ext cx="24688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VILLA XANH ĐÀ LẠT</a:t>
            </a:r>
            <a:endParaRPr lang="en-US" sz="1100" dirty="0"/>
          </a:p>
        </p:txBody>
      </p:sp>
      <p:sp>
        <p:nvSpPr>
          <p:cNvPr id="18" name="Shape 16"/>
          <p:cNvSpPr/>
          <p:nvPr/>
        </p:nvSpPr>
        <p:spPr>
          <a:xfrm>
            <a:off x="3977640" y="3364992"/>
            <a:ext cx="868680" cy="201168"/>
          </a:xfrm>
          <a:prstGeom prst="rect">
            <a:avLst/>
          </a:prstGeom>
          <a:solidFill>
            <a:srgbClr val="328442"/>
          </a:solidFill>
          <a:ln w="12700">
            <a:solidFill>
              <a:srgbClr val="328442"/>
            </a:solidFill>
            <a:prstDash val="solid"/>
          </a:ln>
        </p:spPr>
      </p:sp>
      <p:sp>
        <p:nvSpPr>
          <p:cNvPr id="19" name="Text 17"/>
          <p:cNvSpPr/>
          <p:nvPr/>
        </p:nvSpPr>
        <p:spPr>
          <a:xfrm>
            <a:off x="3977640" y="3364992"/>
            <a:ext cx="868680" cy="201168"/>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Biệt thự</a:t>
            </a:r>
            <a:endParaRPr lang="en-US" sz="700" dirty="0"/>
          </a:p>
        </p:txBody>
      </p:sp>
      <p:sp>
        <p:nvSpPr>
          <p:cNvPr id="20" name="Text 18"/>
          <p:cNvSpPr/>
          <p:nvPr/>
        </p:nvSpPr>
        <p:spPr>
          <a:xfrm>
            <a:off x="3657600" y="3611880"/>
            <a:ext cx="2468880" cy="201168"/>
          </a:xfrm>
          <a:prstGeom prst="rect">
            <a:avLst/>
          </a:prstGeom>
          <a:noFill/>
          <a:ln/>
        </p:spPr>
        <p:txBody>
          <a:bodyPr wrap="square" lIns="0" tIns="0" rIns="0" bIns="0" rtlCol="0" anchor="ctr"/>
          <a:lstStyle/>
          <a:p>
            <a:pPr algn="ctr" indent="0" marL="0">
              <a:buNone/>
            </a:pPr>
            <a:r>
              <a:rPr lang="en-US" sz="800" dirty="0">
                <a:solidFill>
                  <a:srgbClr val="7AAA7C"/>
                </a:solidFill>
                <a:latin typeface="Calibri" pitchFamily="34" charset="0"/>
                <a:ea typeface="Calibri" pitchFamily="34" charset="-122"/>
                <a:cs typeface="Calibri" pitchFamily="34" charset="-120"/>
              </a:rPr>
              <a:t>Diện tích: 2,500 m²  |  Năm: 2024</a:t>
            </a:r>
            <a:endParaRPr lang="en-US" sz="800" dirty="0"/>
          </a:p>
        </p:txBody>
      </p:sp>
      <p:sp>
        <p:nvSpPr>
          <p:cNvPr id="21" name="Text 19"/>
          <p:cNvSpPr/>
          <p:nvPr/>
        </p:nvSpPr>
        <p:spPr>
          <a:xfrm>
            <a:off x="3657600" y="3840480"/>
            <a:ext cx="2468880" cy="457200"/>
          </a:xfrm>
          <a:prstGeom prst="rect">
            <a:avLst/>
          </a:prstGeom>
          <a:noFill/>
          <a:ln/>
        </p:spPr>
        <p:txBody>
          <a:bodyPr wrap="square" lIns="0" tIns="0" rIns="0" bIns="0" rtlCol="0" anchor="ctr"/>
          <a:lstStyle/>
          <a:p>
            <a:pPr algn="ctr" indent="0" marL="0">
              <a:buNone/>
            </a:pPr>
            <a:r>
              <a:rPr lang="en-US" sz="800" dirty="0">
                <a:solidFill>
                  <a:srgbClr val="AACCB0"/>
                </a:solidFill>
                <a:latin typeface="Calibri" pitchFamily="34" charset="0"/>
                <a:ea typeface="Calibri" pitchFamily="34" charset="-122"/>
                <a:cs typeface="Calibri" pitchFamily="34" charset="-120"/>
              </a:rPr>
              <a:t>Không gian cảnh quan hài hòa giữa thiên nhiên và kiến trúc hiện đại tại cao nguyên Đà Lạt.</a:t>
            </a:r>
            <a:endParaRPr lang="en-US" sz="800" dirty="0"/>
          </a:p>
        </p:txBody>
      </p:sp>
      <p:sp>
        <p:nvSpPr>
          <p:cNvPr id="22" name="Text 20"/>
          <p:cNvSpPr/>
          <p:nvPr/>
        </p:nvSpPr>
        <p:spPr>
          <a:xfrm>
            <a:off x="1005840" y="4754880"/>
            <a:ext cx="914400" cy="201168"/>
          </a:xfrm>
          <a:prstGeom prst="rect">
            <a:avLst/>
          </a:prstGeom>
          <a:noFill/>
          <a:ln/>
        </p:spPr>
        <p:txBody>
          <a:bodyPr wrap="square" lIns="0" tIns="0" rIns="0" bIns="0" rtlCol="0" anchor="ctr"/>
          <a:lstStyle/>
          <a:p>
            <a:pPr indent="0" marL="0">
              <a:buNone/>
            </a:pPr>
            <a:r>
              <a:rPr lang="en-US" sz="800" dirty="0">
                <a:solidFill>
                  <a:srgbClr val="7AAA7C"/>
                </a:solidFill>
                <a:latin typeface="Calibri" pitchFamily="34" charset="0"/>
                <a:ea typeface="Calibri" pitchFamily="34" charset="-122"/>
                <a:cs typeface="Calibri" pitchFamily="34" charset="-120"/>
              </a:rPr>
              <a:t>&lt; Prev</a:t>
            </a:r>
            <a:endParaRPr lang="en-US" sz="800" dirty="0"/>
          </a:p>
        </p:txBody>
      </p:sp>
      <p:sp>
        <p:nvSpPr>
          <p:cNvPr id="23" name="Text 21"/>
          <p:cNvSpPr/>
          <p:nvPr/>
        </p:nvSpPr>
        <p:spPr>
          <a:xfrm>
            <a:off x="2651760" y="4754880"/>
            <a:ext cx="914400" cy="201168"/>
          </a:xfrm>
          <a:prstGeom prst="rect">
            <a:avLst/>
          </a:prstGeom>
          <a:noFill/>
          <a:ln/>
        </p:spPr>
        <p:txBody>
          <a:bodyPr wrap="square" lIns="0" tIns="0" rIns="0" bIns="0" rtlCol="0" anchor="ctr"/>
          <a:lstStyle/>
          <a:p>
            <a:pPr algn="ctr" indent="0" marL="0">
              <a:buNone/>
            </a:pPr>
            <a:r>
              <a:rPr lang="en-US" sz="800" dirty="0">
                <a:solidFill>
                  <a:srgbClr val="7AAA7C"/>
                </a:solidFill>
                <a:latin typeface="Calibri" pitchFamily="34" charset="0"/>
                <a:ea typeface="Calibri" pitchFamily="34" charset="-122"/>
                <a:cs typeface="Calibri" pitchFamily="34" charset="-120"/>
              </a:rPr>
              <a:t>7 / 24</a:t>
            </a:r>
            <a:endParaRPr lang="en-US" sz="800" dirty="0"/>
          </a:p>
        </p:txBody>
      </p:sp>
      <p:sp>
        <p:nvSpPr>
          <p:cNvPr id="24" name="Text 22"/>
          <p:cNvSpPr/>
          <p:nvPr/>
        </p:nvSpPr>
        <p:spPr>
          <a:xfrm>
            <a:off x="5029200" y="4754880"/>
            <a:ext cx="914400" cy="201168"/>
          </a:xfrm>
          <a:prstGeom prst="rect">
            <a:avLst/>
          </a:prstGeom>
          <a:noFill/>
          <a:ln/>
        </p:spPr>
        <p:txBody>
          <a:bodyPr wrap="square" lIns="0" tIns="0" rIns="0" bIns="0" rtlCol="0" anchor="ctr"/>
          <a:lstStyle/>
          <a:p>
            <a:pPr algn="r" indent="0" marL="0">
              <a:buNone/>
            </a:pPr>
            <a:r>
              <a:rPr lang="en-US" sz="800" dirty="0">
                <a:solidFill>
                  <a:srgbClr val="7AAA7C"/>
                </a:solidFill>
                <a:latin typeface="Calibri" pitchFamily="34" charset="0"/>
                <a:ea typeface="Calibri" pitchFamily="34" charset="-122"/>
                <a:cs typeface="Calibri" pitchFamily="34" charset="-120"/>
              </a:rPr>
              <a:t>Next &gt;</a:t>
            </a:r>
            <a:endParaRPr lang="en-US" sz="800" dirty="0"/>
          </a:p>
        </p:txBody>
      </p:sp>
      <p:sp>
        <p:nvSpPr>
          <p:cNvPr id="25" name="Shape 23"/>
          <p:cNvSpPr/>
          <p:nvPr/>
        </p:nvSpPr>
        <p:spPr>
          <a:xfrm>
            <a:off x="6583680" y="1600200"/>
            <a:ext cx="2377440" cy="621792"/>
          </a:xfrm>
          <a:prstGeom prst="rect">
            <a:avLst/>
          </a:prstGeom>
          <a:solidFill>
            <a:srgbClr val="0D2210"/>
          </a:solidFill>
          <a:ln w="12700">
            <a:solidFill>
              <a:srgbClr val="2D4A2F"/>
            </a:solidFill>
            <a:prstDash val="solid"/>
          </a:ln>
        </p:spPr>
      </p:sp>
      <p:sp>
        <p:nvSpPr>
          <p:cNvPr id="26" name="Text 24"/>
          <p:cNvSpPr/>
          <p:nvPr/>
        </p:nvSpPr>
        <p:spPr>
          <a:xfrm>
            <a:off x="6675120" y="1655064"/>
            <a:ext cx="2194560" cy="237744"/>
          </a:xfrm>
          <a:prstGeom prst="rect">
            <a:avLst/>
          </a:prstGeom>
          <a:noFill/>
          <a:ln/>
        </p:spPr>
        <p:txBody>
          <a:bodyPr wrap="square" lIns="0" tIns="0" rIns="0" bIns="0" rtlCol="0" anchor="ctr"/>
          <a:lstStyle/>
          <a:p>
            <a:pPr indent="0" marL="0">
              <a:buNone/>
            </a:pPr>
            <a:r>
              <a:rPr lang="en-US" sz="1050" b="1" dirty="0">
                <a:solidFill>
                  <a:srgbClr val="BE7B2B"/>
                </a:solidFill>
                <a:latin typeface="Calibri" pitchFamily="34" charset="0"/>
                <a:ea typeface="Calibri" pitchFamily="34" charset="-122"/>
                <a:cs typeface="Calibri" pitchFamily="34" charset="-120"/>
              </a:rPr>
              <a:t>📤  Chia sẻ bằng link</a:t>
            </a:r>
            <a:endParaRPr lang="en-US" sz="1050" dirty="0"/>
          </a:p>
        </p:txBody>
      </p:sp>
      <p:sp>
        <p:nvSpPr>
          <p:cNvPr id="27" name="Text 25"/>
          <p:cNvSpPr/>
          <p:nvPr/>
        </p:nvSpPr>
        <p:spPr>
          <a:xfrm>
            <a:off x="6675120" y="1892808"/>
            <a:ext cx="2194560" cy="292608"/>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Gửi 1 URL cho đối tác — không cần tải file, không lo phiên bản cũ</a:t>
            </a:r>
            <a:endParaRPr lang="en-US" sz="850" dirty="0"/>
          </a:p>
        </p:txBody>
      </p:sp>
      <p:sp>
        <p:nvSpPr>
          <p:cNvPr id="28" name="Shape 26"/>
          <p:cNvSpPr/>
          <p:nvPr/>
        </p:nvSpPr>
        <p:spPr>
          <a:xfrm>
            <a:off x="6583680" y="2331720"/>
            <a:ext cx="2377440" cy="621792"/>
          </a:xfrm>
          <a:prstGeom prst="rect">
            <a:avLst/>
          </a:prstGeom>
          <a:solidFill>
            <a:srgbClr val="0D2210"/>
          </a:solidFill>
          <a:ln w="12700">
            <a:solidFill>
              <a:srgbClr val="2D4A2F"/>
            </a:solidFill>
            <a:prstDash val="solid"/>
          </a:ln>
        </p:spPr>
      </p:sp>
      <p:sp>
        <p:nvSpPr>
          <p:cNvPr id="29" name="Text 27"/>
          <p:cNvSpPr/>
          <p:nvPr/>
        </p:nvSpPr>
        <p:spPr>
          <a:xfrm>
            <a:off x="6675120" y="2386584"/>
            <a:ext cx="2194560" cy="237744"/>
          </a:xfrm>
          <a:prstGeom prst="rect">
            <a:avLst/>
          </a:prstGeom>
          <a:noFill/>
          <a:ln/>
        </p:spPr>
        <p:txBody>
          <a:bodyPr wrap="square" lIns="0" tIns="0" rIns="0" bIns="0" rtlCol="0" anchor="ctr"/>
          <a:lstStyle/>
          <a:p>
            <a:pPr indent="0" marL="0">
              <a:buNone/>
            </a:pPr>
            <a:r>
              <a:rPr lang="en-US" sz="1050" b="1" dirty="0">
                <a:solidFill>
                  <a:srgbClr val="BE7B2B"/>
                </a:solidFill>
                <a:latin typeface="Calibri" pitchFamily="34" charset="0"/>
                <a:ea typeface="Calibri" pitchFamily="34" charset="-122"/>
                <a:cs typeface="Calibri" pitchFamily="34" charset="-120"/>
              </a:rPr>
              <a:t>📱  Xem trên mọi thiết bị</a:t>
            </a:r>
            <a:endParaRPr lang="en-US" sz="1050" dirty="0"/>
          </a:p>
        </p:txBody>
      </p:sp>
      <p:sp>
        <p:nvSpPr>
          <p:cNvPr id="30" name="Text 28"/>
          <p:cNvSpPr/>
          <p:nvPr/>
        </p:nvSpPr>
        <p:spPr>
          <a:xfrm>
            <a:off x="6675120" y="2624328"/>
            <a:ext cx="2194560" cy="292608"/>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Mobile, tablet, desktop — flipbook tự điều chỉnh, trải nghiệm mượt mà</a:t>
            </a:r>
            <a:endParaRPr lang="en-US" sz="850" dirty="0"/>
          </a:p>
        </p:txBody>
      </p:sp>
      <p:sp>
        <p:nvSpPr>
          <p:cNvPr id="31" name="Shape 29"/>
          <p:cNvSpPr/>
          <p:nvPr/>
        </p:nvSpPr>
        <p:spPr>
          <a:xfrm>
            <a:off x="6583680" y="3063240"/>
            <a:ext cx="2377440" cy="621792"/>
          </a:xfrm>
          <a:prstGeom prst="rect">
            <a:avLst/>
          </a:prstGeom>
          <a:solidFill>
            <a:srgbClr val="0D2210"/>
          </a:solidFill>
          <a:ln w="12700">
            <a:solidFill>
              <a:srgbClr val="2D4A2F"/>
            </a:solidFill>
            <a:prstDash val="solid"/>
          </a:ln>
        </p:spPr>
      </p:sp>
      <p:sp>
        <p:nvSpPr>
          <p:cNvPr id="32" name="Text 30"/>
          <p:cNvSpPr/>
          <p:nvPr/>
        </p:nvSpPr>
        <p:spPr>
          <a:xfrm>
            <a:off x="6675120" y="3118104"/>
            <a:ext cx="2194560" cy="237744"/>
          </a:xfrm>
          <a:prstGeom prst="rect">
            <a:avLst/>
          </a:prstGeom>
          <a:noFill/>
          <a:ln/>
        </p:spPr>
        <p:txBody>
          <a:bodyPr wrap="square" lIns="0" tIns="0" rIns="0" bIns="0" rtlCol="0" anchor="ctr"/>
          <a:lstStyle/>
          <a:p>
            <a:pPr indent="0" marL="0">
              <a:buNone/>
            </a:pPr>
            <a:r>
              <a:rPr lang="en-US" sz="1050" b="1" dirty="0">
                <a:solidFill>
                  <a:srgbClr val="BE7B2B"/>
                </a:solidFill>
                <a:latin typeface="Calibri" pitchFamily="34" charset="0"/>
                <a:ea typeface="Calibri" pitchFamily="34" charset="-122"/>
                <a:cs typeface="Calibri" pitchFamily="34" charset="-120"/>
              </a:rPr>
              <a:t>🔄  Cập nhật real-time</a:t>
            </a:r>
            <a:endParaRPr lang="en-US" sz="1050" dirty="0"/>
          </a:p>
        </p:txBody>
      </p:sp>
      <p:sp>
        <p:nvSpPr>
          <p:cNvPr id="33" name="Text 31"/>
          <p:cNvSpPr/>
          <p:nvPr/>
        </p:nvSpPr>
        <p:spPr>
          <a:xfrm>
            <a:off x="6675120" y="3355848"/>
            <a:ext cx="2194560" cy="292608"/>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Admin thêm dự án mới → Flipbook tự cập nhật — không cần in lại</a:t>
            </a:r>
            <a:endParaRPr lang="en-US" sz="850" dirty="0"/>
          </a:p>
        </p:txBody>
      </p:sp>
      <p:sp>
        <p:nvSpPr>
          <p:cNvPr id="34" name="Shape 32"/>
          <p:cNvSpPr/>
          <p:nvPr/>
        </p:nvSpPr>
        <p:spPr>
          <a:xfrm>
            <a:off x="6583680" y="3794760"/>
            <a:ext cx="2377440" cy="621792"/>
          </a:xfrm>
          <a:prstGeom prst="rect">
            <a:avLst/>
          </a:prstGeom>
          <a:solidFill>
            <a:srgbClr val="0D2210"/>
          </a:solidFill>
          <a:ln w="12700">
            <a:solidFill>
              <a:srgbClr val="2D4A2F"/>
            </a:solidFill>
            <a:prstDash val="solid"/>
          </a:ln>
        </p:spPr>
      </p:sp>
      <p:sp>
        <p:nvSpPr>
          <p:cNvPr id="35" name="Text 33"/>
          <p:cNvSpPr/>
          <p:nvPr/>
        </p:nvSpPr>
        <p:spPr>
          <a:xfrm>
            <a:off x="6675120" y="3849624"/>
            <a:ext cx="2194560" cy="237744"/>
          </a:xfrm>
          <a:prstGeom prst="rect">
            <a:avLst/>
          </a:prstGeom>
          <a:noFill/>
          <a:ln/>
        </p:spPr>
        <p:txBody>
          <a:bodyPr wrap="square" lIns="0" tIns="0" rIns="0" bIns="0" rtlCol="0" anchor="ctr"/>
          <a:lstStyle/>
          <a:p>
            <a:pPr indent="0" marL="0">
              <a:buNone/>
            </a:pPr>
            <a:r>
              <a:rPr lang="en-US" sz="1050" b="1" dirty="0">
                <a:solidFill>
                  <a:srgbClr val="BE7B2B"/>
                </a:solidFill>
                <a:latin typeface="Calibri" pitchFamily="34" charset="0"/>
                <a:ea typeface="Calibri" pitchFamily="34" charset="-122"/>
                <a:cs typeface="Calibri" pitchFamily="34" charset="-120"/>
              </a:rPr>
              <a:t>💰  Tiết kiệm chi phí</a:t>
            </a:r>
            <a:endParaRPr lang="en-US" sz="1050" dirty="0"/>
          </a:p>
        </p:txBody>
      </p:sp>
      <p:sp>
        <p:nvSpPr>
          <p:cNvPr id="36" name="Text 34"/>
          <p:cNvSpPr/>
          <p:nvPr/>
        </p:nvSpPr>
        <p:spPr>
          <a:xfrm>
            <a:off x="6675120" y="4087368"/>
            <a:ext cx="2194560" cy="292608"/>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Thay thế hoàn toàn catalogue in ấn tốn kém, luôn có sẵn 24/7</a:t>
            </a:r>
            <a:endParaRPr lang="en-US" sz="850" dirty="0"/>
          </a:p>
        </p:txBody>
      </p:sp>
      <p:sp>
        <p:nvSpPr>
          <p:cNvPr id="37" name="Shape 35"/>
          <p:cNvSpPr/>
          <p:nvPr/>
        </p:nvSpPr>
        <p:spPr>
          <a:xfrm>
            <a:off x="6583680" y="4526280"/>
            <a:ext cx="2377440" cy="621792"/>
          </a:xfrm>
          <a:prstGeom prst="rect">
            <a:avLst/>
          </a:prstGeom>
          <a:solidFill>
            <a:srgbClr val="0D2210"/>
          </a:solidFill>
          <a:ln w="12700">
            <a:solidFill>
              <a:srgbClr val="2D4A2F"/>
            </a:solidFill>
            <a:prstDash val="solid"/>
          </a:ln>
        </p:spPr>
      </p:sp>
      <p:sp>
        <p:nvSpPr>
          <p:cNvPr id="38" name="Text 36"/>
          <p:cNvSpPr/>
          <p:nvPr/>
        </p:nvSpPr>
        <p:spPr>
          <a:xfrm>
            <a:off x="6675120" y="4581144"/>
            <a:ext cx="2194560" cy="237744"/>
          </a:xfrm>
          <a:prstGeom prst="rect">
            <a:avLst/>
          </a:prstGeom>
          <a:noFill/>
          <a:ln/>
        </p:spPr>
        <p:txBody>
          <a:bodyPr wrap="square" lIns="0" tIns="0" rIns="0" bIns="0" rtlCol="0" anchor="ctr"/>
          <a:lstStyle/>
          <a:p>
            <a:pPr indent="0" marL="0">
              <a:buNone/>
            </a:pPr>
            <a:r>
              <a:rPr lang="en-US" sz="1050" b="1" dirty="0">
                <a:solidFill>
                  <a:srgbClr val="BE7B2B"/>
                </a:solidFill>
                <a:latin typeface="Calibri" pitchFamily="34" charset="0"/>
                <a:ea typeface="Calibri" pitchFamily="34" charset="-122"/>
                <a:cs typeface="Calibri" pitchFamily="34" charset="-120"/>
              </a:rPr>
              <a:t>📊  Theo dõi lượt xem</a:t>
            </a:r>
            <a:endParaRPr lang="en-US" sz="1050" dirty="0"/>
          </a:p>
        </p:txBody>
      </p:sp>
      <p:sp>
        <p:nvSpPr>
          <p:cNvPr id="39" name="Text 37"/>
          <p:cNvSpPr/>
          <p:nvPr/>
        </p:nvSpPr>
        <p:spPr>
          <a:xfrm>
            <a:off x="6675120" y="4818888"/>
            <a:ext cx="2194560" cy="292608"/>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Biết đối tác nào đang xem, xem trang nào — data để follow up hiệu quả</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7130A"/>
          </a:solidFill>
          <a:ln w="12700">
            <a:solidFill>
              <a:srgbClr val="07130A"/>
            </a:solidFill>
            <a:prstDash val="solid"/>
          </a:ln>
        </p:spPr>
      </p:sp>
      <p:sp>
        <p:nvSpPr>
          <p:cNvPr id="3" name="Shape 1"/>
          <p:cNvSpPr/>
          <p:nvPr/>
        </p:nvSpPr>
        <p:spPr>
          <a:xfrm>
            <a:off x="0" y="914400"/>
            <a:ext cx="9144000" cy="54864"/>
          </a:xfrm>
          <a:prstGeom prst="rect">
            <a:avLst/>
          </a:prstGeom>
          <a:solidFill>
            <a:srgbClr val="328442"/>
          </a:solidFill>
          <a:ln w="12700">
            <a:solidFill>
              <a:srgbClr val="328442"/>
            </a:solidFill>
            <a:prstDash val="solid"/>
          </a:ln>
        </p:spPr>
      </p:sp>
      <p:sp>
        <p:nvSpPr>
          <p:cNvPr id="4" name="Text 2"/>
          <p:cNvSpPr/>
          <p:nvPr/>
        </p:nvSpPr>
        <p:spPr>
          <a:xfrm>
            <a:off x="457200" y="0"/>
            <a:ext cx="640080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TECHNOLOGY STACK</a:t>
            </a:r>
            <a:endParaRPr lang="en-US" sz="2800" dirty="0"/>
          </a:p>
        </p:txBody>
      </p:sp>
      <p:sp>
        <p:nvSpPr>
          <p:cNvPr id="5" name="Text 3"/>
          <p:cNvSpPr/>
          <p:nvPr/>
        </p:nvSpPr>
        <p:spPr>
          <a:xfrm>
            <a:off x="5029200" y="0"/>
            <a:ext cx="3657600" cy="914400"/>
          </a:xfrm>
          <a:prstGeom prst="rect">
            <a:avLst/>
          </a:prstGeom>
          <a:noFill/>
          <a:ln/>
        </p:spPr>
        <p:txBody>
          <a:bodyPr wrap="square" lIns="0" tIns="0" rIns="0" bIns="0" rtlCol="0" anchor="ctr"/>
          <a:lstStyle/>
          <a:p>
            <a:pPr algn="r" indent="0" marL="0">
              <a:buNone/>
            </a:pPr>
            <a:r>
              <a:rPr lang="en-US" sz="1200" i="1" dirty="0">
                <a:solidFill>
                  <a:srgbClr val="328442"/>
                </a:solidFill>
                <a:latin typeface="Calibri" pitchFamily="34" charset="0"/>
                <a:ea typeface="Calibri" pitchFamily="34" charset="-122"/>
                <a:cs typeface="Calibri" pitchFamily="34" charset="-120"/>
              </a:rPr>
              <a:t>Công nghệ hiện đại — Bảo mật — Dễ mở rộng</a:t>
            </a:r>
            <a:endParaRPr lang="en-US" sz="1200" dirty="0"/>
          </a:p>
        </p:txBody>
      </p:sp>
      <p:sp>
        <p:nvSpPr>
          <p:cNvPr id="6" name="Shape 4"/>
          <p:cNvSpPr/>
          <p:nvPr/>
        </p:nvSpPr>
        <p:spPr>
          <a:xfrm>
            <a:off x="365760" y="1051560"/>
            <a:ext cx="2743200" cy="365760"/>
          </a:xfrm>
          <a:prstGeom prst="rect">
            <a:avLst/>
          </a:prstGeom>
          <a:solidFill>
            <a:srgbClr val="328442"/>
          </a:solidFill>
          <a:ln w="12700">
            <a:solidFill>
              <a:srgbClr val="328442"/>
            </a:solidFill>
            <a:prstDash val="solid"/>
          </a:ln>
        </p:spPr>
      </p:sp>
      <p:sp>
        <p:nvSpPr>
          <p:cNvPr id="7" name="Text 5"/>
          <p:cNvSpPr/>
          <p:nvPr/>
        </p:nvSpPr>
        <p:spPr>
          <a:xfrm>
            <a:off x="365760" y="105156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8" name="Shape 6"/>
          <p:cNvSpPr/>
          <p:nvPr/>
        </p:nvSpPr>
        <p:spPr>
          <a:xfrm>
            <a:off x="365760" y="1508760"/>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365760" y="1508760"/>
            <a:ext cx="54864" cy="594360"/>
          </a:xfrm>
          <a:prstGeom prst="rect">
            <a:avLst/>
          </a:prstGeom>
          <a:solidFill>
            <a:srgbClr val="328442"/>
          </a:solidFill>
          <a:ln w="12700">
            <a:solidFill>
              <a:srgbClr val="328442"/>
            </a:solidFill>
            <a:prstDash val="solid"/>
          </a:ln>
        </p:spPr>
      </p:sp>
      <p:sp>
        <p:nvSpPr>
          <p:cNvPr id="10" name="Text 8"/>
          <p:cNvSpPr/>
          <p:nvPr/>
        </p:nvSpPr>
        <p:spPr>
          <a:xfrm>
            <a:off x="502920" y="1581912"/>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Next.js 16</a:t>
            </a:r>
            <a:endParaRPr lang="en-US" sz="1200" dirty="0"/>
          </a:p>
        </p:txBody>
      </p:sp>
      <p:sp>
        <p:nvSpPr>
          <p:cNvPr id="11" name="Text 9"/>
          <p:cNvSpPr/>
          <p:nvPr/>
        </p:nvSpPr>
        <p:spPr>
          <a:xfrm>
            <a:off x="502920" y="1828800"/>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 Router, Turbopack, SSR &amp; SSG</a:t>
            </a:r>
            <a:endParaRPr lang="en-US" sz="950" dirty="0"/>
          </a:p>
        </p:txBody>
      </p:sp>
      <p:sp>
        <p:nvSpPr>
          <p:cNvPr id="12" name="Shape 10"/>
          <p:cNvSpPr/>
          <p:nvPr/>
        </p:nvSpPr>
        <p:spPr>
          <a:xfrm>
            <a:off x="365760" y="2203704"/>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65760" y="2203704"/>
            <a:ext cx="54864" cy="594360"/>
          </a:xfrm>
          <a:prstGeom prst="rect">
            <a:avLst/>
          </a:prstGeom>
          <a:solidFill>
            <a:srgbClr val="328442"/>
          </a:solidFill>
          <a:ln w="12700">
            <a:solidFill>
              <a:srgbClr val="328442"/>
            </a:solidFill>
            <a:prstDash val="solid"/>
          </a:ln>
        </p:spPr>
      </p:sp>
      <p:sp>
        <p:nvSpPr>
          <p:cNvPr id="14" name="Text 12"/>
          <p:cNvSpPr/>
          <p:nvPr/>
        </p:nvSpPr>
        <p:spPr>
          <a:xfrm>
            <a:off x="502920" y="2276856"/>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React 19</a:t>
            </a:r>
            <a:endParaRPr lang="en-US" sz="1200" dirty="0"/>
          </a:p>
        </p:txBody>
      </p:sp>
      <p:sp>
        <p:nvSpPr>
          <p:cNvPr id="15" name="Text 13"/>
          <p:cNvSpPr/>
          <p:nvPr/>
        </p:nvSpPr>
        <p:spPr>
          <a:xfrm>
            <a:off x="502920" y="2523744"/>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UI component library</a:t>
            </a:r>
            <a:endParaRPr lang="en-US" sz="950" dirty="0"/>
          </a:p>
        </p:txBody>
      </p:sp>
      <p:sp>
        <p:nvSpPr>
          <p:cNvPr id="16" name="Shape 14"/>
          <p:cNvSpPr/>
          <p:nvPr/>
        </p:nvSpPr>
        <p:spPr>
          <a:xfrm>
            <a:off x="365760" y="2898648"/>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65760" y="2898648"/>
            <a:ext cx="54864" cy="594360"/>
          </a:xfrm>
          <a:prstGeom prst="rect">
            <a:avLst/>
          </a:prstGeom>
          <a:solidFill>
            <a:srgbClr val="328442"/>
          </a:solidFill>
          <a:ln w="12700">
            <a:solidFill>
              <a:srgbClr val="328442"/>
            </a:solidFill>
            <a:prstDash val="solid"/>
          </a:ln>
        </p:spPr>
      </p:sp>
      <p:sp>
        <p:nvSpPr>
          <p:cNvPr id="18" name="Text 16"/>
          <p:cNvSpPr/>
          <p:nvPr/>
        </p:nvSpPr>
        <p:spPr>
          <a:xfrm>
            <a:off x="502920" y="2971800"/>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Tailwind CSS v4</a:t>
            </a:r>
            <a:endParaRPr lang="en-US" sz="1200" dirty="0"/>
          </a:p>
        </p:txBody>
      </p:sp>
      <p:sp>
        <p:nvSpPr>
          <p:cNvPr id="19" name="Text 17"/>
          <p:cNvSpPr/>
          <p:nvPr/>
        </p:nvSpPr>
        <p:spPr>
          <a:xfrm>
            <a:off x="502920" y="3218688"/>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Utility-first styling</a:t>
            </a:r>
            <a:endParaRPr lang="en-US" sz="950" dirty="0"/>
          </a:p>
        </p:txBody>
      </p:sp>
      <p:sp>
        <p:nvSpPr>
          <p:cNvPr id="20" name="Shape 18"/>
          <p:cNvSpPr/>
          <p:nvPr/>
        </p:nvSpPr>
        <p:spPr>
          <a:xfrm>
            <a:off x="365760" y="3593592"/>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65760" y="3593592"/>
            <a:ext cx="54864" cy="594360"/>
          </a:xfrm>
          <a:prstGeom prst="rect">
            <a:avLst/>
          </a:prstGeom>
          <a:solidFill>
            <a:srgbClr val="328442"/>
          </a:solidFill>
          <a:ln w="12700">
            <a:solidFill>
              <a:srgbClr val="328442"/>
            </a:solidFill>
            <a:prstDash val="solid"/>
          </a:ln>
        </p:spPr>
      </p:sp>
      <p:sp>
        <p:nvSpPr>
          <p:cNvPr id="22" name="Text 20"/>
          <p:cNvSpPr/>
          <p:nvPr/>
        </p:nvSpPr>
        <p:spPr>
          <a:xfrm>
            <a:off x="502920" y="3666744"/>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Framer Motion</a:t>
            </a:r>
            <a:endParaRPr lang="en-US" sz="1200" dirty="0"/>
          </a:p>
        </p:txBody>
      </p:sp>
      <p:sp>
        <p:nvSpPr>
          <p:cNvPr id="23" name="Text 21"/>
          <p:cNvSpPr/>
          <p:nvPr/>
        </p:nvSpPr>
        <p:spPr>
          <a:xfrm>
            <a:off x="502920" y="3913632"/>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Animations &amp; transitions</a:t>
            </a:r>
            <a:endParaRPr lang="en-US" sz="950" dirty="0"/>
          </a:p>
        </p:txBody>
      </p:sp>
      <p:sp>
        <p:nvSpPr>
          <p:cNvPr id="24" name="Shape 22"/>
          <p:cNvSpPr/>
          <p:nvPr/>
        </p:nvSpPr>
        <p:spPr>
          <a:xfrm>
            <a:off x="365760" y="4288536"/>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65760" y="4288536"/>
            <a:ext cx="54864" cy="594360"/>
          </a:xfrm>
          <a:prstGeom prst="rect">
            <a:avLst/>
          </a:prstGeom>
          <a:solidFill>
            <a:srgbClr val="328442"/>
          </a:solidFill>
          <a:ln w="12700">
            <a:solidFill>
              <a:srgbClr val="328442"/>
            </a:solidFill>
            <a:prstDash val="solid"/>
          </a:ln>
        </p:spPr>
      </p:sp>
      <p:sp>
        <p:nvSpPr>
          <p:cNvPr id="26" name="Text 24"/>
          <p:cNvSpPr/>
          <p:nvPr/>
        </p:nvSpPr>
        <p:spPr>
          <a:xfrm>
            <a:off x="502920" y="4361688"/>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next-intl</a:t>
            </a:r>
            <a:endParaRPr lang="en-US" sz="1200" dirty="0"/>
          </a:p>
        </p:txBody>
      </p:sp>
      <p:sp>
        <p:nvSpPr>
          <p:cNvPr id="27" name="Text 25"/>
          <p:cNvSpPr/>
          <p:nvPr/>
        </p:nvSpPr>
        <p:spPr>
          <a:xfrm>
            <a:off x="502920" y="4608576"/>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Vi/En internationalization</a:t>
            </a:r>
            <a:endParaRPr lang="en-US" sz="950" dirty="0"/>
          </a:p>
        </p:txBody>
      </p:sp>
      <p:sp>
        <p:nvSpPr>
          <p:cNvPr id="28" name="Shape 26"/>
          <p:cNvSpPr/>
          <p:nvPr/>
        </p:nvSpPr>
        <p:spPr>
          <a:xfrm>
            <a:off x="3291840" y="1051560"/>
            <a:ext cx="2743200" cy="365760"/>
          </a:xfrm>
          <a:prstGeom prst="rect">
            <a:avLst/>
          </a:prstGeom>
          <a:solidFill>
            <a:srgbClr val="BE7B2B"/>
          </a:solidFill>
          <a:ln w="12700">
            <a:solidFill>
              <a:srgbClr val="BE7B2B"/>
            </a:solidFill>
            <a:prstDash val="solid"/>
          </a:ln>
        </p:spPr>
      </p:sp>
      <p:sp>
        <p:nvSpPr>
          <p:cNvPr id="29" name="Text 27"/>
          <p:cNvSpPr/>
          <p:nvPr/>
        </p:nvSpPr>
        <p:spPr>
          <a:xfrm>
            <a:off x="3291840" y="105156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Backend &amp; Database</a:t>
            </a:r>
            <a:endParaRPr lang="en-US" sz="1200" dirty="0"/>
          </a:p>
        </p:txBody>
      </p:sp>
      <p:sp>
        <p:nvSpPr>
          <p:cNvPr id="30" name="Shape 28"/>
          <p:cNvSpPr/>
          <p:nvPr/>
        </p:nvSpPr>
        <p:spPr>
          <a:xfrm>
            <a:off x="3291840" y="1508760"/>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3291840" y="1508760"/>
            <a:ext cx="54864" cy="594360"/>
          </a:xfrm>
          <a:prstGeom prst="rect">
            <a:avLst/>
          </a:prstGeom>
          <a:solidFill>
            <a:srgbClr val="BE7B2B"/>
          </a:solidFill>
          <a:ln w="12700">
            <a:solidFill>
              <a:srgbClr val="BE7B2B"/>
            </a:solidFill>
            <a:prstDash val="solid"/>
          </a:ln>
        </p:spPr>
      </p:sp>
      <p:sp>
        <p:nvSpPr>
          <p:cNvPr id="32" name="Text 30"/>
          <p:cNvSpPr/>
          <p:nvPr/>
        </p:nvSpPr>
        <p:spPr>
          <a:xfrm>
            <a:off x="3429000" y="1581912"/>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Next.js API Routes</a:t>
            </a:r>
            <a:endParaRPr lang="en-US" sz="1200" dirty="0"/>
          </a:p>
        </p:txBody>
      </p:sp>
      <p:sp>
        <p:nvSpPr>
          <p:cNvPr id="33" name="Text 31"/>
          <p:cNvSpPr/>
          <p:nvPr/>
        </p:nvSpPr>
        <p:spPr>
          <a:xfrm>
            <a:off x="3429000" y="1828800"/>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RESTful endpoints</a:t>
            </a:r>
            <a:endParaRPr lang="en-US" sz="950" dirty="0"/>
          </a:p>
        </p:txBody>
      </p:sp>
      <p:sp>
        <p:nvSpPr>
          <p:cNvPr id="34" name="Shape 32"/>
          <p:cNvSpPr/>
          <p:nvPr/>
        </p:nvSpPr>
        <p:spPr>
          <a:xfrm>
            <a:off x="3291840" y="2203704"/>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3291840" y="2203704"/>
            <a:ext cx="54864" cy="594360"/>
          </a:xfrm>
          <a:prstGeom prst="rect">
            <a:avLst/>
          </a:prstGeom>
          <a:solidFill>
            <a:srgbClr val="BE7B2B"/>
          </a:solidFill>
          <a:ln w="12700">
            <a:solidFill>
              <a:srgbClr val="BE7B2B"/>
            </a:solidFill>
            <a:prstDash val="solid"/>
          </a:ln>
        </p:spPr>
      </p:sp>
      <p:sp>
        <p:nvSpPr>
          <p:cNvPr id="36" name="Text 34"/>
          <p:cNvSpPr/>
          <p:nvPr/>
        </p:nvSpPr>
        <p:spPr>
          <a:xfrm>
            <a:off x="3429000" y="2276856"/>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PostgreSQL</a:t>
            </a:r>
            <a:endParaRPr lang="en-US" sz="1200" dirty="0"/>
          </a:p>
        </p:txBody>
      </p:sp>
      <p:sp>
        <p:nvSpPr>
          <p:cNvPr id="37" name="Text 35"/>
          <p:cNvSpPr/>
          <p:nvPr/>
        </p:nvSpPr>
        <p:spPr>
          <a:xfrm>
            <a:off x="3429000" y="2523744"/>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Relational database</a:t>
            </a:r>
            <a:endParaRPr lang="en-US" sz="950" dirty="0"/>
          </a:p>
        </p:txBody>
      </p:sp>
      <p:sp>
        <p:nvSpPr>
          <p:cNvPr id="38" name="Shape 36"/>
          <p:cNvSpPr/>
          <p:nvPr/>
        </p:nvSpPr>
        <p:spPr>
          <a:xfrm>
            <a:off x="3291840" y="2898648"/>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9" name="Shape 37"/>
          <p:cNvSpPr/>
          <p:nvPr/>
        </p:nvSpPr>
        <p:spPr>
          <a:xfrm>
            <a:off x="3291840" y="2898648"/>
            <a:ext cx="54864" cy="594360"/>
          </a:xfrm>
          <a:prstGeom prst="rect">
            <a:avLst/>
          </a:prstGeom>
          <a:solidFill>
            <a:srgbClr val="BE7B2B"/>
          </a:solidFill>
          <a:ln w="12700">
            <a:solidFill>
              <a:srgbClr val="BE7B2B"/>
            </a:solidFill>
            <a:prstDash val="solid"/>
          </a:ln>
        </p:spPr>
      </p:sp>
      <p:sp>
        <p:nvSpPr>
          <p:cNvPr id="40" name="Text 38"/>
          <p:cNvSpPr/>
          <p:nvPr/>
        </p:nvSpPr>
        <p:spPr>
          <a:xfrm>
            <a:off x="3429000" y="2971800"/>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Prisma ORM v7</a:t>
            </a:r>
            <a:endParaRPr lang="en-US" sz="1200" dirty="0"/>
          </a:p>
        </p:txBody>
      </p:sp>
      <p:sp>
        <p:nvSpPr>
          <p:cNvPr id="41" name="Text 39"/>
          <p:cNvSpPr/>
          <p:nvPr/>
        </p:nvSpPr>
        <p:spPr>
          <a:xfrm>
            <a:off x="3429000" y="3218688"/>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Type-safe database queries</a:t>
            </a:r>
            <a:endParaRPr lang="en-US" sz="950" dirty="0"/>
          </a:p>
        </p:txBody>
      </p:sp>
      <p:sp>
        <p:nvSpPr>
          <p:cNvPr id="42" name="Shape 40"/>
          <p:cNvSpPr/>
          <p:nvPr/>
        </p:nvSpPr>
        <p:spPr>
          <a:xfrm>
            <a:off x="3291840" y="3593592"/>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3" name="Shape 41"/>
          <p:cNvSpPr/>
          <p:nvPr/>
        </p:nvSpPr>
        <p:spPr>
          <a:xfrm>
            <a:off x="3291840" y="3593592"/>
            <a:ext cx="54864" cy="594360"/>
          </a:xfrm>
          <a:prstGeom prst="rect">
            <a:avLst/>
          </a:prstGeom>
          <a:solidFill>
            <a:srgbClr val="BE7B2B"/>
          </a:solidFill>
          <a:ln w="12700">
            <a:solidFill>
              <a:srgbClr val="BE7B2B"/>
            </a:solidFill>
            <a:prstDash val="solid"/>
          </a:ln>
        </p:spPr>
      </p:sp>
      <p:sp>
        <p:nvSpPr>
          <p:cNvPr id="44" name="Text 42"/>
          <p:cNvSpPr/>
          <p:nvPr/>
        </p:nvSpPr>
        <p:spPr>
          <a:xfrm>
            <a:off x="3429000" y="3666744"/>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PrismaPg Adapter</a:t>
            </a:r>
            <a:endParaRPr lang="en-US" sz="1200" dirty="0"/>
          </a:p>
        </p:txBody>
      </p:sp>
      <p:sp>
        <p:nvSpPr>
          <p:cNvPr id="45" name="Text 43"/>
          <p:cNvSpPr/>
          <p:nvPr/>
        </p:nvSpPr>
        <p:spPr>
          <a:xfrm>
            <a:off x="3429000" y="3913632"/>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Native PostgreSQL driver</a:t>
            </a:r>
            <a:endParaRPr lang="en-US" sz="950" dirty="0"/>
          </a:p>
        </p:txBody>
      </p:sp>
      <p:sp>
        <p:nvSpPr>
          <p:cNvPr id="46" name="Shape 44"/>
          <p:cNvSpPr/>
          <p:nvPr/>
        </p:nvSpPr>
        <p:spPr>
          <a:xfrm>
            <a:off x="6217920" y="1051560"/>
            <a:ext cx="2743200" cy="365760"/>
          </a:xfrm>
          <a:prstGeom prst="rect">
            <a:avLst/>
          </a:prstGeom>
          <a:solidFill>
            <a:srgbClr val="97BC62"/>
          </a:solidFill>
          <a:ln w="12700">
            <a:solidFill>
              <a:srgbClr val="97BC62"/>
            </a:solidFill>
            <a:prstDash val="solid"/>
          </a:ln>
        </p:spPr>
      </p:sp>
      <p:sp>
        <p:nvSpPr>
          <p:cNvPr id="47" name="Text 45"/>
          <p:cNvSpPr/>
          <p:nvPr/>
        </p:nvSpPr>
        <p:spPr>
          <a:xfrm>
            <a:off x="6217920" y="105156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Deploy &amp; Infra</a:t>
            </a:r>
            <a:endParaRPr lang="en-US" sz="1200" dirty="0"/>
          </a:p>
        </p:txBody>
      </p:sp>
      <p:sp>
        <p:nvSpPr>
          <p:cNvPr id="48" name="Shape 46"/>
          <p:cNvSpPr/>
          <p:nvPr/>
        </p:nvSpPr>
        <p:spPr>
          <a:xfrm>
            <a:off x="6217920" y="1508760"/>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9" name="Shape 47"/>
          <p:cNvSpPr/>
          <p:nvPr/>
        </p:nvSpPr>
        <p:spPr>
          <a:xfrm>
            <a:off x="6217920" y="1508760"/>
            <a:ext cx="54864" cy="594360"/>
          </a:xfrm>
          <a:prstGeom prst="rect">
            <a:avLst/>
          </a:prstGeom>
          <a:solidFill>
            <a:srgbClr val="97BC62"/>
          </a:solidFill>
          <a:ln w="12700">
            <a:solidFill>
              <a:srgbClr val="97BC62"/>
            </a:solidFill>
            <a:prstDash val="solid"/>
          </a:ln>
        </p:spPr>
      </p:sp>
      <p:sp>
        <p:nvSpPr>
          <p:cNvPr id="50" name="Text 48"/>
          <p:cNvSpPr/>
          <p:nvPr/>
        </p:nvSpPr>
        <p:spPr>
          <a:xfrm>
            <a:off x="6355080" y="1581912"/>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Vercel</a:t>
            </a:r>
            <a:endParaRPr lang="en-US" sz="1200" dirty="0"/>
          </a:p>
        </p:txBody>
      </p:sp>
      <p:sp>
        <p:nvSpPr>
          <p:cNvPr id="51" name="Text 49"/>
          <p:cNvSpPr/>
          <p:nvPr/>
        </p:nvSpPr>
        <p:spPr>
          <a:xfrm>
            <a:off x="6355080" y="1828800"/>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Edge deployment, CDN global</a:t>
            </a:r>
            <a:endParaRPr lang="en-US" sz="950" dirty="0"/>
          </a:p>
        </p:txBody>
      </p:sp>
      <p:sp>
        <p:nvSpPr>
          <p:cNvPr id="52" name="Shape 50"/>
          <p:cNvSpPr/>
          <p:nvPr/>
        </p:nvSpPr>
        <p:spPr>
          <a:xfrm>
            <a:off x="6217920" y="2203704"/>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3" name="Shape 51"/>
          <p:cNvSpPr/>
          <p:nvPr/>
        </p:nvSpPr>
        <p:spPr>
          <a:xfrm>
            <a:off x="6217920" y="2203704"/>
            <a:ext cx="54864" cy="594360"/>
          </a:xfrm>
          <a:prstGeom prst="rect">
            <a:avLst/>
          </a:prstGeom>
          <a:solidFill>
            <a:srgbClr val="97BC62"/>
          </a:solidFill>
          <a:ln w="12700">
            <a:solidFill>
              <a:srgbClr val="97BC62"/>
            </a:solidFill>
            <a:prstDash val="solid"/>
          </a:ln>
        </p:spPr>
      </p:sp>
      <p:sp>
        <p:nvSpPr>
          <p:cNvPr id="54" name="Text 52"/>
          <p:cNvSpPr/>
          <p:nvPr/>
        </p:nvSpPr>
        <p:spPr>
          <a:xfrm>
            <a:off x="6355080" y="2276856"/>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GitHub CI/CD</a:t>
            </a:r>
            <a:endParaRPr lang="en-US" sz="1200" dirty="0"/>
          </a:p>
        </p:txBody>
      </p:sp>
      <p:sp>
        <p:nvSpPr>
          <p:cNvPr id="55" name="Text 53"/>
          <p:cNvSpPr/>
          <p:nvPr/>
        </p:nvSpPr>
        <p:spPr>
          <a:xfrm>
            <a:off x="6355080" y="2523744"/>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Auto deploy on push</a:t>
            </a:r>
            <a:endParaRPr lang="en-US" sz="950" dirty="0"/>
          </a:p>
        </p:txBody>
      </p:sp>
      <p:sp>
        <p:nvSpPr>
          <p:cNvPr id="56" name="Shape 54"/>
          <p:cNvSpPr/>
          <p:nvPr/>
        </p:nvSpPr>
        <p:spPr>
          <a:xfrm>
            <a:off x="6217920" y="2898648"/>
            <a:ext cx="274320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7" name="Shape 55"/>
          <p:cNvSpPr/>
          <p:nvPr/>
        </p:nvSpPr>
        <p:spPr>
          <a:xfrm>
            <a:off x="6217920" y="2898648"/>
            <a:ext cx="54864" cy="594360"/>
          </a:xfrm>
          <a:prstGeom prst="rect">
            <a:avLst/>
          </a:prstGeom>
          <a:solidFill>
            <a:srgbClr val="97BC62"/>
          </a:solidFill>
          <a:ln w="12700">
            <a:solidFill>
              <a:srgbClr val="97BC62"/>
            </a:solidFill>
            <a:prstDash val="solid"/>
          </a:ln>
        </p:spPr>
      </p:sp>
      <p:sp>
        <p:nvSpPr>
          <p:cNvPr id="58" name="Text 56"/>
          <p:cNvSpPr/>
          <p:nvPr/>
        </p:nvSpPr>
        <p:spPr>
          <a:xfrm>
            <a:off x="6355080" y="2971800"/>
            <a:ext cx="2514600" cy="237744"/>
          </a:xfrm>
          <a:prstGeom prst="rect">
            <a:avLst/>
          </a:prstGeom>
          <a:noFill/>
          <a:ln/>
        </p:spPr>
        <p:txBody>
          <a:bodyPr wrap="square" lIns="0" tIns="0" rIns="0" bIns="0" rtlCol="0" anchor="ctr"/>
          <a:lstStyle/>
          <a:p>
            <a:pPr indent="0" marL="0">
              <a:buNone/>
            </a:pPr>
            <a:r>
              <a:rPr lang="en-US" sz="1200" b="1" dirty="0">
                <a:solidFill>
                  <a:srgbClr val="1A2E1C"/>
                </a:solidFill>
                <a:latin typeface="Calibri" pitchFamily="34" charset="0"/>
                <a:ea typeface="Calibri" pitchFamily="34" charset="-122"/>
                <a:cs typeface="Calibri" pitchFamily="34" charset="-120"/>
              </a:rPr>
              <a:t>TypeScript</a:t>
            </a:r>
            <a:endParaRPr lang="en-US" sz="1200" dirty="0"/>
          </a:p>
        </p:txBody>
      </p:sp>
      <p:sp>
        <p:nvSpPr>
          <p:cNvPr id="59" name="Text 57"/>
          <p:cNvSpPr/>
          <p:nvPr/>
        </p:nvSpPr>
        <p:spPr>
          <a:xfrm>
            <a:off x="6355080" y="3218688"/>
            <a:ext cx="2514600" cy="20116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Type-safe codebase</a:t>
            </a:r>
            <a:endParaRPr lang="en-US" sz="950" dirty="0"/>
          </a:p>
        </p:txBody>
      </p:sp>
      <p:sp>
        <p:nvSpPr>
          <p:cNvPr id="60" name="Shape 58"/>
          <p:cNvSpPr/>
          <p:nvPr/>
        </p:nvSpPr>
        <p:spPr>
          <a:xfrm>
            <a:off x="365760" y="4663440"/>
            <a:ext cx="8412480" cy="320040"/>
          </a:xfrm>
          <a:prstGeom prst="rect">
            <a:avLst/>
          </a:prstGeom>
          <a:solidFill>
            <a:srgbClr val="07130A"/>
          </a:solidFill>
          <a:ln w="12700">
            <a:solidFill>
              <a:srgbClr val="07130A"/>
            </a:solidFill>
            <a:prstDash val="solid"/>
          </a:ln>
        </p:spPr>
      </p:sp>
      <p:sp>
        <p:nvSpPr>
          <p:cNvPr id="61" name="Text 59"/>
          <p:cNvSpPr/>
          <p:nvPr/>
        </p:nvSpPr>
        <p:spPr>
          <a:xfrm>
            <a:off x="365760" y="4681728"/>
            <a:ext cx="8412480" cy="283464"/>
          </a:xfrm>
          <a:prstGeom prst="rect">
            <a:avLst/>
          </a:prstGeom>
          <a:noFill/>
          <a:ln/>
        </p:spPr>
        <p:txBody>
          <a:bodyPr wrap="square" lIns="0" tIns="0" rIns="0" bIns="0" rtlCol="0" anchor="ctr"/>
          <a:lstStyle/>
          <a:p>
            <a:pPr algn="ctr" indent="0" marL="0">
              <a:buNone/>
            </a:pPr>
            <a:r>
              <a:rPr lang="en-US" sz="1000" dirty="0">
                <a:solidFill>
                  <a:srgbClr val="97BC62"/>
                </a:solidFill>
                <a:latin typeface="Calibri" pitchFamily="34" charset="0"/>
                <a:ea typeface="Calibri" pitchFamily="34" charset="-122"/>
                <a:cs typeface="Calibri" pitchFamily="34" charset="-120"/>
              </a:rPr>
              <a:t>✅  Production-ready  |  ✅  Scalable  |  ✅  SEO Optimized  |  ✅  Secure  |  ✅  Maintainable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30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28442"/>
          </a:solidFill>
          <a:ln w="12700">
            <a:solidFill>
              <a:srgbClr val="328442"/>
            </a:solidFill>
            <a:prstDash val="solid"/>
          </a:ln>
        </p:spPr>
      </p:sp>
      <p:sp>
        <p:nvSpPr>
          <p:cNvPr id="3" name="Text 1"/>
          <p:cNvSpPr/>
          <p:nvPr/>
        </p:nvSpPr>
        <p:spPr>
          <a:xfrm>
            <a:off x="457200" y="13716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LỘ TRÌNH TRIỂN KHAI</a:t>
            </a:r>
            <a:endParaRPr lang="en-US" sz="3000" dirty="0"/>
          </a:p>
        </p:txBody>
      </p:sp>
      <p:sp>
        <p:nvSpPr>
          <p:cNvPr id="4" name="Text 2"/>
          <p:cNvSpPr/>
          <p:nvPr/>
        </p:nvSpPr>
        <p:spPr>
          <a:xfrm>
            <a:off x="457200" y="749808"/>
            <a:ext cx="8229600" cy="274320"/>
          </a:xfrm>
          <a:prstGeom prst="rect">
            <a:avLst/>
          </a:prstGeom>
          <a:noFill/>
          <a:ln/>
        </p:spPr>
        <p:txBody>
          <a:bodyPr wrap="square" lIns="0" tIns="0" rIns="0" bIns="0" rtlCol="0" anchor="ctr"/>
          <a:lstStyle/>
          <a:p>
            <a:pPr indent="0" marL="0">
              <a:buNone/>
            </a:pPr>
            <a:r>
              <a:rPr lang="en-US" sz="1200" i="1" dirty="0">
                <a:solidFill>
                  <a:srgbClr val="AACCB0"/>
                </a:solidFill>
                <a:latin typeface="Calibri" pitchFamily="34" charset="0"/>
                <a:ea typeface="Calibri" pitchFamily="34" charset="-122"/>
                <a:cs typeface="Calibri" pitchFamily="34" charset="-120"/>
              </a:rPr>
              <a:t>Từ prototype đến production — Từng bước rõ ràng</a:t>
            </a:r>
            <a:endParaRPr lang="en-US" sz="1200" dirty="0"/>
          </a:p>
        </p:txBody>
      </p:sp>
      <p:sp>
        <p:nvSpPr>
          <p:cNvPr id="5" name="Shape 3"/>
          <p:cNvSpPr/>
          <p:nvPr/>
        </p:nvSpPr>
        <p:spPr>
          <a:xfrm>
            <a:off x="914400" y="2103120"/>
            <a:ext cx="7132320" cy="0"/>
          </a:xfrm>
          <a:prstGeom prst="line">
            <a:avLst/>
          </a:prstGeom>
          <a:noFill/>
          <a:ln w="25400">
            <a:solidFill>
              <a:srgbClr val="2D4A2F"/>
            </a:solidFill>
            <a:prstDash val="solid"/>
          </a:ln>
        </p:spPr>
      </p:sp>
      <p:sp>
        <p:nvSpPr>
          <p:cNvPr id="6" name="Shape 4"/>
          <p:cNvSpPr/>
          <p:nvPr/>
        </p:nvSpPr>
        <p:spPr>
          <a:xfrm>
            <a:off x="1143000" y="1938528"/>
            <a:ext cx="320040" cy="320040"/>
          </a:xfrm>
          <a:prstGeom prst="ellipse">
            <a:avLst/>
          </a:prstGeom>
          <a:solidFill>
            <a:srgbClr val="328442"/>
          </a:solidFill>
          <a:ln w="12700">
            <a:solidFill>
              <a:srgbClr val="328442"/>
            </a:solidFill>
            <a:prstDash val="solid"/>
          </a:ln>
        </p:spPr>
      </p:sp>
      <p:sp>
        <p:nvSpPr>
          <p:cNvPr id="7" name="Text 5"/>
          <p:cNvSpPr/>
          <p:nvPr/>
        </p:nvSpPr>
        <p:spPr>
          <a:xfrm>
            <a:off x="1143000" y="1938528"/>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8" name="Shape 6"/>
          <p:cNvSpPr/>
          <p:nvPr/>
        </p:nvSpPr>
        <p:spPr>
          <a:xfrm>
            <a:off x="548640" y="2377440"/>
            <a:ext cx="1783080" cy="2468880"/>
          </a:xfrm>
          <a:prstGeom prst="rect">
            <a:avLst/>
          </a:prstGeom>
          <a:solidFill>
            <a:srgbClr val="0D2210"/>
          </a:solidFill>
          <a:ln w="12700">
            <a:solidFill>
              <a:srgbClr val="328442"/>
            </a:solidFill>
            <a:prstDash val="solid"/>
          </a:ln>
        </p:spPr>
      </p:sp>
      <p:sp>
        <p:nvSpPr>
          <p:cNvPr id="9" name="Shape 7"/>
          <p:cNvSpPr/>
          <p:nvPr/>
        </p:nvSpPr>
        <p:spPr>
          <a:xfrm>
            <a:off x="548640" y="2377440"/>
            <a:ext cx="1783080" cy="64008"/>
          </a:xfrm>
          <a:prstGeom prst="rect">
            <a:avLst/>
          </a:prstGeom>
          <a:solidFill>
            <a:srgbClr val="328442"/>
          </a:solidFill>
          <a:ln w="12700">
            <a:solidFill>
              <a:srgbClr val="328442"/>
            </a:solidFill>
            <a:prstDash val="solid"/>
          </a:ln>
        </p:spPr>
      </p:sp>
      <p:sp>
        <p:nvSpPr>
          <p:cNvPr id="10" name="Text 8"/>
          <p:cNvSpPr/>
          <p:nvPr/>
        </p:nvSpPr>
        <p:spPr>
          <a:xfrm>
            <a:off x="640080" y="2423160"/>
            <a:ext cx="1600200" cy="256032"/>
          </a:xfrm>
          <a:prstGeom prst="rect">
            <a:avLst/>
          </a:prstGeom>
          <a:noFill/>
          <a:ln/>
        </p:spPr>
        <p:txBody>
          <a:bodyPr wrap="square" lIns="0" tIns="0" rIns="0" bIns="0" rtlCol="0" anchor="ctr"/>
          <a:lstStyle/>
          <a:p>
            <a:pPr indent="0" marL="0">
              <a:buNone/>
            </a:pPr>
            <a:r>
              <a:rPr lang="en-US" sz="1000" b="1" dirty="0">
                <a:solidFill>
                  <a:srgbClr val="328442"/>
                </a:solidFill>
                <a:latin typeface="Calibri" pitchFamily="34" charset="0"/>
                <a:ea typeface="Calibri" pitchFamily="34" charset="-122"/>
                <a:cs typeface="Calibri" pitchFamily="34" charset="-120"/>
              </a:rPr>
              <a:t>Phase 1</a:t>
            </a:r>
            <a:endParaRPr lang="en-US" sz="1000" dirty="0"/>
          </a:p>
        </p:txBody>
      </p:sp>
      <p:sp>
        <p:nvSpPr>
          <p:cNvPr id="11" name="Text 9"/>
          <p:cNvSpPr/>
          <p:nvPr/>
        </p:nvSpPr>
        <p:spPr>
          <a:xfrm>
            <a:off x="640080" y="2651760"/>
            <a:ext cx="1600200" cy="5029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Hoàn thiện</a:t>
            </a:r>
            <a:endParaRPr lang="en-US" sz="1100" dirty="0"/>
          </a:p>
          <a:p>
            <a:pPr indent="0" marL="0">
              <a:buNone/>
            </a:pPr>
            <a:r>
              <a:rPr lang="en-US" sz="1100" b="1" dirty="0">
                <a:solidFill>
                  <a:srgbClr val="FFFFFF"/>
                </a:solidFill>
                <a:latin typeface="Georgia" pitchFamily="34" charset="0"/>
                <a:ea typeface="Georgia" pitchFamily="34" charset="-122"/>
                <a:cs typeface="Georgia" pitchFamily="34" charset="-120"/>
              </a:rPr>
              <a:t>Core Website</a:t>
            </a:r>
            <a:endParaRPr lang="en-US" sz="1100" dirty="0"/>
          </a:p>
        </p:txBody>
      </p:sp>
      <p:sp>
        <p:nvSpPr>
          <p:cNvPr id="12" name="Text 10"/>
          <p:cNvSpPr/>
          <p:nvPr/>
        </p:nvSpPr>
        <p:spPr>
          <a:xfrm>
            <a:off x="640080" y="32004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Tuần 1–2</a:t>
            </a:r>
            <a:endParaRPr lang="en-US" sz="900" dirty="0"/>
          </a:p>
        </p:txBody>
      </p:sp>
      <p:sp>
        <p:nvSpPr>
          <p:cNvPr id="13" name="Shape 11"/>
          <p:cNvSpPr/>
          <p:nvPr/>
        </p:nvSpPr>
        <p:spPr>
          <a:xfrm>
            <a:off x="640080" y="3474720"/>
            <a:ext cx="1600200" cy="0"/>
          </a:xfrm>
          <a:prstGeom prst="line">
            <a:avLst/>
          </a:prstGeom>
          <a:noFill/>
          <a:ln w="6350">
            <a:solidFill>
              <a:srgbClr val="2D4A2F"/>
            </a:solidFill>
            <a:prstDash val="solid"/>
          </a:ln>
        </p:spPr>
      </p:sp>
      <p:sp>
        <p:nvSpPr>
          <p:cNvPr id="14" name="Text 12"/>
          <p:cNvSpPr/>
          <p:nvPr/>
        </p:nvSpPr>
        <p:spPr>
          <a:xfrm>
            <a:off x="640080" y="3547872"/>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Trang chủ &amp; Portfolio</a:t>
            </a:r>
            <a:endParaRPr lang="en-US" sz="850" dirty="0"/>
          </a:p>
        </p:txBody>
      </p:sp>
      <p:sp>
        <p:nvSpPr>
          <p:cNvPr id="15" name="Text 13"/>
          <p:cNvSpPr/>
          <p:nvPr/>
        </p:nvSpPr>
        <p:spPr>
          <a:xfrm>
            <a:off x="640080" y="3840480"/>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Chi tiết dự án</a:t>
            </a:r>
            <a:endParaRPr lang="en-US" sz="850" dirty="0"/>
          </a:p>
        </p:txBody>
      </p:sp>
      <p:sp>
        <p:nvSpPr>
          <p:cNvPr id="16" name="Text 14"/>
          <p:cNvSpPr/>
          <p:nvPr/>
        </p:nvSpPr>
        <p:spPr>
          <a:xfrm>
            <a:off x="640080" y="4133088"/>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Trang giới thiệu</a:t>
            </a:r>
            <a:endParaRPr lang="en-US" sz="850" dirty="0"/>
          </a:p>
        </p:txBody>
      </p:sp>
      <p:sp>
        <p:nvSpPr>
          <p:cNvPr id="17" name="Text 15"/>
          <p:cNvSpPr/>
          <p:nvPr/>
        </p:nvSpPr>
        <p:spPr>
          <a:xfrm>
            <a:off x="640080" y="4425696"/>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i18n Vi/En hoàn chỉnh</a:t>
            </a:r>
            <a:endParaRPr lang="en-US" sz="850" dirty="0"/>
          </a:p>
        </p:txBody>
      </p:sp>
      <p:sp>
        <p:nvSpPr>
          <p:cNvPr id="18" name="Shape 16"/>
          <p:cNvSpPr/>
          <p:nvPr/>
        </p:nvSpPr>
        <p:spPr>
          <a:xfrm>
            <a:off x="548640" y="4754880"/>
            <a:ext cx="1783080" cy="201168"/>
          </a:xfrm>
          <a:prstGeom prst="rect">
            <a:avLst/>
          </a:prstGeom>
          <a:solidFill>
            <a:srgbClr val="1A4A1C"/>
          </a:solidFill>
          <a:ln w="6350">
            <a:solidFill>
              <a:srgbClr val="328442"/>
            </a:solidFill>
            <a:prstDash val="solid"/>
          </a:ln>
        </p:spPr>
      </p:sp>
      <p:sp>
        <p:nvSpPr>
          <p:cNvPr id="19" name="Text 17"/>
          <p:cNvSpPr/>
          <p:nvPr/>
        </p:nvSpPr>
        <p:spPr>
          <a:xfrm>
            <a:off x="548640" y="4754880"/>
            <a:ext cx="1783080" cy="201168"/>
          </a:xfrm>
          <a:prstGeom prst="rect">
            <a:avLst/>
          </a:prstGeom>
          <a:noFill/>
          <a:ln/>
        </p:spPr>
        <p:txBody>
          <a:bodyPr wrap="square" lIns="0" tIns="0" rIns="0" bIns="0" rtlCol="0" anchor="ctr"/>
          <a:lstStyle/>
          <a:p>
            <a:pPr algn="ctr" indent="0" marL="0">
              <a:buNone/>
            </a:pPr>
            <a:r>
              <a:rPr lang="en-US" sz="800" dirty="0">
                <a:solidFill>
                  <a:srgbClr val="328442"/>
                </a:solidFill>
                <a:latin typeface="Calibri" pitchFamily="34" charset="0"/>
                <a:ea typeface="Calibri" pitchFamily="34" charset="-122"/>
                <a:cs typeface="Calibri" pitchFamily="34" charset="-120"/>
              </a:rPr>
              <a:t>✅ Hoàn thành</a:t>
            </a:r>
            <a:endParaRPr lang="en-US" sz="800" dirty="0"/>
          </a:p>
        </p:txBody>
      </p:sp>
      <p:sp>
        <p:nvSpPr>
          <p:cNvPr id="20" name="Shape 18"/>
          <p:cNvSpPr/>
          <p:nvPr/>
        </p:nvSpPr>
        <p:spPr>
          <a:xfrm>
            <a:off x="3154680" y="1938528"/>
            <a:ext cx="320040" cy="320040"/>
          </a:xfrm>
          <a:prstGeom prst="ellipse">
            <a:avLst/>
          </a:prstGeom>
          <a:solidFill>
            <a:srgbClr val="328442"/>
          </a:solidFill>
          <a:ln w="12700">
            <a:solidFill>
              <a:srgbClr val="328442"/>
            </a:solidFill>
            <a:prstDash val="solid"/>
          </a:ln>
        </p:spPr>
      </p:sp>
      <p:sp>
        <p:nvSpPr>
          <p:cNvPr id="21" name="Text 19"/>
          <p:cNvSpPr/>
          <p:nvPr/>
        </p:nvSpPr>
        <p:spPr>
          <a:xfrm>
            <a:off x="3154680" y="1938528"/>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22" name="Shape 20"/>
          <p:cNvSpPr/>
          <p:nvPr/>
        </p:nvSpPr>
        <p:spPr>
          <a:xfrm>
            <a:off x="2560320" y="2377440"/>
            <a:ext cx="1783080" cy="2468880"/>
          </a:xfrm>
          <a:prstGeom prst="rect">
            <a:avLst/>
          </a:prstGeom>
          <a:solidFill>
            <a:srgbClr val="0D2210"/>
          </a:solidFill>
          <a:ln w="12700">
            <a:solidFill>
              <a:srgbClr val="BE7B2B"/>
            </a:solidFill>
            <a:prstDash val="solid"/>
          </a:ln>
        </p:spPr>
      </p:sp>
      <p:sp>
        <p:nvSpPr>
          <p:cNvPr id="23" name="Shape 21"/>
          <p:cNvSpPr/>
          <p:nvPr/>
        </p:nvSpPr>
        <p:spPr>
          <a:xfrm>
            <a:off x="2560320" y="2377440"/>
            <a:ext cx="1783080" cy="64008"/>
          </a:xfrm>
          <a:prstGeom prst="rect">
            <a:avLst/>
          </a:prstGeom>
          <a:solidFill>
            <a:srgbClr val="BE7B2B"/>
          </a:solidFill>
          <a:ln w="12700">
            <a:solidFill>
              <a:srgbClr val="BE7B2B"/>
            </a:solidFill>
            <a:prstDash val="solid"/>
          </a:ln>
        </p:spPr>
      </p:sp>
      <p:sp>
        <p:nvSpPr>
          <p:cNvPr id="24" name="Text 22"/>
          <p:cNvSpPr/>
          <p:nvPr/>
        </p:nvSpPr>
        <p:spPr>
          <a:xfrm>
            <a:off x="2651760" y="2423160"/>
            <a:ext cx="1600200" cy="256032"/>
          </a:xfrm>
          <a:prstGeom prst="rect">
            <a:avLst/>
          </a:prstGeom>
          <a:noFill/>
          <a:ln/>
        </p:spPr>
        <p:txBody>
          <a:bodyPr wrap="square" lIns="0" tIns="0" rIns="0" bIns="0" rtlCol="0" anchor="ctr"/>
          <a:lstStyle/>
          <a:p>
            <a:pPr indent="0" marL="0">
              <a:buNone/>
            </a:pPr>
            <a:r>
              <a:rPr lang="en-US" sz="1000" b="1" dirty="0">
                <a:solidFill>
                  <a:srgbClr val="BE7B2B"/>
                </a:solidFill>
                <a:latin typeface="Calibri" pitchFamily="34" charset="0"/>
                <a:ea typeface="Calibri" pitchFamily="34" charset="-122"/>
                <a:cs typeface="Calibri" pitchFamily="34" charset="-120"/>
              </a:rPr>
              <a:t>Phase 2</a:t>
            </a:r>
            <a:endParaRPr lang="en-US" sz="1000" dirty="0"/>
          </a:p>
        </p:txBody>
      </p:sp>
      <p:sp>
        <p:nvSpPr>
          <p:cNvPr id="25" name="Text 23"/>
          <p:cNvSpPr/>
          <p:nvPr/>
        </p:nvSpPr>
        <p:spPr>
          <a:xfrm>
            <a:off x="2651760" y="2651760"/>
            <a:ext cx="1600200" cy="5029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Admin Panel</a:t>
            </a:r>
            <a:endParaRPr lang="en-US" sz="1100" dirty="0"/>
          </a:p>
          <a:p>
            <a:pPr indent="0" marL="0">
              <a:buNone/>
            </a:pPr>
            <a:r>
              <a:rPr lang="en-US" sz="1100" b="1" dirty="0">
                <a:solidFill>
                  <a:srgbClr val="FFFFFF"/>
                </a:solidFill>
                <a:latin typeface="Georgia" pitchFamily="34" charset="0"/>
                <a:ea typeface="Georgia" pitchFamily="34" charset="-122"/>
                <a:cs typeface="Georgia" pitchFamily="34" charset="-120"/>
              </a:rPr>
              <a:t>&amp; Database</a:t>
            </a:r>
            <a:endParaRPr lang="en-US" sz="1100" dirty="0"/>
          </a:p>
        </p:txBody>
      </p:sp>
      <p:sp>
        <p:nvSpPr>
          <p:cNvPr id="26" name="Text 24"/>
          <p:cNvSpPr/>
          <p:nvPr/>
        </p:nvSpPr>
        <p:spPr>
          <a:xfrm>
            <a:off x="2651760" y="32004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Tuần 3–4</a:t>
            </a:r>
            <a:endParaRPr lang="en-US" sz="900" dirty="0"/>
          </a:p>
        </p:txBody>
      </p:sp>
      <p:sp>
        <p:nvSpPr>
          <p:cNvPr id="27" name="Shape 25"/>
          <p:cNvSpPr/>
          <p:nvPr/>
        </p:nvSpPr>
        <p:spPr>
          <a:xfrm>
            <a:off x="2651760" y="3474720"/>
            <a:ext cx="1600200" cy="0"/>
          </a:xfrm>
          <a:prstGeom prst="line">
            <a:avLst/>
          </a:prstGeom>
          <a:noFill/>
          <a:ln w="6350">
            <a:solidFill>
              <a:srgbClr val="2D4A2F"/>
            </a:solidFill>
            <a:prstDash val="solid"/>
          </a:ln>
        </p:spPr>
      </p:sp>
      <p:sp>
        <p:nvSpPr>
          <p:cNvPr id="28" name="Text 26"/>
          <p:cNvSpPr/>
          <p:nvPr/>
        </p:nvSpPr>
        <p:spPr>
          <a:xfrm>
            <a:off x="2651760" y="3547872"/>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Admin CRUD đầy đủ</a:t>
            </a:r>
            <a:endParaRPr lang="en-US" sz="850" dirty="0"/>
          </a:p>
        </p:txBody>
      </p:sp>
      <p:sp>
        <p:nvSpPr>
          <p:cNvPr id="29" name="Text 27"/>
          <p:cNvSpPr/>
          <p:nvPr/>
        </p:nvSpPr>
        <p:spPr>
          <a:xfrm>
            <a:off x="2651760" y="3840480"/>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Seed data 24 dự án</a:t>
            </a:r>
            <a:endParaRPr lang="en-US" sz="850" dirty="0"/>
          </a:p>
        </p:txBody>
      </p:sp>
      <p:sp>
        <p:nvSpPr>
          <p:cNvPr id="30" name="Text 28"/>
          <p:cNvSpPr/>
          <p:nvPr/>
        </p:nvSpPr>
        <p:spPr>
          <a:xfrm>
            <a:off x="2651760" y="4133088"/>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API routes hoàn chỉnh</a:t>
            </a:r>
            <a:endParaRPr lang="en-US" sz="850" dirty="0"/>
          </a:p>
        </p:txBody>
      </p:sp>
      <p:sp>
        <p:nvSpPr>
          <p:cNvPr id="31" name="Text 29"/>
          <p:cNvSpPr/>
          <p:nvPr/>
        </p:nvSpPr>
        <p:spPr>
          <a:xfrm>
            <a:off x="2651760" y="4425696"/>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Auth &amp; security</a:t>
            </a:r>
            <a:endParaRPr lang="en-US" sz="850" dirty="0"/>
          </a:p>
        </p:txBody>
      </p:sp>
      <p:sp>
        <p:nvSpPr>
          <p:cNvPr id="32" name="Shape 30"/>
          <p:cNvSpPr/>
          <p:nvPr/>
        </p:nvSpPr>
        <p:spPr>
          <a:xfrm>
            <a:off x="2560320" y="4754880"/>
            <a:ext cx="1783080" cy="201168"/>
          </a:xfrm>
          <a:prstGeom prst="rect">
            <a:avLst/>
          </a:prstGeom>
          <a:solidFill>
            <a:srgbClr val="1A4A1C"/>
          </a:solidFill>
          <a:ln w="6350">
            <a:solidFill>
              <a:srgbClr val="BE7B2B"/>
            </a:solidFill>
            <a:prstDash val="solid"/>
          </a:ln>
        </p:spPr>
      </p:sp>
      <p:sp>
        <p:nvSpPr>
          <p:cNvPr id="33" name="Text 31"/>
          <p:cNvSpPr/>
          <p:nvPr/>
        </p:nvSpPr>
        <p:spPr>
          <a:xfrm>
            <a:off x="2560320" y="4754880"/>
            <a:ext cx="1783080" cy="201168"/>
          </a:xfrm>
          <a:prstGeom prst="rect">
            <a:avLst/>
          </a:prstGeom>
          <a:noFill/>
          <a:ln/>
        </p:spPr>
        <p:txBody>
          <a:bodyPr wrap="square" lIns="0" tIns="0" rIns="0" bIns="0" rtlCol="0" anchor="ctr"/>
          <a:lstStyle/>
          <a:p>
            <a:pPr algn="ctr" indent="0" marL="0">
              <a:buNone/>
            </a:pPr>
            <a:r>
              <a:rPr lang="en-US" sz="800" dirty="0">
                <a:solidFill>
                  <a:srgbClr val="BE7B2B"/>
                </a:solidFill>
                <a:latin typeface="Calibri" pitchFamily="34" charset="0"/>
                <a:ea typeface="Calibri" pitchFamily="34" charset="-122"/>
                <a:cs typeface="Calibri" pitchFamily="34" charset="-120"/>
              </a:rPr>
              <a:t>✅ Hoàn thành</a:t>
            </a:r>
            <a:endParaRPr lang="en-US" sz="800" dirty="0"/>
          </a:p>
        </p:txBody>
      </p:sp>
      <p:sp>
        <p:nvSpPr>
          <p:cNvPr id="34" name="Shape 32"/>
          <p:cNvSpPr/>
          <p:nvPr/>
        </p:nvSpPr>
        <p:spPr>
          <a:xfrm>
            <a:off x="5166360" y="1938528"/>
            <a:ext cx="320040" cy="320040"/>
          </a:xfrm>
          <a:prstGeom prst="ellipse">
            <a:avLst/>
          </a:prstGeom>
          <a:solidFill>
            <a:srgbClr val="BE7B2B"/>
          </a:solidFill>
          <a:ln w="12700">
            <a:solidFill>
              <a:srgbClr val="BE7B2B"/>
            </a:solidFill>
            <a:prstDash val="solid"/>
          </a:ln>
        </p:spPr>
      </p:sp>
      <p:sp>
        <p:nvSpPr>
          <p:cNvPr id="35" name="Shape 33"/>
          <p:cNvSpPr/>
          <p:nvPr/>
        </p:nvSpPr>
        <p:spPr>
          <a:xfrm>
            <a:off x="5120640" y="1892808"/>
            <a:ext cx="411480" cy="411480"/>
          </a:xfrm>
          <a:prstGeom prst="ellipse">
            <a:avLst/>
          </a:prstGeom>
          <a:solidFill>
            <a:srgbClr val="000000">
              <a:alpha val="0"/>
            </a:srgbClr>
          </a:solidFill>
          <a:ln w="25400">
            <a:solidFill>
              <a:srgbClr val="BE7B2B"/>
            </a:solidFill>
            <a:prstDash val="solid"/>
          </a:ln>
        </p:spPr>
      </p:sp>
      <p:sp>
        <p:nvSpPr>
          <p:cNvPr id="36" name="Shape 34"/>
          <p:cNvSpPr/>
          <p:nvPr/>
        </p:nvSpPr>
        <p:spPr>
          <a:xfrm>
            <a:off x="4572000" y="2377440"/>
            <a:ext cx="1783080" cy="2468880"/>
          </a:xfrm>
          <a:prstGeom prst="rect">
            <a:avLst/>
          </a:prstGeom>
          <a:solidFill>
            <a:srgbClr val="0D2210"/>
          </a:solidFill>
          <a:ln w="12700">
            <a:solidFill>
              <a:srgbClr val="97BC62"/>
            </a:solidFill>
            <a:prstDash val="solid"/>
          </a:ln>
        </p:spPr>
      </p:sp>
      <p:sp>
        <p:nvSpPr>
          <p:cNvPr id="37" name="Shape 35"/>
          <p:cNvSpPr/>
          <p:nvPr/>
        </p:nvSpPr>
        <p:spPr>
          <a:xfrm>
            <a:off x="4572000" y="2377440"/>
            <a:ext cx="1783080" cy="64008"/>
          </a:xfrm>
          <a:prstGeom prst="rect">
            <a:avLst/>
          </a:prstGeom>
          <a:solidFill>
            <a:srgbClr val="97BC62"/>
          </a:solidFill>
          <a:ln w="12700">
            <a:solidFill>
              <a:srgbClr val="97BC62"/>
            </a:solidFill>
            <a:prstDash val="solid"/>
          </a:ln>
        </p:spPr>
      </p:sp>
      <p:sp>
        <p:nvSpPr>
          <p:cNvPr id="38" name="Text 36"/>
          <p:cNvSpPr/>
          <p:nvPr/>
        </p:nvSpPr>
        <p:spPr>
          <a:xfrm>
            <a:off x="4663440" y="2423160"/>
            <a:ext cx="1600200" cy="256032"/>
          </a:xfrm>
          <a:prstGeom prst="rect">
            <a:avLst/>
          </a:prstGeom>
          <a:noFill/>
          <a:ln/>
        </p:spPr>
        <p:txBody>
          <a:bodyPr wrap="square" lIns="0" tIns="0" rIns="0" bIns="0" rtlCol="0" anchor="ctr"/>
          <a:lstStyle/>
          <a:p>
            <a:pPr indent="0" marL="0">
              <a:buNone/>
            </a:pPr>
            <a:r>
              <a:rPr lang="en-US" sz="1000" b="1" dirty="0">
                <a:solidFill>
                  <a:srgbClr val="97BC62"/>
                </a:solidFill>
                <a:latin typeface="Calibri" pitchFamily="34" charset="0"/>
                <a:ea typeface="Calibri" pitchFamily="34" charset="-122"/>
                <a:cs typeface="Calibri" pitchFamily="34" charset="-120"/>
              </a:rPr>
              <a:t>Phase 3</a:t>
            </a:r>
            <a:endParaRPr lang="en-US" sz="1000" dirty="0"/>
          </a:p>
        </p:txBody>
      </p:sp>
      <p:sp>
        <p:nvSpPr>
          <p:cNvPr id="39" name="Text 37"/>
          <p:cNvSpPr/>
          <p:nvPr/>
        </p:nvSpPr>
        <p:spPr>
          <a:xfrm>
            <a:off x="4663440" y="2651760"/>
            <a:ext cx="1600200" cy="5029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Flipbook</a:t>
            </a:r>
            <a:endParaRPr lang="en-US" sz="1100" dirty="0"/>
          </a:p>
          <a:p>
            <a:pPr indent="0" marL="0">
              <a:buNone/>
            </a:pPr>
            <a:r>
              <a:rPr lang="en-US" sz="1100" b="1" dirty="0">
                <a:solidFill>
                  <a:srgbClr val="FFFFFF"/>
                </a:solidFill>
                <a:latin typeface="Georgia" pitchFamily="34" charset="0"/>
                <a:ea typeface="Georgia" pitchFamily="34" charset="-122"/>
                <a:cs typeface="Georgia" pitchFamily="34" charset="-120"/>
              </a:rPr>
              <a:t>Catalog</a:t>
            </a:r>
            <a:endParaRPr lang="en-US" sz="1100" dirty="0"/>
          </a:p>
        </p:txBody>
      </p:sp>
      <p:sp>
        <p:nvSpPr>
          <p:cNvPr id="40" name="Text 38"/>
          <p:cNvSpPr/>
          <p:nvPr/>
        </p:nvSpPr>
        <p:spPr>
          <a:xfrm>
            <a:off x="4663440" y="32004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Tuần 5–6</a:t>
            </a:r>
            <a:endParaRPr lang="en-US" sz="900" dirty="0"/>
          </a:p>
        </p:txBody>
      </p:sp>
      <p:sp>
        <p:nvSpPr>
          <p:cNvPr id="41" name="Shape 39"/>
          <p:cNvSpPr/>
          <p:nvPr/>
        </p:nvSpPr>
        <p:spPr>
          <a:xfrm>
            <a:off x="4663440" y="3474720"/>
            <a:ext cx="1600200" cy="0"/>
          </a:xfrm>
          <a:prstGeom prst="line">
            <a:avLst/>
          </a:prstGeom>
          <a:noFill/>
          <a:ln w="6350">
            <a:solidFill>
              <a:srgbClr val="2D4A2F"/>
            </a:solidFill>
            <a:prstDash val="solid"/>
          </a:ln>
        </p:spPr>
      </p:sp>
      <p:sp>
        <p:nvSpPr>
          <p:cNvPr id="42" name="Text 40"/>
          <p:cNvSpPr/>
          <p:nvPr/>
        </p:nvSpPr>
        <p:spPr>
          <a:xfrm>
            <a:off x="4663440" y="3547872"/>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Flipbook component</a:t>
            </a:r>
            <a:endParaRPr lang="en-US" sz="850" dirty="0"/>
          </a:p>
        </p:txBody>
      </p:sp>
      <p:sp>
        <p:nvSpPr>
          <p:cNvPr id="43" name="Text 41"/>
          <p:cNvSpPr/>
          <p:nvPr/>
        </p:nvSpPr>
        <p:spPr>
          <a:xfrm>
            <a:off x="4663440" y="3840480"/>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Tích hợp dự án DB</a:t>
            </a:r>
            <a:endParaRPr lang="en-US" sz="850" dirty="0"/>
          </a:p>
        </p:txBody>
      </p:sp>
      <p:sp>
        <p:nvSpPr>
          <p:cNvPr id="44" name="Text 42"/>
          <p:cNvSpPr/>
          <p:nvPr/>
        </p:nvSpPr>
        <p:spPr>
          <a:xfrm>
            <a:off x="4663440" y="4133088"/>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Tối ưu mobile</a:t>
            </a:r>
            <a:endParaRPr lang="en-US" sz="850" dirty="0"/>
          </a:p>
        </p:txBody>
      </p:sp>
      <p:sp>
        <p:nvSpPr>
          <p:cNvPr id="45" name="Text 43"/>
          <p:cNvSpPr/>
          <p:nvPr/>
        </p:nvSpPr>
        <p:spPr>
          <a:xfrm>
            <a:off x="4663440" y="4425696"/>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Share &amp; analytics</a:t>
            </a:r>
            <a:endParaRPr lang="en-US" sz="850" dirty="0"/>
          </a:p>
        </p:txBody>
      </p:sp>
      <p:sp>
        <p:nvSpPr>
          <p:cNvPr id="46" name="Shape 44"/>
          <p:cNvSpPr/>
          <p:nvPr/>
        </p:nvSpPr>
        <p:spPr>
          <a:xfrm>
            <a:off x="4572000" y="4754880"/>
            <a:ext cx="1783080" cy="201168"/>
          </a:xfrm>
          <a:prstGeom prst="rect">
            <a:avLst/>
          </a:prstGeom>
          <a:solidFill>
            <a:srgbClr val="4A3800"/>
          </a:solidFill>
          <a:ln w="6350">
            <a:solidFill>
              <a:srgbClr val="97BC62"/>
            </a:solidFill>
            <a:prstDash val="solid"/>
          </a:ln>
        </p:spPr>
      </p:sp>
      <p:sp>
        <p:nvSpPr>
          <p:cNvPr id="47" name="Text 45"/>
          <p:cNvSpPr/>
          <p:nvPr/>
        </p:nvSpPr>
        <p:spPr>
          <a:xfrm>
            <a:off x="4572000" y="4754880"/>
            <a:ext cx="1783080" cy="201168"/>
          </a:xfrm>
          <a:prstGeom prst="rect">
            <a:avLst/>
          </a:prstGeom>
          <a:noFill/>
          <a:ln/>
        </p:spPr>
        <p:txBody>
          <a:bodyPr wrap="square" lIns="0" tIns="0" rIns="0" bIns="0" rtlCol="0" anchor="ctr"/>
          <a:lstStyle/>
          <a:p>
            <a:pPr algn="ctr" indent="0" marL="0">
              <a:buNone/>
            </a:pPr>
            <a:r>
              <a:rPr lang="en-US" sz="800" dirty="0">
                <a:solidFill>
                  <a:srgbClr val="97BC62"/>
                </a:solidFill>
                <a:latin typeface="Calibri" pitchFamily="34" charset="0"/>
                <a:ea typeface="Calibri" pitchFamily="34" charset="-122"/>
                <a:cs typeface="Calibri" pitchFamily="34" charset="-120"/>
              </a:rPr>
              <a:t>🔄 Đang làm</a:t>
            </a:r>
            <a:endParaRPr lang="en-US" sz="800" dirty="0"/>
          </a:p>
        </p:txBody>
      </p:sp>
      <p:sp>
        <p:nvSpPr>
          <p:cNvPr id="48" name="Shape 46"/>
          <p:cNvSpPr/>
          <p:nvPr/>
        </p:nvSpPr>
        <p:spPr>
          <a:xfrm>
            <a:off x="7178040" y="1938528"/>
            <a:ext cx="320040" cy="320040"/>
          </a:xfrm>
          <a:prstGeom prst="ellipse">
            <a:avLst/>
          </a:prstGeom>
          <a:solidFill>
            <a:srgbClr val="2D4A2F"/>
          </a:solidFill>
          <a:ln w="12700">
            <a:solidFill>
              <a:srgbClr val="2D4A2F"/>
            </a:solidFill>
            <a:prstDash val="solid"/>
          </a:ln>
        </p:spPr>
      </p:sp>
      <p:sp>
        <p:nvSpPr>
          <p:cNvPr id="49" name="Shape 47"/>
          <p:cNvSpPr/>
          <p:nvPr/>
        </p:nvSpPr>
        <p:spPr>
          <a:xfrm>
            <a:off x="6583680" y="2377440"/>
            <a:ext cx="1783080" cy="2468880"/>
          </a:xfrm>
          <a:prstGeom prst="rect">
            <a:avLst/>
          </a:prstGeom>
          <a:solidFill>
            <a:srgbClr val="0D2210"/>
          </a:solidFill>
          <a:ln w="12700">
            <a:solidFill>
              <a:srgbClr val="E07A5F"/>
            </a:solidFill>
            <a:prstDash val="solid"/>
          </a:ln>
        </p:spPr>
      </p:sp>
      <p:sp>
        <p:nvSpPr>
          <p:cNvPr id="50" name="Shape 48"/>
          <p:cNvSpPr/>
          <p:nvPr/>
        </p:nvSpPr>
        <p:spPr>
          <a:xfrm>
            <a:off x="6583680" y="2377440"/>
            <a:ext cx="1783080" cy="64008"/>
          </a:xfrm>
          <a:prstGeom prst="rect">
            <a:avLst/>
          </a:prstGeom>
          <a:solidFill>
            <a:srgbClr val="E07A5F"/>
          </a:solidFill>
          <a:ln w="12700">
            <a:solidFill>
              <a:srgbClr val="E07A5F"/>
            </a:solidFill>
            <a:prstDash val="solid"/>
          </a:ln>
        </p:spPr>
      </p:sp>
      <p:sp>
        <p:nvSpPr>
          <p:cNvPr id="51" name="Text 49"/>
          <p:cNvSpPr/>
          <p:nvPr/>
        </p:nvSpPr>
        <p:spPr>
          <a:xfrm>
            <a:off x="6675120" y="2423160"/>
            <a:ext cx="1600200" cy="256032"/>
          </a:xfrm>
          <a:prstGeom prst="rect">
            <a:avLst/>
          </a:prstGeom>
          <a:noFill/>
          <a:ln/>
        </p:spPr>
        <p:txBody>
          <a:bodyPr wrap="square" lIns="0" tIns="0" rIns="0" bIns="0" rtlCol="0" anchor="ctr"/>
          <a:lstStyle/>
          <a:p>
            <a:pPr indent="0" marL="0">
              <a:buNone/>
            </a:pPr>
            <a:r>
              <a:rPr lang="en-US" sz="1000" b="1" dirty="0">
                <a:solidFill>
                  <a:srgbClr val="E07A5F"/>
                </a:solidFill>
                <a:latin typeface="Calibri" pitchFamily="34" charset="0"/>
                <a:ea typeface="Calibri" pitchFamily="34" charset="-122"/>
                <a:cs typeface="Calibri" pitchFamily="34" charset="-120"/>
              </a:rPr>
              <a:t>Phase 4</a:t>
            </a:r>
            <a:endParaRPr lang="en-US" sz="1000" dirty="0"/>
          </a:p>
        </p:txBody>
      </p:sp>
      <p:sp>
        <p:nvSpPr>
          <p:cNvPr id="52" name="Text 50"/>
          <p:cNvSpPr/>
          <p:nvPr/>
        </p:nvSpPr>
        <p:spPr>
          <a:xfrm>
            <a:off x="6675120" y="2651760"/>
            <a:ext cx="1600200" cy="5029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Launch &amp;</a:t>
            </a:r>
            <a:endParaRPr lang="en-US" sz="1100" dirty="0"/>
          </a:p>
          <a:p>
            <a:pPr indent="0" marL="0">
              <a:buNone/>
            </a:pPr>
            <a:r>
              <a:rPr lang="en-US" sz="1100" b="1" dirty="0">
                <a:solidFill>
                  <a:srgbClr val="FFFFFF"/>
                </a:solidFill>
                <a:latin typeface="Georgia" pitchFamily="34" charset="0"/>
                <a:ea typeface="Georgia" pitchFamily="34" charset="-122"/>
                <a:cs typeface="Georgia" pitchFamily="34" charset="-120"/>
              </a:rPr>
              <a:t>Optimization</a:t>
            </a:r>
            <a:endParaRPr lang="en-US" sz="1100" dirty="0"/>
          </a:p>
        </p:txBody>
      </p:sp>
      <p:sp>
        <p:nvSpPr>
          <p:cNvPr id="53" name="Text 51"/>
          <p:cNvSpPr/>
          <p:nvPr/>
        </p:nvSpPr>
        <p:spPr>
          <a:xfrm>
            <a:off x="6675120" y="32004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Tuần 7–8</a:t>
            </a:r>
            <a:endParaRPr lang="en-US" sz="900" dirty="0"/>
          </a:p>
        </p:txBody>
      </p:sp>
      <p:sp>
        <p:nvSpPr>
          <p:cNvPr id="54" name="Shape 52"/>
          <p:cNvSpPr/>
          <p:nvPr/>
        </p:nvSpPr>
        <p:spPr>
          <a:xfrm>
            <a:off x="6675120" y="3474720"/>
            <a:ext cx="1600200" cy="0"/>
          </a:xfrm>
          <a:prstGeom prst="line">
            <a:avLst/>
          </a:prstGeom>
          <a:noFill/>
          <a:ln w="6350">
            <a:solidFill>
              <a:srgbClr val="2D4A2F"/>
            </a:solidFill>
            <a:prstDash val="solid"/>
          </a:ln>
        </p:spPr>
      </p:sp>
      <p:sp>
        <p:nvSpPr>
          <p:cNvPr id="55" name="Text 53"/>
          <p:cNvSpPr/>
          <p:nvPr/>
        </p:nvSpPr>
        <p:spPr>
          <a:xfrm>
            <a:off x="6675120" y="3547872"/>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Domain &amp; SSL setup</a:t>
            </a:r>
            <a:endParaRPr lang="en-US" sz="850" dirty="0"/>
          </a:p>
        </p:txBody>
      </p:sp>
      <p:sp>
        <p:nvSpPr>
          <p:cNvPr id="56" name="Text 54"/>
          <p:cNvSpPr/>
          <p:nvPr/>
        </p:nvSpPr>
        <p:spPr>
          <a:xfrm>
            <a:off x="6675120" y="3840480"/>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SEO optimization</a:t>
            </a:r>
            <a:endParaRPr lang="en-US" sz="850" dirty="0"/>
          </a:p>
        </p:txBody>
      </p:sp>
      <p:sp>
        <p:nvSpPr>
          <p:cNvPr id="57" name="Text 55"/>
          <p:cNvSpPr/>
          <p:nvPr/>
        </p:nvSpPr>
        <p:spPr>
          <a:xfrm>
            <a:off x="6675120" y="4133088"/>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Performance tuning</a:t>
            </a:r>
            <a:endParaRPr lang="en-US" sz="850" dirty="0"/>
          </a:p>
        </p:txBody>
      </p:sp>
      <p:sp>
        <p:nvSpPr>
          <p:cNvPr id="58" name="Text 56"/>
          <p:cNvSpPr/>
          <p:nvPr/>
        </p:nvSpPr>
        <p:spPr>
          <a:xfrm>
            <a:off x="6675120" y="4425696"/>
            <a:ext cx="1600200" cy="256032"/>
          </a:xfrm>
          <a:prstGeom prst="rect">
            <a:avLst/>
          </a:prstGeom>
          <a:noFill/>
          <a:ln/>
        </p:spPr>
        <p:txBody>
          <a:bodyPr wrap="square" lIns="0" tIns="0" rIns="0" bIns="0" rtlCol="0" anchor="ctr"/>
          <a:lstStyle/>
          <a:p>
            <a:pPr indent="0" marL="0">
              <a:buNone/>
            </a:pPr>
            <a:r>
              <a:rPr lang="en-US" sz="850" dirty="0">
                <a:solidFill>
                  <a:srgbClr val="AACCB0"/>
                </a:solidFill>
                <a:latin typeface="Calibri" pitchFamily="34" charset="0"/>
                <a:ea typeface="Calibri" pitchFamily="34" charset="-122"/>
                <a:cs typeface="Calibri" pitchFamily="34" charset="-120"/>
              </a:rPr>
              <a:t>• User training</a:t>
            </a:r>
            <a:endParaRPr lang="en-US" sz="850" dirty="0"/>
          </a:p>
        </p:txBody>
      </p:sp>
      <p:sp>
        <p:nvSpPr>
          <p:cNvPr id="59" name="Shape 57"/>
          <p:cNvSpPr/>
          <p:nvPr/>
        </p:nvSpPr>
        <p:spPr>
          <a:xfrm>
            <a:off x="6583680" y="4754880"/>
            <a:ext cx="1783080" cy="201168"/>
          </a:xfrm>
          <a:prstGeom prst="rect">
            <a:avLst/>
          </a:prstGeom>
          <a:solidFill>
            <a:srgbClr val="1A2020"/>
          </a:solidFill>
          <a:ln w="6350">
            <a:solidFill>
              <a:srgbClr val="E07A5F"/>
            </a:solidFill>
            <a:prstDash val="solid"/>
          </a:ln>
        </p:spPr>
      </p:sp>
      <p:sp>
        <p:nvSpPr>
          <p:cNvPr id="60" name="Text 58"/>
          <p:cNvSpPr/>
          <p:nvPr/>
        </p:nvSpPr>
        <p:spPr>
          <a:xfrm>
            <a:off x="6583680" y="4754880"/>
            <a:ext cx="1783080" cy="201168"/>
          </a:xfrm>
          <a:prstGeom prst="rect">
            <a:avLst/>
          </a:prstGeom>
          <a:noFill/>
          <a:ln/>
        </p:spPr>
        <p:txBody>
          <a:bodyPr wrap="square" lIns="0" tIns="0" rIns="0" bIns="0" rtlCol="0" anchor="ctr"/>
          <a:lstStyle/>
          <a:p>
            <a:pPr algn="ctr" indent="0" marL="0">
              <a:buNone/>
            </a:pPr>
            <a:r>
              <a:rPr lang="en-US" sz="800" dirty="0">
                <a:solidFill>
                  <a:srgbClr val="E07A5F"/>
                </a:solidFill>
                <a:latin typeface="Calibri" pitchFamily="34" charset="0"/>
                <a:ea typeface="Calibri" pitchFamily="34" charset="-122"/>
                <a:cs typeface="Calibri" pitchFamily="34" charset="-120"/>
              </a:rPr>
              <a:t>⏳ Sắp tới</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30A"/>
        </a:solidFill>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328442">
              <a:alpha val="12000"/>
            </a:srgbClr>
          </a:solidFill>
          <a:ln w="12700">
            <a:solidFill>
              <a:srgbClr val="328442"/>
            </a:solidFill>
            <a:prstDash val="solid"/>
          </a:ln>
        </p:spPr>
      </p:sp>
      <p:sp>
        <p:nvSpPr>
          <p:cNvPr id="3" name="Shape 1"/>
          <p:cNvSpPr/>
          <p:nvPr/>
        </p:nvSpPr>
        <p:spPr>
          <a:xfrm>
            <a:off x="6858000" y="2286000"/>
            <a:ext cx="3657600" cy="3657600"/>
          </a:xfrm>
          <a:prstGeom prst="ellipse">
            <a:avLst/>
          </a:prstGeom>
          <a:solidFill>
            <a:srgbClr val="BE7B2B">
              <a:alpha val="10000"/>
            </a:srgbClr>
          </a:solidFill>
          <a:ln w="12700">
            <a:solidFill>
              <a:srgbClr val="BE7B2B"/>
            </a:solidFill>
            <a:prstDash val="solid"/>
          </a:ln>
        </p:spPr>
      </p:sp>
      <p:sp>
        <p:nvSpPr>
          <p:cNvPr id="4" name="Shape 2"/>
          <p:cNvSpPr/>
          <p:nvPr/>
        </p:nvSpPr>
        <p:spPr>
          <a:xfrm>
            <a:off x="0" y="0"/>
            <a:ext cx="9144000" cy="73152"/>
          </a:xfrm>
          <a:prstGeom prst="rect">
            <a:avLst/>
          </a:prstGeom>
          <a:solidFill>
            <a:srgbClr val="BE7B2B"/>
          </a:solidFill>
          <a:ln w="12700">
            <a:solidFill>
              <a:srgbClr val="BE7B2B"/>
            </a:solidFill>
            <a:prstDash val="solid"/>
          </a:ln>
        </p:spPr>
      </p:sp>
      <p:sp>
        <p:nvSpPr>
          <p:cNvPr id="5" name="Shape 3"/>
          <p:cNvSpPr/>
          <p:nvPr/>
        </p:nvSpPr>
        <p:spPr>
          <a:xfrm>
            <a:off x="0" y="5070348"/>
            <a:ext cx="9144000" cy="73152"/>
          </a:xfrm>
          <a:prstGeom prst="rect">
            <a:avLst/>
          </a:prstGeom>
          <a:solidFill>
            <a:srgbClr val="328442"/>
          </a:solidFill>
          <a:ln w="12700">
            <a:solidFill>
              <a:srgbClr val="328442"/>
            </a:solidFill>
            <a:prstDash val="solid"/>
          </a:ln>
        </p:spPr>
      </p:sp>
      <p:sp>
        <p:nvSpPr>
          <p:cNvPr id="6" name="Text 4"/>
          <p:cNvSpPr/>
          <p:nvPr/>
        </p:nvSpPr>
        <p:spPr>
          <a:xfrm>
            <a:off x="457200" y="274320"/>
            <a:ext cx="8229600" cy="731520"/>
          </a:xfrm>
          <a:prstGeom prst="rect">
            <a:avLst/>
          </a:prstGeom>
          <a:noFill/>
          <a:ln/>
        </p:spPr>
        <p:txBody>
          <a:bodyPr wrap="square" lIns="0" tIns="0" rIns="0" bIns="0"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WEBSITE MỚI</a:t>
            </a:r>
            <a:endParaRPr lang="en-US" sz="5200" dirty="0"/>
          </a:p>
        </p:txBody>
      </p:sp>
      <p:sp>
        <p:nvSpPr>
          <p:cNvPr id="7" name="Text 5"/>
          <p:cNvSpPr/>
          <p:nvPr/>
        </p:nvSpPr>
        <p:spPr>
          <a:xfrm>
            <a:off x="457200" y="1005840"/>
            <a:ext cx="8229600" cy="411480"/>
          </a:xfrm>
          <a:prstGeom prst="rect">
            <a:avLst/>
          </a:prstGeom>
          <a:noFill/>
          <a:ln/>
        </p:spPr>
        <p:txBody>
          <a:bodyPr wrap="square" lIns="0" tIns="0" rIns="0" bIns="0" rtlCol="0" anchor="ctr"/>
          <a:lstStyle/>
          <a:p>
            <a:pPr algn="ctr" indent="0" marL="0">
              <a:buNone/>
            </a:pPr>
            <a:r>
              <a:rPr lang="en-US" sz="1800" i="1" dirty="0">
                <a:solidFill>
                  <a:srgbClr val="BE7B2B"/>
                </a:solidFill>
                <a:latin typeface="Georgia" pitchFamily="34" charset="0"/>
                <a:ea typeface="Georgia" pitchFamily="34" charset="-122"/>
                <a:cs typeface="Georgia" pitchFamily="34" charset="-120"/>
              </a:rPr>
              <a:t>— Nâng tầm FAM Landscape —</a:t>
            </a:r>
            <a:endParaRPr lang="en-US" sz="1800" dirty="0"/>
          </a:p>
        </p:txBody>
      </p:sp>
      <p:sp>
        <p:nvSpPr>
          <p:cNvPr id="8" name="Shape 6"/>
          <p:cNvSpPr/>
          <p:nvPr/>
        </p:nvSpPr>
        <p:spPr>
          <a:xfrm>
            <a:off x="502920" y="1600200"/>
            <a:ext cx="2514600" cy="2011680"/>
          </a:xfrm>
          <a:prstGeom prst="rect">
            <a:avLst/>
          </a:prstGeom>
          <a:solidFill>
            <a:srgbClr val="0D2210"/>
          </a:solidFill>
          <a:ln w="12700">
            <a:solidFill>
              <a:srgbClr val="328442"/>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502920" y="1600200"/>
            <a:ext cx="2514600" cy="54864"/>
          </a:xfrm>
          <a:prstGeom prst="rect">
            <a:avLst/>
          </a:prstGeom>
          <a:solidFill>
            <a:srgbClr val="328442"/>
          </a:solidFill>
          <a:ln w="12700">
            <a:solidFill>
              <a:srgbClr val="328442"/>
            </a:solidFill>
            <a:prstDash val="solid"/>
          </a:ln>
        </p:spPr>
      </p:sp>
      <p:sp>
        <p:nvSpPr>
          <p:cNvPr id="10" name="Text 8"/>
          <p:cNvSpPr/>
          <p:nvPr/>
        </p:nvSpPr>
        <p:spPr>
          <a:xfrm>
            <a:off x="502920" y="1691640"/>
            <a:ext cx="251460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1" name="Text 9"/>
          <p:cNvSpPr/>
          <p:nvPr/>
        </p:nvSpPr>
        <p:spPr>
          <a:xfrm>
            <a:off x="640080" y="2286000"/>
            <a:ext cx="2240280" cy="365760"/>
          </a:xfrm>
          <a:prstGeom prst="rect">
            <a:avLst/>
          </a:prstGeom>
          <a:noFill/>
          <a:ln/>
        </p:spPr>
        <p:txBody>
          <a:bodyPr wrap="square" lIns="0" tIns="0" rIns="0" bIns="0" rtlCol="0" anchor="ctr"/>
          <a:lstStyle/>
          <a:p>
            <a:pPr algn="ctr" indent="0" marL="0">
              <a:buNone/>
            </a:pPr>
            <a:r>
              <a:rPr lang="en-US" sz="1200" b="1" dirty="0">
                <a:solidFill>
                  <a:srgbClr val="BE7B2B"/>
                </a:solidFill>
                <a:latin typeface="Calibri" pitchFamily="34" charset="0"/>
                <a:ea typeface="Calibri" pitchFamily="34" charset="-122"/>
                <a:cs typeface="Calibri" pitchFamily="34" charset="-120"/>
              </a:rPr>
              <a:t>Showcase Đẳng Cấp</a:t>
            </a:r>
            <a:endParaRPr lang="en-US" sz="1200" dirty="0"/>
          </a:p>
        </p:txBody>
      </p:sp>
      <p:sp>
        <p:nvSpPr>
          <p:cNvPr id="12" name="Text 10"/>
          <p:cNvSpPr/>
          <p:nvPr/>
        </p:nvSpPr>
        <p:spPr>
          <a:xfrm>
            <a:off x="640080" y="2697480"/>
            <a:ext cx="2240280" cy="777240"/>
          </a:xfrm>
          <a:prstGeom prst="rect">
            <a:avLst/>
          </a:prstGeom>
          <a:noFill/>
          <a:ln/>
        </p:spPr>
        <p:txBody>
          <a:bodyPr wrap="square" lIns="0" tIns="0" rIns="0" bIns="0" rtlCol="0" anchor="ctr"/>
          <a:lstStyle/>
          <a:p>
            <a:pPr algn="ctr" indent="0" marL="0">
              <a:buNone/>
            </a:pPr>
            <a:r>
              <a:rPr lang="en-US" sz="950" dirty="0">
                <a:solidFill>
                  <a:srgbClr val="AACCB0"/>
                </a:solidFill>
                <a:latin typeface="Calibri" pitchFamily="34" charset="0"/>
                <a:ea typeface="Calibri" pitchFamily="34" charset="-122"/>
                <a:cs typeface="Calibri" pitchFamily="34" charset="-120"/>
              </a:rPr>
              <a:t>Gallery dự án ấn tượng, portfolio chuyên nghiệp thể hiện năng lực thực sự</a:t>
            </a:r>
            <a:endParaRPr lang="en-US" sz="950" dirty="0"/>
          </a:p>
        </p:txBody>
      </p:sp>
      <p:sp>
        <p:nvSpPr>
          <p:cNvPr id="13" name="Shape 11"/>
          <p:cNvSpPr/>
          <p:nvPr/>
        </p:nvSpPr>
        <p:spPr>
          <a:xfrm>
            <a:off x="3246120" y="1600200"/>
            <a:ext cx="2514600" cy="2011680"/>
          </a:xfrm>
          <a:prstGeom prst="rect">
            <a:avLst/>
          </a:prstGeom>
          <a:solidFill>
            <a:srgbClr val="0D2210"/>
          </a:solidFill>
          <a:ln w="12700">
            <a:solidFill>
              <a:srgbClr val="328442"/>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246120" y="1600200"/>
            <a:ext cx="2514600" cy="54864"/>
          </a:xfrm>
          <a:prstGeom prst="rect">
            <a:avLst/>
          </a:prstGeom>
          <a:solidFill>
            <a:srgbClr val="328442"/>
          </a:solidFill>
          <a:ln w="12700">
            <a:solidFill>
              <a:srgbClr val="328442"/>
            </a:solidFill>
            <a:prstDash val="solid"/>
          </a:ln>
        </p:spPr>
      </p:sp>
      <p:sp>
        <p:nvSpPr>
          <p:cNvPr id="15" name="Text 13"/>
          <p:cNvSpPr/>
          <p:nvPr/>
        </p:nvSpPr>
        <p:spPr>
          <a:xfrm>
            <a:off x="3246120" y="1691640"/>
            <a:ext cx="251460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3383280" y="2286000"/>
            <a:ext cx="2240280" cy="365760"/>
          </a:xfrm>
          <a:prstGeom prst="rect">
            <a:avLst/>
          </a:prstGeom>
          <a:noFill/>
          <a:ln/>
        </p:spPr>
        <p:txBody>
          <a:bodyPr wrap="square" lIns="0" tIns="0" rIns="0" bIns="0" rtlCol="0" anchor="ctr"/>
          <a:lstStyle/>
          <a:p>
            <a:pPr algn="ctr" indent="0" marL="0">
              <a:buNone/>
            </a:pPr>
            <a:r>
              <a:rPr lang="en-US" sz="1200" b="1" dirty="0">
                <a:solidFill>
                  <a:srgbClr val="BE7B2B"/>
                </a:solidFill>
                <a:latin typeface="Calibri" pitchFamily="34" charset="0"/>
                <a:ea typeface="Calibri" pitchFamily="34" charset="-122"/>
                <a:cs typeface="Calibri" pitchFamily="34" charset="-120"/>
              </a:rPr>
              <a:t>Quản Lý Thông Minh</a:t>
            </a:r>
            <a:endParaRPr lang="en-US" sz="1200" dirty="0"/>
          </a:p>
        </p:txBody>
      </p:sp>
      <p:sp>
        <p:nvSpPr>
          <p:cNvPr id="17" name="Text 15"/>
          <p:cNvSpPr/>
          <p:nvPr/>
        </p:nvSpPr>
        <p:spPr>
          <a:xfrm>
            <a:off x="3383280" y="2697480"/>
            <a:ext cx="2240280" cy="777240"/>
          </a:xfrm>
          <a:prstGeom prst="rect">
            <a:avLst/>
          </a:prstGeom>
          <a:noFill/>
          <a:ln/>
        </p:spPr>
        <p:txBody>
          <a:bodyPr wrap="square" lIns="0" tIns="0" rIns="0" bIns="0" rtlCol="0" anchor="ctr"/>
          <a:lstStyle/>
          <a:p>
            <a:pPr algn="ctr" indent="0" marL="0">
              <a:buNone/>
            </a:pPr>
            <a:r>
              <a:rPr lang="en-US" sz="950" dirty="0">
                <a:solidFill>
                  <a:srgbClr val="AACCB0"/>
                </a:solidFill>
                <a:latin typeface="Calibri" pitchFamily="34" charset="0"/>
                <a:ea typeface="Calibri" pitchFamily="34" charset="-122"/>
                <a:cs typeface="Calibri" pitchFamily="34" charset="-120"/>
              </a:rPr>
              <a:t>Admin panel đầy đủ: dự án, tin tức, đối tác — cập nhật không cần developer</a:t>
            </a:r>
            <a:endParaRPr lang="en-US" sz="950" dirty="0"/>
          </a:p>
        </p:txBody>
      </p:sp>
      <p:sp>
        <p:nvSpPr>
          <p:cNvPr id="18" name="Shape 16"/>
          <p:cNvSpPr/>
          <p:nvPr/>
        </p:nvSpPr>
        <p:spPr>
          <a:xfrm>
            <a:off x="5989320" y="1600200"/>
            <a:ext cx="2514600" cy="2011680"/>
          </a:xfrm>
          <a:prstGeom prst="rect">
            <a:avLst/>
          </a:prstGeom>
          <a:solidFill>
            <a:srgbClr val="0D2210"/>
          </a:solidFill>
          <a:ln w="12700">
            <a:solidFill>
              <a:srgbClr val="328442"/>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5989320" y="1600200"/>
            <a:ext cx="2514600" cy="54864"/>
          </a:xfrm>
          <a:prstGeom prst="rect">
            <a:avLst/>
          </a:prstGeom>
          <a:solidFill>
            <a:srgbClr val="328442"/>
          </a:solidFill>
          <a:ln w="12700">
            <a:solidFill>
              <a:srgbClr val="328442"/>
            </a:solidFill>
            <a:prstDash val="solid"/>
          </a:ln>
        </p:spPr>
      </p:sp>
      <p:sp>
        <p:nvSpPr>
          <p:cNvPr id="20" name="Text 18"/>
          <p:cNvSpPr/>
          <p:nvPr/>
        </p:nvSpPr>
        <p:spPr>
          <a:xfrm>
            <a:off x="5989320" y="1691640"/>
            <a:ext cx="251460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1" name="Text 19"/>
          <p:cNvSpPr/>
          <p:nvPr/>
        </p:nvSpPr>
        <p:spPr>
          <a:xfrm>
            <a:off x="6126480" y="2286000"/>
            <a:ext cx="2240280" cy="365760"/>
          </a:xfrm>
          <a:prstGeom prst="rect">
            <a:avLst/>
          </a:prstGeom>
          <a:noFill/>
          <a:ln/>
        </p:spPr>
        <p:txBody>
          <a:bodyPr wrap="square" lIns="0" tIns="0" rIns="0" bIns="0" rtlCol="0" anchor="ctr"/>
          <a:lstStyle/>
          <a:p>
            <a:pPr algn="ctr" indent="0" marL="0">
              <a:buNone/>
            </a:pPr>
            <a:r>
              <a:rPr lang="en-US" sz="1200" b="1" dirty="0">
                <a:solidFill>
                  <a:srgbClr val="BE7B2B"/>
                </a:solidFill>
                <a:latin typeface="Calibri" pitchFamily="34" charset="0"/>
                <a:ea typeface="Calibri" pitchFamily="34" charset="-122"/>
                <a:cs typeface="Calibri" pitchFamily="34" charset="-120"/>
              </a:rPr>
              <a:t>Flipbook Hiện Đại</a:t>
            </a:r>
            <a:endParaRPr lang="en-US" sz="1200" dirty="0"/>
          </a:p>
        </p:txBody>
      </p:sp>
      <p:sp>
        <p:nvSpPr>
          <p:cNvPr id="22" name="Text 20"/>
          <p:cNvSpPr/>
          <p:nvPr/>
        </p:nvSpPr>
        <p:spPr>
          <a:xfrm>
            <a:off x="6126480" y="2697480"/>
            <a:ext cx="2240280" cy="777240"/>
          </a:xfrm>
          <a:prstGeom prst="rect">
            <a:avLst/>
          </a:prstGeom>
          <a:noFill/>
          <a:ln/>
        </p:spPr>
        <p:txBody>
          <a:bodyPr wrap="square" lIns="0" tIns="0" rIns="0" bIns="0" rtlCol="0" anchor="ctr"/>
          <a:lstStyle/>
          <a:p>
            <a:pPr algn="ctr" indent="0" marL="0">
              <a:buNone/>
            </a:pPr>
            <a:r>
              <a:rPr lang="en-US" sz="950" dirty="0">
                <a:solidFill>
                  <a:srgbClr val="AACCB0"/>
                </a:solidFill>
                <a:latin typeface="Calibri" pitchFamily="34" charset="0"/>
                <a:ea typeface="Calibri" pitchFamily="34" charset="-122"/>
                <a:cs typeface="Calibri" pitchFamily="34" charset="-120"/>
              </a:rPr>
              <a:t>Catalog số thay thế hồ sơ in — gửi link, xem ngay, cập nhật real-time</a:t>
            </a:r>
            <a:endParaRPr lang="en-US" sz="950" dirty="0"/>
          </a:p>
        </p:txBody>
      </p:sp>
      <p:sp>
        <p:nvSpPr>
          <p:cNvPr id="23" name="Shape 21"/>
          <p:cNvSpPr/>
          <p:nvPr/>
        </p:nvSpPr>
        <p:spPr>
          <a:xfrm>
            <a:off x="457200" y="3840480"/>
            <a:ext cx="8229600" cy="777240"/>
          </a:xfrm>
          <a:prstGeom prst="rect">
            <a:avLst/>
          </a:prstGeom>
          <a:solidFill>
            <a:srgbClr val="328442"/>
          </a:solidFill>
          <a:ln w="12700">
            <a:solidFill>
              <a:srgbClr val="328442"/>
            </a:solidFill>
            <a:prstDash val="solid"/>
          </a:ln>
        </p:spPr>
      </p:sp>
      <p:sp>
        <p:nvSpPr>
          <p:cNvPr id="24" name="Text 22"/>
          <p:cNvSpPr/>
          <p:nvPr/>
        </p:nvSpPr>
        <p:spPr>
          <a:xfrm>
            <a:off x="548640" y="3913632"/>
            <a:ext cx="804672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  Demo: landscape-company-three.vercel.app</a:t>
            </a:r>
            <a:endParaRPr lang="en-US" sz="1600" dirty="0"/>
          </a:p>
        </p:txBody>
      </p:sp>
      <p:sp>
        <p:nvSpPr>
          <p:cNvPr id="25" name="Text 23"/>
          <p:cNvSpPr/>
          <p:nvPr/>
        </p:nvSpPr>
        <p:spPr>
          <a:xfrm>
            <a:off x="548640" y="4297680"/>
            <a:ext cx="8046720" cy="256032"/>
          </a:xfrm>
          <a:prstGeom prst="rect">
            <a:avLst/>
          </a:prstGeom>
          <a:noFill/>
          <a:ln/>
        </p:spPr>
        <p:txBody>
          <a:bodyPr wrap="square" lIns="0" tIns="0" rIns="0" bIns="0" rtlCol="0" anchor="ctr"/>
          <a:lstStyle/>
          <a:p>
            <a:pPr algn="ctr" indent="0" marL="0">
              <a:buNone/>
            </a:pPr>
            <a:r>
              <a:rPr lang="en-US" sz="1000" dirty="0">
                <a:solidFill>
                  <a:srgbClr val="CCEECC"/>
                </a:solidFill>
                <a:latin typeface="Calibri" pitchFamily="34" charset="0"/>
                <a:ea typeface="Calibri" pitchFamily="34" charset="-122"/>
                <a:cs typeface="Calibri" pitchFamily="34" charset="-120"/>
              </a:rPr>
              <a:t>Liên hệ để triển khai đầy đủ với Admin Panel + Flipbook + Domain fam.com.vn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 Landscape – Website Proposal</dc:title>
  <dc:subject>PptxGenJS Presentation</dc:subject>
  <dc:creator>PptxGenJS</dc:creator>
  <cp:lastModifiedBy>PptxGenJS</cp:lastModifiedBy>
  <cp:revision>1</cp:revision>
  <dcterms:created xsi:type="dcterms:W3CDTF">2026-04-09T07:01:34Z</dcterms:created>
  <dcterms:modified xsi:type="dcterms:W3CDTF">2026-04-09T07:01:34Z</dcterms:modified>
</cp:coreProperties>
</file>